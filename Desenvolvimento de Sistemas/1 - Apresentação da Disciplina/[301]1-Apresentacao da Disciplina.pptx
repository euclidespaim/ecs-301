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GU3s9LhZskWQyVVMoNhj9U14L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319071-3AE5-478B-93B8-F666BCC94CF2}">
  <a:tblStyle styleId="{FF319071-3AE5-478B-93B8-F666BCC94CF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1532F343-821C-4AD0-9C69-308B059EBF99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showMasterSp="0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3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" type="body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4"/>
          <p:cNvSpPr txBox="1"/>
          <p:nvPr>
            <p:ph type="ctrTitle"/>
          </p:nvPr>
        </p:nvSpPr>
        <p:spPr>
          <a:xfrm>
            <a:off x="1524000" y="112453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95" name="Google Shape;95;p44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4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4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5"/>
          <p:cNvSpPr txBox="1"/>
          <p:nvPr>
            <p:ph type="title"/>
          </p:nvPr>
        </p:nvSpPr>
        <p:spPr>
          <a:xfrm>
            <a:off x="831851" y="1712423"/>
            <a:ext cx="105156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5"/>
          <p:cNvSpPr txBox="1"/>
          <p:nvPr>
            <p:ph idx="1" type="body"/>
          </p:nvPr>
        </p:nvSpPr>
        <p:spPr>
          <a:xfrm>
            <a:off x="831851" y="455263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45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5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5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6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6"/>
          <p:cNvSpPr txBox="1"/>
          <p:nvPr>
            <p:ph idx="1" type="body"/>
          </p:nvPr>
        </p:nvSpPr>
        <p:spPr>
          <a:xfrm>
            <a:off x="845127" y="1828803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7" name="Google Shape;107;p46"/>
          <p:cNvSpPr txBox="1"/>
          <p:nvPr>
            <p:ph idx="2" type="body"/>
          </p:nvPr>
        </p:nvSpPr>
        <p:spPr>
          <a:xfrm>
            <a:off x="6172200" y="1828803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8" name="Google Shape;108;p46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6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6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>
  <p:cSld name="Comparação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7"/>
          <p:cNvSpPr txBox="1"/>
          <p:nvPr>
            <p:ph idx="1" type="body"/>
          </p:nvPr>
        </p:nvSpPr>
        <p:spPr>
          <a:xfrm>
            <a:off x="845127" y="1681852"/>
            <a:ext cx="5156200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3" name="Google Shape;113;p47"/>
          <p:cNvSpPr txBox="1"/>
          <p:nvPr>
            <p:ph idx="2" type="body"/>
          </p:nvPr>
        </p:nvSpPr>
        <p:spPr>
          <a:xfrm>
            <a:off x="845127" y="2507554"/>
            <a:ext cx="5156200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14" name="Google Shape;114;p47"/>
          <p:cNvSpPr txBox="1"/>
          <p:nvPr>
            <p:ph idx="3" type="body"/>
          </p:nvPr>
        </p:nvSpPr>
        <p:spPr>
          <a:xfrm>
            <a:off x="6172202" y="1681851"/>
            <a:ext cx="5181601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5" name="Google Shape;115;p47"/>
          <p:cNvSpPr txBox="1"/>
          <p:nvPr>
            <p:ph idx="4" type="body"/>
          </p:nvPr>
        </p:nvSpPr>
        <p:spPr>
          <a:xfrm>
            <a:off x="6172202" y="2507554"/>
            <a:ext cx="5181601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47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7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7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9" name="Google Shape;119;p47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showMasterSp="0">
  <p:cSld name="Somente Título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8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8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8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" name="Google Shape;124;p48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9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9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9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0"/>
          <p:cNvSpPr txBox="1"/>
          <p:nvPr>
            <p:ph type="title"/>
          </p:nvPr>
        </p:nvSpPr>
        <p:spPr>
          <a:xfrm>
            <a:off x="841248" y="457204"/>
            <a:ext cx="393192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0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132" name="Google Shape;132;p50"/>
          <p:cNvSpPr txBox="1"/>
          <p:nvPr>
            <p:ph idx="2" type="body"/>
          </p:nvPr>
        </p:nvSpPr>
        <p:spPr>
          <a:xfrm>
            <a:off x="841248" y="2057399"/>
            <a:ext cx="393192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33" name="Google Shape;133;p50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0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0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1"/>
          <p:cNvSpPr txBox="1"/>
          <p:nvPr>
            <p:ph type="title"/>
          </p:nvPr>
        </p:nvSpPr>
        <p:spPr>
          <a:xfrm>
            <a:off x="841248" y="457200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1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51"/>
          <p:cNvSpPr txBox="1"/>
          <p:nvPr>
            <p:ph idx="1" type="body"/>
          </p:nvPr>
        </p:nvSpPr>
        <p:spPr>
          <a:xfrm>
            <a:off x="841248" y="2057400"/>
            <a:ext cx="393192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40" name="Google Shape;140;p51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1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1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showMasterSp="0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2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2"/>
          <p:cNvSpPr txBox="1"/>
          <p:nvPr>
            <p:ph idx="1" type="body"/>
          </p:nvPr>
        </p:nvSpPr>
        <p:spPr>
          <a:xfrm rot="5400000">
            <a:off x="3927259" y="-1253329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46" name="Google Shape;146;p52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2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2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3"/>
          <p:cNvSpPr txBox="1"/>
          <p:nvPr>
            <p:ph type="title"/>
          </p:nvPr>
        </p:nvSpPr>
        <p:spPr>
          <a:xfrm rot="5400000">
            <a:off x="7133433" y="1951831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3"/>
          <p:cNvSpPr txBox="1"/>
          <p:nvPr>
            <p:ph idx="1" type="body"/>
          </p:nvPr>
        </p:nvSpPr>
        <p:spPr>
          <a:xfrm rot="5400000">
            <a:off x="1799434" y="-600865"/>
            <a:ext cx="5811837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52" name="Google Shape;152;p53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3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3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32"/>
          <p:cNvSpPr txBox="1"/>
          <p:nvPr>
            <p:ph idx="1" type="body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32"/>
          <p:cNvSpPr txBox="1"/>
          <p:nvPr>
            <p:ph idx="10" type="dt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25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32"/>
          <p:cNvSpPr txBox="1"/>
          <p:nvPr>
            <p:ph idx="11" type="ftr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25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32"/>
          <p:cNvSpPr txBox="1"/>
          <p:nvPr>
            <p:ph idx="12" type="sldNum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6.jp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jp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jp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hyperlink" Target="http://www.intel.com/pressroom/kits/quickreffam.htm" TargetMode="External"/><Relationship Id="rId5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 txBox="1"/>
          <p:nvPr>
            <p:ph idx="1" type="subTitle"/>
          </p:nvPr>
        </p:nvSpPr>
        <p:spPr>
          <a:xfrm>
            <a:off x="1667774" y="5241057"/>
            <a:ext cx="9144000" cy="103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Professor: Euclides Paim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/>
              <a:t>euclidespaim@gmail.com</a:t>
            </a:r>
            <a:endParaRPr/>
          </a:p>
        </p:txBody>
      </p:sp>
      <p:sp>
        <p:nvSpPr>
          <p:cNvPr id="161" name="Google Shape;161;p1"/>
          <p:cNvSpPr txBox="1"/>
          <p:nvPr/>
        </p:nvSpPr>
        <p:spPr>
          <a:xfrm>
            <a:off x="1733910" y="3071004"/>
            <a:ext cx="873855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</a:t>
            </a:r>
            <a:r>
              <a:rPr b="1" lang="pt-BR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Sistemas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"/>
          <p:cNvSpPr/>
          <p:nvPr/>
        </p:nvSpPr>
        <p:spPr>
          <a:xfrm>
            <a:off x="1799147" y="2568336"/>
            <a:ext cx="8870700" cy="1768500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 txBox="1"/>
          <p:nvPr>
            <p:ph idx="1" type="subTitle"/>
          </p:nvPr>
        </p:nvSpPr>
        <p:spPr>
          <a:xfrm>
            <a:off x="1667774" y="5241057"/>
            <a:ext cx="9144000" cy="1037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Professor: Euclides Paim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/>
              <a:t>euclidespaim@gmail.com</a:t>
            </a:r>
            <a:endParaRPr i="1"/>
          </a:p>
        </p:txBody>
      </p:sp>
      <p:sp>
        <p:nvSpPr>
          <p:cNvPr id="170" name="Google Shape;170;p2"/>
          <p:cNvSpPr txBox="1"/>
          <p:nvPr/>
        </p:nvSpPr>
        <p:spPr>
          <a:xfrm>
            <a:off x="3372980" y="3136502"/>
            <a:ext cx="5733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177" name="Google Shape;177;p3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178" name="Google Shape;178;p3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253041" y="1949571"/>
            <a:ext cx="11700294" cy="2840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dados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desempenho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Desempenho dos processadores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 dos computadores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 de Moore</a:t>
            </a:r>
            <a:endParaRPr/>
          </a:p>
        </p:txBody>
      </p:sp>
      <p:pic>
        <p:nvPicPr>
          <p:cNvPr descr="Uma imagem contendo desenho&#10;&#10;Descrição gerada automaticamente" id="182" name="Google Shape;1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900000">
            <a:off x="8125004" y="2179788"/>
            <a:ext cx="2541198" cy="249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" title="sc-arma.png"/>
          <p:cNvPicPr preferRelativeResize="0"/>
          <p:nvPr/>
        </p:nvPicPr>
        <p:blipFill rotWithShape="1">
          <a:blip r:embed="rId4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3631722" y="411194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Informações Gerais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11834" y="1719533"/>
            <a:ext cx="110103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Todas as aulas (teoria e prática) serão presenciais; ​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Será utilizada as apresentações em slides do professor como material principal (base da sequência da aula);​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aluno deverá ter material para </a:t>
            </a:r>
            <a:r>
              <a:rPr b="1" i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anotação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 informações adicionais que </a:t>
            </a:r>
            <a:r>
              <a:rPr b="1" i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estarão 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 slides (isto irá ocorrer);​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desenvolvimento do assunto através de breves explicações no quadro, serão feitos exercícios teóricos e práticos;​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trabalhos serão divulgados com anteced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ência.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Trabalhos atrasados não serão considerados, ou terão </a:t>
            </a:r>
            <a:r>
              <a:rPr i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 reduzida 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conforme critério do professor;​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Observar as bom comportamento, principalmente em relação aos demais e atenção às atividades de aula.​</a:t>
            </a:r>
            <a:endParaRPr/>
          </a:p>
        </p:txBody>
      </p:sp>
      <p:pic>
        <p:nvPicPr>
          <p:cNvPr id="191" name="Google Shape;191;p4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 de Avaliação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353683" y="1518249"/>
            <a:ext cx="11513400" cy="47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Será composta de provas, exercícios e trabalhos;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 trimestral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Composta por 2 provas, listas de exercícios e trabalhos.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notas serão calculadas da seguinte forma: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1.ª nota parcial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 </a:t>
            </a: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-25000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prova1 (60%) + (listas + trabalhos) (40%);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2.ª nota parcial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 </a:t>
            </a: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-25000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prova2 (60%) + (listas + trabalhos) (40%);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Média final 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</a:t>
            </a: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-25000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aseline="-25000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 </a:t>
            </a: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-25000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/ 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2255" lvl="0" marL="40195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2255" lvl="0" marL="40195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OBS: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Ambas as provas tem o valor 10.0. A forma de avaliação pode ser modificada de acordo com o andamento das aulas e nível de aprendizado da turma. </a:t>
            </a:r>
            <a:endParaRPr/>
          </a:p>
        </p:txBody>
      </p:sp>
      <p:pic>
        <p:nvPicPr>
          <p:cNvPr id="199" name="Google Shape;199;p5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 de Avaliação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353683" y="1518249"/>
            <a:ext cx="11513387" cy="46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Serão passados aos alunos exercícios/trabalhos a título de preparação para as provas;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prova será inspirada nestes exercícios (inspirada não significa exercícios idênticos);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Aquele que resolver todos os exercícios e, principalmente, </a:t>
            </a:r>
            <a:r>
              <a:rPr b="1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entender o que fez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estará bem preparado para as provas.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Realização das provas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será permitido nenhum tipo de comunicação entre alunos;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será tolerada qualquer tipo de cola. Caso seja detectada, o aluno receberá nota </a:t>
            </a:r>
            <a:r>
              <a:rPr b="1" i="0" lang="pt-BR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na prova;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provas não terão duração maior do que duas (2) aulas;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Qualquer dúvida ou problema na correção da prova será devidamente tratado, sem prejuízo do aluno.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6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353683" y="1360099"/>
            <a:ext cx="11513387" cy="449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Ementa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  de  Sistemas  Operacionais; 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Noções  de  Processos; 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Noções  de  Gerenciamento  de Memória;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Noções de Sistemas de Arquivos;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Estudo de casos: Linux;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366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Instalação e Execução do Linux;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366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do Shell e Comandos Básicos;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366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Área Gráfica e Programas;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366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Administração Básica;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366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Conexão com a Internet.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Conteúdo Programado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7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353683" y="1719533"/>
            <a:ext cx="11513387" cy="1514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5365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83326" y="2319641"/>
            <a:ext cx="10868722" cy="226197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3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Ao final desta disciplina o aluno deverá </a:t>
            </a:r>
            <a:r>
              <a:rPr b="1"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conhecer</a:t>
            </a: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funcionamento</a:t>
            </a: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básico dos processos, </a:t>
            </a:r>
            <a:r>
              <a:rPr b="1"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descrever </a:t>
            </a: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características  técnicas de  sistemas  operacionais,  </a:t>
            </a:r>
            <a:r>
              <a:rPr b="1"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conhecer  os  métodos</a:t>
            </a: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de  gerenciamento de memória e de armazenamento auxiliar, além de conhecer a plataforma do Sistema Operacional Linux, como estudo de caso. </a:t>
            </a:r>
            <a:endParaRPr/>
          </a:p>
        </p:txBody>
      </p:sp>
      <p:pic>
        <p:nvPicPr>
          <p:cNvPr id="224" name="Google Shape;224;p8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353683" y="1719533"/>
            <a:ext cx="11513387" cy="1514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5365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83326" y="2319641"/>
            <a:ext cx="10868722" cy="3095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3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 "/>
              <a:buChar char="•"/>
            </a:pP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Descrever  o  funcionamento  dos  processos;  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 "/>
              <a:buChar char="•"/>
            </a:pP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Descrever  técnicas  de  gerenciamento  de memória;  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 "/>
              <a:buChar char="•"/>
            </a:pP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Conhecer  os  tipos  de  sistemas  de  arquivos;  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 "/>
              <a:buChar char="•"/>
            </a:pP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Instalar  e  configurar  o  Sistema Operacional Linux; 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 "/>
              <a:buChar char="•"/>
            </a:pP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Instalar e configurar programas no Linux; 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 "/>
              <a:buChar char="•"/>
            </a:pP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Gerenciar usuários e grupos; 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 "/>
              <a:buChar char="•"/>
            </a:pP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Executar os comandos básicos; 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 "/>
              <a:buChar char="•"/>
            </a:pPr>
            <a:r>
              <a:rPr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Configurar e conectar o acesso a Internet.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9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83326" y="1442622"/>
            <a:ext cx="10868722" cy="532434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3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Conteúdo Programático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199" lvl="1" marL="993139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Introdução a Sistemas Operacionais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Revisão sobre </a:t>
            </a:r>
            <a:r>
              <a:rPr b="0" i="1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de computadores;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que é um sistema operacional;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História dos sistemas operacionais;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Tipos de sistemas operacionais;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Conceitos básicos sobre sistemas operacionais.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199" lvl="1" marL="993139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Noções de Processos 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Processos;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Threads;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Conceitos básicos sobre processos.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199" lvl="1" marL="993139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Noções de Gerência de Memória 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Memória sem abstração;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Abstração de memória;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Memória Virtual.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0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83326" y="1442622"/>
            <a:ext cx="10868722" cy="50511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3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Conteúdo Programático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53594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4.    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de Arquivos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Conceitos sobre arquivos;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Conceitos sobre diretórios;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Tipos de sistemas de arquivos.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2" marL="15297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53594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5.    </a:t>
            </a:r>
            <a:r>
              <a:rPr b="1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Estudo de Casos: Sistema Operacional Linux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Iniciando o Linux;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Instalação e Configuração;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Uso do Shell e comandos básicos;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Área Gráfica e programas;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Instalação de programas;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Configuração de grupos e usuários; 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1541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Conexão com a Internet. 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11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83326" y="1442622"/>
            <a:ext cx="10868722" cy="31965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3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Atitudes esperadas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Tratar todos com respeito;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Persistir</a:t>
            </a: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Questionar e participar</a:t>
            </a:r>
            <a:r>
              <a:rPr b="0" i="0" lang="pt-B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Agir como adulto responsável;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 com o uso do laboratório e dos computadores;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Compartilhar.</a:t>
            </a:r>
            <a:endParaRPr/>
          </a:p>
        </p:txBody>
      </p:sp>
      <p:pic>
        <p:nvPicPr>
          <p:cNvPr id="257" name="Google Shape;257;p12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683326" y="1241340"/>
            <a:ext cx="10868722" cy="543936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3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BÁSICA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DEITEL, Harvey M.; DEITEL, Paul J.; CHOFFNES, David R.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3ª Edição. São Paulo: Pearson Prentice Hall, 2005. {681.31:519.687 D325s} (5 exemplares)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SILBERSCHATZ, Abraham; GALVIN, Peter Baer; GAGNE, Greg.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6ª edição. Rio de Janeiro: LTC, 2004. {681.31:519.687 S582f}(4 exemplares)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TANENBAUM, Andrew S. 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operacionais modernos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 São Paulo: Pearson Prentice Hall, 2009. 5ex.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COMPLEMENTAR</a:t>
            </a:r>
            <a:r>
              <a:rPr lang="pt-B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HILL, Benjamin Mako; BACON, Jono.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livro oficial de ubuntu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Porto Alegre: Artmed, 2008. 3ex.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MACHADO, Francis Berenger; MAIA, Luiz Paulo.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Arquitetura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Rio de Janeiro: LTC,2007. 10ex.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MACHADO, Francis B.; MAIA, Luiz Paulo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Arquitetura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5ª  Edição. Rio de Janeiro: Editora Livros Técnicos e Científicos, 2013. {681.31:519.687  M149a}(8 exemplares)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NEGUS, Christopher.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Linux edição especial: a bíblia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Rio de Janeiro: Alta Books, 2007. 2ex.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OLIVEIRA, Rômulo Silva de; CARISSIMI, Alexandre da Silva; TOSCANI, Simão.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Porto Alegre: Bookman, 2010. 5ex.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AHO, Alfred V. et al.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Compiladores: princípios, técnicas e ferramentas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2. ed. São Paulo, SP: Pearson Addison Wesley, 2008. {005.453 C737}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3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9155" y="977481"/>
            <a:ext cx="5762445" cy="473050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4"/>
          <p:cNvSpPr txBox="1"/>
          <p:nvPr/>
        </p:nvSpPr>
        <p:spPr>
          <a:xfrm>
            <a:off x="3631722" y="411194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1063928" y="5791893"/>
            <a:ext cx="10071909" cy="994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625" lIns="107275" spcFirstLastPara="1" rIns="107275" wrap="square" tIns="53625">
            <a:noAutofit/>
          </a:bodyPr>
          <a:lstStyle/>
          <a:p>
            <a:pPr indent="-401955" lvl="1" marL="93853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1955" lvl="1" marL="93853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Revisando – Conceitos gerais e </a:t>
            </a:r>
            <a:r>
              <a:rPr b="1" i="1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1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4" title="sc-arma.png"/>
          <p:cNvPicPr preferRelativeResize="0"/>
          <p:nvPr/>
        </p:nvPicPr>
        <p:blipFill rotWithShape="1">
          <a:blip r:embed="rId4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279" name="Google Shape;279;p15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280" name="Google Shape;280;p15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Alexandre\Dropbox\Imagens  Criativas\perfect_computer.jpg" id="281" name="Google Shape;2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1875" y="1196994"/>
            <a:ext cx="6978742" cy="531254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5"/>
          <p:cNvSpPr/>
          <p:nvPr/>
        </p:nvSpPr>
        <p:spPr>
          <a:xfrm>
            <a:off x="48176" y="6516253"/>
            <a:ext cx="118900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Fonte: https://olhardigital.uol.com.br/noticia/android-esta-perto-de-superar-o-windows-como-sistema-mais-usado-no-mundo/66633</a:t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2495910" y="713118"/>
            <a:ext cx="9644330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 computador perfeito? Qual/como escolher?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5" title="sc-arma.png"/>
          <p:cNvPicPr preferRelativeResize="0"/>
          <p:nvPr/>
        </p:nvPicPr>
        <p:blipFill rotWithShape="1">
          <a:blip r:embed="rId4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291" name="Google Shape;291;p16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292" name="Google Shape;292;p16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64857" y="6478749"/>
            <a:ext cx="59650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Curiosidades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palavra "bite", com "I" em inglês significa "mordida", "bocado“.</a:t>
            </a:r>
            <a:endParaRPr/>
          </a:p>
        </p:txBody>
      </p:sp>
      <p:pic>
        <p:nvPicPr>
          <p:cNvPr id="296" name="Google Shape;2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4344" y="5185465"/>
            <a:ext cx="3816424" cy="69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5151" y="2882054"/>
            <a:ext cx="1656184" cy="123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1933" y="4834148"/>
            <a:ext cx="1513517" cy="1052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9169" y="909568"/>
            <a:ext cx="1368151" cy="136815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 txBox="1"/>
          <p:nvPr/>
        </p:nvSpPr>
        <p:spPr>
          <a:xfrm>
            <a:off x="5402857" y="5833537"/>
            <a:ext cx="1327608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 RAM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8844866" y="6029047"/>
            <a:ext cx="261315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Memória ROM – leitor CD/DVD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9637800" y="4264344"/>
            <a:ext cx="131799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HD (Hard disk)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9717466" y="2112709"/>
            <a:ext cx="857286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Pendrive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123646" y="1187570"/>
            <a:ext cx="11987700" cy="3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dados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" lvl="0" marL="17145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Discos Rígidos, memórias RAM e ROM;</a:t>
            </a:r>
            <a:endParaRPr/>
          </a:p>
          <a:p>
            <a:pPr indent="-38100" lvl="0" marL="17145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Menor unidade de informação em um computador;</a:t>
            </a:r>
            <a:endParaRPr/>
          </a:p>
          <a:p>
            <a:pPr indent="-342900" lvl="2" marL="141605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é uma contração de </a:t>
            </a:r>
            <a:r>
              <a:rPr b="0" i="1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 digit 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(dígito binário) ;</a:t>
            </a:r>
            <a:endParaRPr/>
          </a:p>
          <a:p>
            <a:pPr indent="-342900" lvl="2" marL="141605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apenas dois valores: </a:t>
            </a: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 </a:t>
            </a: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 </a:t>
            </a:r>
            <a:endParaRPr/>
          </a:p>
          <a:p>
            <a:pPr indent="-342900" lvl="2" marL="141605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Representado pelo caractere b;</a:t>
            </a:r>
            <a:endParaRPr/>
          </a:p>
          <a:p>
            <a:pPr indent="-38100" lvl="2" marL="124460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1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 -</a:t>
            </a: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Um termo especial usado para um grupo de 8 bits;</a:t>
            </a:r>
            <a:endParaRPr/>
          </a:p>
          <a:p>
            <a:pPr indent="-342900" lvl="2" marL="141605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Representado pelo caractere B.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16" title="sc-arma.png"/>
          <p:cNvPicPr preferRelativeResize="0"/>
          <p:nvPr/>
        </p:nvPicPr>
        <p:blipFill rotWithShape="1">
          <a:blip r:embed="rId7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10" name="Google Shape;310;p17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11" name="Google Shape;311;p17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123645" y="1719533"/>
            <a:ext cx="11987840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Medidas de dados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Palavra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Um grupo de bits;​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uma unidade computacional;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Processadores (CPU) frequentemente são descritos em termos do seu tamanho de palavra;​</a:t>
            </a:r>
            <a:endParaRPr/>
          </a:p>
          <a:p>
            <a:pPr indent="-342900" lvl="3" marL="1714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Ex.: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Um computador de </a:t>
            </a:r>
            <a:r>
              <a:rPr b="1" i="0" lang="pt-BR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bits e </a:t>
            </a:r>
            <a:r>
              <a:rPr b="1" i="0" lang="pt-BR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bits;​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tamanho da palavra indica o tamanho do</a:t>
            </a:r>
            <a:r>
              <a:rPr b="1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barramento de dados 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 transporta dados entre a CPU e memória e entre a CPU e os dispositivos de E/S (Entrada/Saída);​</a:t>
            </a:r>
            <a:endParaRPr/>
          </a:p>
          <a:p>
            <a:pPr indent="-342900" lvl="2" marL="12573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palavra armazenada na memória de um computador pode conter dois tipos de informação: </a:t>
            </a:r>
            <a:r>
              <a:rPr b="1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instruções</a:t>
            </a: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ou </a:t>
            </a:r>
            <a:r>
              <a:rPr b="1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</a:t>
            </a:r>
            <a:r>
              <a:rPr b="0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315" name="Google Shape;315;p17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20" name="Google Shape;320;p18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21" name="Google Shape;321;p18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faca, mesa&#10;&#10;Descrição gerada com muito alta confiança" id="322" name="Google Shape;3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6" y="214865"/>
            <a:ext cx="2743200" cy="90736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8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123645" y="1719533"/>
            <a:ext cx="11987840" cy="116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dados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Questão: 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é a vantagem de um computador com tamanho de </a:t>
            </a:r>
            <a:r>
              <a:rPr b="1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palavra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maior?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30" name="Google Shape;330;p19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31" name="Google Shape;331;p19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10257480" y="475595"/>
            <a:ext cx="1817666" cy="1296144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</a:t>
            </a:r>
            <a:r>
              <a:rPr lang="pt-BR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graphicFrame>
        <p:nvGraphicFramePr>
          <p:cNvPr id="335" name="Google Shape;335;p19"/>
          <p:cNvGraphicFramePr/>
          <p:nvPr/>
        </p:nvGraphicFramePr>
        <p:xfrm>
          <a:off x="738997" y="24099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{FF319071-3AE5-478B-93B8-F666BCC94CF2}</a:tableStyleId>
              </a:tblPr>
              <a:tblGrid>
                <a:gridCol w="1611325"/>
                <a:gridCol w="1531900"/>
                <a:gridCol w="6297775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Unidade​</a:t>
                      </a:r>
                      <a:endParaRPr sz="135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Símbolo​</a:t>
                      </a:r>
                      <a:endParaRPr sz="135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Valor em bytes​</a:t>
                      </a:r>
                      <a:endParaRPr sz="1350" u="none" cap="none" strike="noStrike"/>
                    </a:p>
                  </a:txBody>
                  <a:tcPr marT="45725" marB="45725" marR="91450" marL="91450" anchor="ctr"/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Kilobyte​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KB​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2</a:t>
                      </a:r>
                      <a:r>
                        <a:rPr baseline="30000" lang="pt-BR" sz="1250" u="none" cap="none" strike="noStrike"/>
                        <a:t>10</a:t>
                      </a:r>
                      <a:r>
                        <a:rPr lang="pt-BR" sz="1900" u="none" cap="none" strike="noStrike"/>
                        <a:t> = 1024 bytes​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Megabyte​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MB​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2</a:t>
                      </a:r>
                      <a:r>
                        <a:rPr baseline="30000" lang="pt-BR" sz="1250" u="none" cap="none" strike="noStrike"/>
                        <a:t>20</a:t>
                      </a:r>
                      <a:r>
                        <a:rPr lang="pt-BR" sz="1900" u="none" cap="none" strike="noStrike"/>
                        <a:t> = 1.048.576 bytes​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Gigabyte​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GB​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2</a:t>
                      </a:r>
                      <a:r>
                        <a:rPr baseline="30000" lang="pt-BR" sz="1250" u="none" cap="none" strike="noStrike"/>
                        <a:t>30</a:t>
                      </a:r>
                      <a:r>
                        <a:rPr lang="pt-BR" sz="1900" u="none" cap="none" strike="noStrike"/>
                        <a:t> = 1.073.741.824 bytes​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Terabyte​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TB​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2</a:t>
                      </a:r>
                      <a:r>
                        <a:rPr baseline="30000" lang="pt-BR" sz="1250" u="none" cap="none" strike="noStrike"/>
                        <a:t>40</a:t>
                      </a:r>
                      <a:r>
                        <a:rPr lang="pt-BR" sz="1900" u="none" cap="none" strike="noStrike"/>
                        <a:t> = 1.099.511.627.776 bytes​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Petabyte​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PB​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2</a:t>
                      </a:r>
                      <a:r>
                        <a:rPr baseline="30000" lang="pt-BR" sz="1250" u="none" cap="none" strike="noStrike"/>
                        <a:t>50</a:t>
                      </a:r>
                      <a:r>
                        <a:rPr lang="pt-BR" sz="1900" u="none" cap="none" strike="noStrike"/>
                        <a:t> = 1.125.899.906.842.624 bytes​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Exabyte​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EB​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2</a:t>
                      </a:r>
                      <a:r>
                        <a:rPr baseline="30000" lang="pt-BR" sz="1250" u="none" cap="none" strike="noStrike"/>
                        <a:t>60</a:t>
                      </a:r>
                      <a:r>
                        <a:rPr lang="pt-BR" sz="1900" u="none" cap="none" strike="noStrike"/>
                        <a:t> = 1.152.921.504.606.846.976 bytes​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Zettabyte​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ZB​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2</a:t>
                      </a:r>
                      <a:r>
                        <a:rPr baseline="30000" lang="pt-BR" sz="1250" u="none" cap="none" strike="noStrike"/>
                        <a:t>70</a:t>
                      </a:r>
                      <a:r>
                        <a:rPr lang="pt-BR" sz="1900" u="none" cap="none" strike="noStrike"/>
                        <a:t> = 1.180.591.620.717.411.303.424 bytes​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Yottabyte​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YB​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2</a:t>
                      </a:r>
                      <a:r>
                        <a:rPr baseline="30000" lang="pt-BR" sz="1250" u="none" cap="none" strike="noStrike"/>
                        <a:t>80</a:t>
                      </a:r>
                      <a:r>
                        <a:rPr lang="pt-BR" sz="1900" u="none" cap="none" strike="noStrike"/>
                        <a:t> = 1.208.925.819.614.629.174.706.176 bytes​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6" name="Google Shape;336;p19"/>
          <p:cNvSpPr txBox="1"/>
          <p:nvPr/>
        </p:nvSpPr>
        <p:spPr>
          <a:xfrm>
            <a:off x="107625" y="6328862"/>
            <a:ext cx="11971631" cy="383145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75" spcFirstLastPara="1" rIns="107275" wrap="square" tIns="53625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Conversão de decimais em binários: </a:t>
            </a:r>
            <a:r>
              <a:rPr lang="pt-BR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https://www.youtube.com/watch?v=mttrG_kbHN4 </a:t>
            </a:r>
            <a:endParaRPr/>
          </a:p>
          <a:p>
            <a:pPr indent="-274955" lvl="0" marL="40195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B930E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955" lvl="0" marL="40195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B930E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955" lvl="0" marL="40195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B930E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955" lvl="0" marL="40195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B930E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 txBox="1"/>
          <p:nvPr/>
        </p:nvSpPr>
        <p:spPr>
          <a:xfrm>
            <a:off x="66136" y="1115682"/>
            <a:ext cx="11987841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dados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342900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Alguns caracteres são utilizados para representar quantidades de dados maiores: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19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43" name="Google Shape;343;p20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44" name="Google Shape;344;p20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10257480" y="475595"/>
            <a:ext cx="1817666" cy="1296144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</a:t>
            </a:r>
            <a:r>
              <a:rPr lang="pt-BR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id="348" name="Google Shape;3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4680" y="1611163"/>
            <a:ext cx="8252602" cy="478586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0"/>
          <p:cNvSpPr txBox="1"/>
          <p:nvPr/>
        </p:nvSpPr>
        <p:spPr>
          <a:xfrm>
            <a:off x="-5750" y="6492815"/>
            <a:ext cx="63519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https://youtu.be/mttrG_kbHN4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109268" y="1115684"/>
            <a:ext cx="11930332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Conversão de binários em decimais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0" title="sc-arma.png"/>
          <p:cNvPicPr preferRelativeResize="0"/>
          <p:nvPr/>
        </p:nvPicPr>
        <p:blipFill rotWithShape="1">
          <a:blip r:embed="rId4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56" name="Google Shape;356;p21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57" name="Google Shape;357;p21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123645" y="1719533"/>
            <a:ext cx="11987840" cy="2936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desempenho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 (relógio): 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circuito gerador de 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indica o número de instruções que podem ser executadas a cada segundo (ciclo);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Possibilita que o computador funcione de maneira sincronizada;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unidade básica de medição do 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é dada em Hertz;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Hz equivale a um ciclo (ou pulso) por segundo;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Matematicamente falando a frequência é: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objeto, relógio&#10;&#10;Descrição gerada automaticamente" id="361" name="Google Shape;3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2165" y="4698341"/>
            <a:ext cx="1876425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1" title="sc-arma.png"/>
          <p:cNvPicPr preferRelativeResize="0"/>
          <p:nvPr/>
        </p:nvPicPr>
        <p:blipFill rotWithShape="1">
          <a:blip r:embed="rId4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67" name="Google Shape;367;p22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68" name="Google Shape;368;p22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4617" y="4812256"/>
            <a:ext cx="1639206" cy="1512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411" y="5777249"/>
            <a:ext cx="3816424" cy="69034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/>
          <p:nvPr/>
        </p:nvSpPr>
        <p:spPr>
          <a:xfrm>
            <a:off x="10256779" y="476672"/>
            <a:ext cx="1817666" cy="1296144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</a:t>
            </a:r>
            <a:r>
              <a:rPr lang="pt-BR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graphicFrame>
        <p:nvGraphicFramePr>
          <p:cNvPr id="374" name="Google Shape;374;p22"/>
          <p:cNvGraphicFramePr/>
          <p:nvPr/>
        </p:nvGraphicFramePr>
        <p:xfrm>
          <a:off x="754002" y="24414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{1532F343-821C-4AD0-9C69-308B059EBF99}</a:tableStyleId>
              </a:tblPr>
              <a:tblGrid>
                <a:gridCol w="2514600"/>
                <a:gridCol w="3095625"/>
                <a:gridCol w="2514600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Período​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Fração de Segundo​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Frequência​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 ms (milisegundo)​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1/1.000 (10</a:t>
                      </a:r>
                      <a:r>
                        <a:rPr baseline="30000" lang="pt-BR" sz="1250" u="none" cap="none" strike="noStrike"/>
                        <a:t>-3</a:t>
                      </a:r>
                      <a:r>
                        <a:rPr lang="pt-BR" sz="1900" u="none" cap="none" strike="noStrike"/>
                        <a:t>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 KHz (KiloHertz)​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 µs (microsegundo)​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1/1.000.000 (10</a:t>
                      </a:r>
                      <a:r>
                        <a:rPr baseline="30000" lang="pt-BR" sz="1250" u="none" cap="none" strike="noStrike"/>
                        <a:t>-6</a:t>
                      </a:r>
                      <a:r>
                        <a:rPr lang="pt-BR" sz="1900" u="none" cap="none" strike="noStrike"/>
                        <a:t>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 MHz (MegaHertz)​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 ns (nanosegundo)​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1/1.000.000.000 (10</a:t>
                      </a:r>
                      <a:r>
                        <a:rPr baseline="30000" lang="pt-BR" sz="1250" u="none" cap="none" strike="noStrike"/>
                        <a:t>-9</a:t>
                      </a:r>
                      <a:r>
                        <a:rPr lang="pt-BR" sz="1900" u="none" cap="none" strike="noStrike"/>
                        <a:t>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 GHz (GigaHertz)​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 ps(picosegundo)​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1/1.000.000.000.000 (10</a:t>
                      </a:r>
                      <a:r>
                        <a:rPr baseline="30000" lang="pt-BR" sz="1250" u="none" cap="none" strike="noStrike"/>
                        <a:t>-12</a:t>
                      </a:r>
                      <a:r>
                        <a:rPr lang="pt-BR" sz="1900" u="none" cap="none" strike="noStrike"/>
                        <a:t>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u="none" cap="none" strike="noStrike"/>
                        <a:t>1 THz(TeraHertz)​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75" name="Google Shape;375;p22"/>
          <p:cNvSpPr txBox="1"/>
          <p:nvPr/>
        </p:nvSpPr>
        <p:spPr>
          <a:xfrm>
            <a:off x="-5751" y="1173193"/>
            <a:ext cx="12102860" cy="1094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1" lang="pt-BR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desempenho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8605" lvl="0" marL="401955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79475" marR="0" rtl="0" algn="just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 "/>
              <a:buChar char="•"/>
            </a:pPr>
            <a:r>
              <a:rPr b="0" i="0" lang="pt-BR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processadores e memória principal (RAM);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22" title="sc-arma.png"/>
          <p:cNvPicPr preferRelativeResize="0"/>
          <p:nvPr/>
        </p:nvPicPr>
        <p:blipFill rotWithShape="1">
          <a:blip r:embed="rId5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81" name="Google Shape;381;p23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82" name="Google Shape;382;p23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 txBox="1"/>
          <p:nvPr/>
        </p:nvSpPr>
        <p:spPr>
          <a:xfrm>
            <a:off x="123645" y="1719533"/>
            <a:ext cx="11987700" cy="3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Desempenho dos processadores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 desempenho de um processador não depende apenas do clock (Hz), mas da </a:t>
            </a:r>
            <a:r>
              <a:rPr b="1" lang="pt-BR" sz="1800">
                <a:solidFill>
                  <a:schemeClr val="dk1"/>
                </a:solidFill>
              </a:rPr>
              <a:t>quantidade de instruções e operações que ele executa por segundo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MIPS</a:t>
            </a:r>
            <a:r>
              <a:rPr lang="pt-BR" sz="1800">
                <a:solidFill>
                  <a:schemeClr val="dk1"/>
                </a:solidFill>
              </a:rPr>
              <a:t> – Milhões de instruções por segundo</a:t>
            </a:r>
            <a:br>
              <a:rPr lang="pt-BR" sz="1800">
                <a:solidFill>
                  <a:schemeClr val="dk1"/>
                </a:solidFill>
              </a:rPr>
            </a:br>
            <a:r>
              <a:rPr b="1" lang="pt-BR" sz="1800">
                <a:solidFill>
                  <a:schemeClr val="dk1"/>
                </a:solidFill>
              </a:rPr>
              <a:t>FLOPS</a:t>
            </a:r>
            <a:r>
              <a:rPr lang="pt-BR" sz="1800">
                <a:solidFill>
                  <a:schemeClr val="dk1"/>
                </a:solidFill>
              </a:rPr>
              <a:t> – Operações de ponto flutuante por segundo</a:t>
            </a:r>
            <a:br>
              <a:rPr lang="pt-BR" sz="1800">
                <a:solidFill>
                  <a:schemeClr val="dk1"/>
                </a:solidFill>
              </a:rPr>
            </a:br>
            <a:r>
              <a:rPr lang="pt-BR" sz="1800">
                <a:solidFill>
                  <a:schemeClr val="dk1"/>
                </a:solidFill>
              </a:rPr>
              <a:t>  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FLOPS é comum na medição de supercomputadores, como os avaliados no ranking TOP500, que executam grandes volumes de cálculos matemáticos.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23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91" name="Google Shape;391;p24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392" name="Google Shape;392;p24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 txBox="1"/>
          <p:nvPr/>
        </p:nvSpPr>
        <p:spPr>
          <a:xfrm>
            <a:off x="116520" y="1477333"/>
            <a:ext cx="11987700" cy="3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i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Benchmarks são testes padronizados usados para medir e comparar o desempenho de hardware ou software sob condições controladas.</a:t>
            </a:r>
            <a:endParaRPr sz="1800">
              <a:solidFill>
                <a:schemeClr val="dk1"/>
              </a:solidFill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pt-BR" sz="11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chemeClr val="dk1"/>
                </a:solidFill>
              </a:rPr>
              <a:t>Pode ser </a:t>
            </a:r>
            <a:r>
              <a:rPr b="1" lang="pt-BR" sz="1800">
                <a:solidFill>
                  <a:schemeClr val="dk1"/>
                </a:solidFill>
              </a:rPr>
              <a:t>sintético</a:t>
            </a:r>
            <a:r>
              <a:rPr lang="pt-BR" sz="1800">
                <a:solidFill>
                  <a:schemeClr val="dk1"/>
                </a:solidFill>
              </a:rPr>
              <a:t> (simulação controlada)</a:t>
            </a:r>
            <a:endParaRPr sz="1800">
              <a:solidFill>
                <a:schemeClr val="dk1"/>
              </a:solidFill>
            </a:endParaRPr>
          </a:p>
          <a:p>
            <a:pPr indent="-342900" lvl="1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Pode usar </a:t>
            </a:r>
            <a:r>
              <a:rPr b="1" lang="pt-BR" sz="1800">
                <a:solidFill>
                  <a:schemeClr val="dk1"/>
                </a:solidFill>
              </a:rPr>
              <a:t>aplicações reais</a:t>
            </a:r>
            <a:endParaRPr b="1" sz="1800">
              <a:solidFill>
                <a:schemeClr val="dk1"/>
              </a:solidFill>
            </a:endParaRPr>
          </a:p>
          <a:p>
            <a:pPr indent="-342900" lvl="1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pt-BR" sz="1800">
                <a:solidFill>
                  <a:schemeClr val="dk1"/>
                </a:solidFill>
              </a:rPr>
              <a:t>Mede tempo de resposta, taxa de processamento e uso de recursos</a:t>
            </a:r>
            <a:endParaRPr sz="1800">
              <a:solidFill>
                <a:schemeClr val="dk1"/>
              </a:solidFill>
            </a:endParaRPr>
          </a:p>
          <a:p>
            <a:pPr indent="45720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457200" lvl="0" marL="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</a:rPr>
              <a:t>Ex.: </a:t>
            </a:r>
            <a:r>
              <a:rPr lang="pt-BR" sz="1800">
                <a:solidFill>
                  <a:schemeClr val="dk1"/>
                </a:solidFill>
              </a:rPr>
              <a:t>Cinebench, 3DMark, CrystalDiskMark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24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401" name="Google Shape;401;p25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402" name="Google Shape;402;p25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5"/>
          <p:cNvSpPr txBox="1"/>
          <p:nvPr/>
        </p:nvSpPr>
        <p:spPr>
          <a:xfrm>
            <a:off x="3631722" y="224288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100641" y="1122525"/>
            <a:ext cx="11832566" cy="442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C910"/>
              </a:buClr>
              <a:buSzPts val="2200"/>
              <a:buFont typeface="Noto Sans Symbols"/>
              <a:buNone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 dos computadores - Desempenho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42799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B930E"/>
              </a:buClr>
              <a:buSzPts val="3500"/>
              <a:buFont typeface="Noto Sans Symbols"/>
              <a:buNone/>
            </a:pPr>
            <a:r>
              <a:t/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40" lvl="1" marL="897255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B930E"/>
              </a:buClr>
              <a:buSzPts val="1300"/>
              <a:buFont typeface="Noto Sans Symbols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140" lvl="0" marL="42799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B930E"/>
              </a:buClr>
              <a:buSzPts val="3100"/>
              <a:buFont typeface="Noto Sans Symbols"/>
              <a:buNone/>
            </a:pPr>
            <a:r>
              <a:t/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0494" y="1837370"/>
            <a:ext cx="8507115" cy="353524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5"/>
          <p:cNvSpPr txBox="1"/>
          <p:nvPr/>
        </p:nvSpPr>
        <p:spPr>
          <a:xfrm>
            <a:off x="107504" y="6510848"/>
            <a:ext cx="119668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</a:t>
            </a:r>
            <a:r>
              <a:rPr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pt-BR" sz="17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http://www.intel.com/pressroom/kits/quickreffam.htm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5"/>
          <p:cNvSpPr txBox="1"/>
          <p:nvPr/>
        </p:nvSpPr>
        <p:spPr>
          <a:xfrm>
            <a:off x="1906438" y="5500777"/>
            <a:ext cx="845101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Processadores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Intel® Core™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i7-965 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 Edition.​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de transistores: 731.000.000;​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Velocidade:  3.2 GHz (3.200.000.000 operações/s)</a:t>
            </a:r>
            <a:endParaRPr/>
          </a:p>
        </p:txBody>
      </p:sp>
      <p:pic>
        <p:nvPicPr>
          <p:cNvPr id="409" name="Google Shape;409;p25" title="sc-arma.png"/>
          <p:cNvPicPr preferRelativeResize="0"/>
          <p:nvPr/>
        </p:nvPicPr>
        <p:blipFill rotWithShape="1">
          <a:blip r:embed="rId5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414" name="Google Shape;414;p26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415" name="Google Shape;415;p26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6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6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6"/>
          <p:cNvSpPr txBox="1"/>
          <p:nvPr/>
        </p:nvSpPr>
        <p:spPr>
          <a:xfrm>
            <a:off x="116520" y="1400858"/>
            <a:ext cx="11987700" cy="3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Lei de Moore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Proposta por Gordon Moore, cofundador da Intel.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Afirma que o </a:t>
            </a:r>
            <a:r>
              <a:rPr b="1" lang="pt-BR" sz="1800">
                <a:solidFill>
                  <a:schemeClr val="dk1"/>
                </a:solidFill>
              </a:rPr>
              <a:t>número de transistores em um chip dobra aproximadamente a cada 18–24 meses</a:t>
            </a:r>
            <a:r>
              <a:rPr lang="pt-BR" sz="1800">
                <a:solidFill>
                  <a:schemeClr val="dk1"/>
                </a:solidFill>
              </a:rPr>
              <a:t>, aumentando o poder de processamento e reduzindo o custo por transistor.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Observação original (1965): duplicação anual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Revisão posterior: cerca de 18 meses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t-BR" sz="1800">
                <a:solidFill>
                  <a:schemeClr val="dk1"/>
                </a:solidFill>
              </a:rPr>
              <a:t>Nas últimas décadas, o ritmo desacelerou devido a limitações físicas e energéticas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26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424" name="Google Shape;424;p27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425" name="Google Shape;425;p27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7"/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 txBox="1"/>
          <p:nvPr/>
        </p:nvSpPr>
        <p:spPr>
          <a:xfrm>
            <a:off x="123645" y="1719533"/>
            <a:ext cx="11987840" cy="2840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da disciplina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dados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Medidas de desempenho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Desempenho dos processadores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 dos computadores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 de Moore</a:t>
            </a:r>
            <a:endParaRPr/>
          </a:p>
        </p:txBody>
      </p:sp>
      <p:pic>
        <p:nvPicPr>
          <p:cNvPr id="429" name="Google Shape;429;p27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434" name="Google Shape;434;p28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 id="435" name="Google Shape;435;p28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20A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comida&#10;&#10;Descrição gerada automaticamente" id="437" name="Google Shape;4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8287" y="1306003"/>
            <a:ext cx="8709802" cy="4878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8" title="sc-arma.png"/>
          <p:cNvPicPr preferRelativeResize="0"/>
          <p:nvPr/>
        </p:nvPicPr>
        <p:blipFill rotWithShape="1">
          <a:blip r:embed="rId4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122610" y="1241340"/>
            <a:ext cx="11990154" cy="543936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3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BÁSICA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DEITEL, Harvey M.; DEITEL, Paul J.; CHOFFNES, David R.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3ª Edição. São Paulo: Pearson Prentice Hall, 2005. {681.31:519.687 D325s} (5 exemplares)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SILBERSCHATZ, Abraham; GALVIN, Peter Baer; GAGNE, Greg.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Fundamentos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6ª edição. Rio de Janeiro: LTC, 2004. {681.31:519.687 S582f}(4 exemplares)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TANENBAUM, Andrew S. 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Sistemas operacionais modernos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  São Paulo: Pearson Prentice Hall, 2009. 5ex.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COMPLEMENTAR</a:t>
            </a:r>
            <a:r>
              <a:rPr lang="pt-BR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HILL, Benjamin Mako; BACON, Jono.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livro oficial de ubuntu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Porto Alegre: Artmed, 2008. 3ex.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MACHADO, Francis Berenger; MAIA, Luiz Paulo.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Arquitetura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Rio de Janeiro: LTC,2007. 10ex.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MACHADO, Francis B.; MAIA, Luiz Paulo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Arquitetura de Sistemas Operacionais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5ª  Edição. Rio de Janeiro: Editora Livros Técnicos e Científicos, 2013. {681.31:519.687  M149a}(8 exemplares)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NEGUS, Christopher.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Linux edição especial: a bíblia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Rio de Janeiro: Alta Books, 2007. 2ex.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OLIVEIRA, Rômulo Silva de; CARISSIMI, Alexandre da Silva; TOSCANI, Simão. Sistemas operacionais. Porto Alegre: Bookman, 2010. 5ex.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AHO, Alfred V. et al. </a:t>
            </a:r>
            <a:r>
              <a:rPr b="1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Compiladores: princípios, técnicas e ferramentas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2. ed. São Paulo, SP: Pearson Addison Wesley, 2008. {005.453 C737}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29" title="sc-arma.png"/>
          <p:cNvPicPr preferRelativeResize="0"/>
          <p:nvPr/>
        </p:nvPicPr>
        <p:blipFill rotWithShape="1">
          <a:blip r:embed="rId3">
            <a:alphaModFix/>
          </a:blip>
          <a:srcRect b="6094" l="25926" r="26370" t="6094"/>
          <a:stretch/>
        </p:blipFill>
        <p:spPr>
          <a:xfrm>
            <a:off x="31102" y="226901"/>
            <a:ext cx="775825" cy="8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DOfficeLightV0">
  <a:themeElements>
    <a:clrScheme name="Personalizada 1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DEF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EF32"/>
      </a:accent5>
      <a:accent6>
        <a:srgbClr val="0FC513"/>
      </a:accent6>
      <a:hlink>
        <a:srgbClr val="2DEF3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2012-07-30T23:50:35Z</dcterms:created>
</cp:coreProperties>
</file>