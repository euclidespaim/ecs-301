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79e815729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79e815729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45280" y="36576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45280" y="18288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76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3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/>
          <p:nvPr/>
        </p:nvSpPr>
        <p:spPr>
          <a:xfrm>
            <a:off x="1799280" y="2568240"/>
            <a:ext cx="8870400" cy="1767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 txBox="1"/>
          <p:nvPr/>
        </p:nvSpPr>
        <p:spPr>
          <a:xfrm>
            <a:off x="1667880" y="5240880"/>
            <a:ext cx="9143640" cy="10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Professor: Euclides Paim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euclides.paim@ifc.edu.br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1733760" y="3071160"/>
            <a:ext cx="8738280" cy="70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/>
          <p:nvPr/>
        </p:nvSpPr>
        <p:spPr>
          <a:xfrm>
            <a:off x="1799280" y="2568240"/>
            <a:ext cx="8870400" cy="1767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 txBox="1"/>
          <p:nvPr/>
        </p:nvSpPr>
        <p:spPr>
          <a:xfrm>
            <a:off x="1667880" y="5240880"/>
            <a:ext cx="9143640" cy="10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Professor: Euclides Paim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euclides.paim@ifc.edu.br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3372840" y="3142800"/>
            <a:ext cx="5733360" cy="10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Gerenciamento de Processos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9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9"/>
          <p:cNvSpPr/>
          <p:nvPr/>
        </p:nvSpPr>
        <p:spPr>
          <a:xfrm>
            <a:off x="3646080" y="253080"/>
            <a:ext cx="492804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9"/>
          <p:cNvSpPr/>
          <p:nvPr/>
        </p:nvSpPr>
        <p:spPr>
          <a:xfrm>
            <a:off x="103680" y="10080"/>
            <a:ext cx="11976120" cy="215280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ma imagem contendo desenho&#10;&#10;Descrição gerada automaticamente" id="139" name="Google Shape;1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900000">
            <a:off x="8124840" y="2179800"/>
            <a:ext cx="2540880" cy="2498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9"/>
          <p:cNvSpPr/>
          <p:nvPr/>
        </p:nvSpPr>
        <p:spPr>
          <a:xfrm>
            <a:off x="241738" y="1315775"/>
            <a:ext cx="11700000" cy="4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Gerenciamento de Processos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Estrutura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Contexto de hardware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- Contexto de software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- Espaço de endereçamento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Bloco de controle de processo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=&gt; Estado de um processo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-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     -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     - Wait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=&gt; Mudança de estado do processo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/>
          <p:nvPr/>
        </p:nvSpPr>
        <p:spPr>
          <a:xfrm>
            <a:off x="3631680" y="253080"/>
            <a:ext cx="492804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0"/>
          <p:cNvSpPr/>
          <p:nvPr/>
        </p:nvSpPr>
        <p:spPr>
          <a:xfrm>
            <a:off x="111930" y="1118535"/>
            <a:ext cx="119877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pode ser entendido como um </a:t>
            </a:r>
            <a:r>
              <a:rPr b="1" i="1" lang="pt-BR" sz="2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programa em execução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programa é uma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sequência de instruções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processo é um elemento ativo, que altera o seu estado, à medida que executa um programa;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Vários processos podem executar o mesmo 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ao mesmo tempo;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just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Exemplo 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Navegador (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Chrome) com as suas diferentes abas – Cada aba é um novo processo</a:t>
            </a:r>
            <a:r>
              <a:rPr lang="pt-BR" sz="2000"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dados (sites) diferentes.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a de celular com texto preto sobre fundo branco&#10;&#10;Descrição gerada automaticamente" id="149" name="Google Shape;1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520" y="4773240"/>
            <a:ext cx="5373720" cy="1825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a de computador com texto preto sobre fundo branco&#10;&#10;Descrição gerada automaticamente" id="150" name="Google Shape;1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560" y="4773240"/>
            <a:ext cx="5373720" cy="188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/>
          <p:nvPr/>
        </p:nvSpPr>
        <p:spPr>
          <a:xfrm>
            <a:off x="3631680" y="253080"/>
            <a:ext cx="492804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/>
          <p:nvPr/>
        </p:nvSpPr>
        <p:spPr>
          <a:xfrm>
            <a:off x="123480" y="1719360"/>
            <a:ext cx="1198764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Um processo é formado por três partes conhecidas como: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1143000" marR="0" rtl="0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hardware;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1143000" marR="0" rtl="0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software;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1143000" marR="0" rtl="0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Espaço de endereçamento;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Juntos mantêm todas as informações necessárias para a 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execução de um programa.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31"/>
          <p:cNvGrpSpPr/>
          <p:nvPr/>
        </p:nvGrpSpPr>
        <p:grpSpPr>
          <a:xfrm>
            <a:off x="7752240" y="1340640"/>
            <a:ext cx="4032000" cy="4581000"/>
            <a:chOff x="7752240" y="1340640"/>
            <a:chExt cx="4032000" cy="4581000"/>
          </a:xfrm>
        </p:grpSpPr>
        <p:grpSp>
          <p:nvGrpSpPr>
            <p:cNvPr id="160" name="Google Shape;160;p31"/>
            <p:cNvGrpSpPr/>
            <p:nvPr/>
          </p:nvGrpSpPr>
          <p:grpSpPr>
            <a:xfrm>
              <a:off x="7752240" y="1814400"/>
              <a:ext cx="4032000" cy="4107240"/>
              <a:chOff x="7752240" y="1814400"/>
              <a:chExt cx="4032000" cy="4107240"/>
            </a:xfrm>
          </p:grpSpPr>
          <p:sp>
            <p:nvSpPr>
              <p:cNvPr id="161" name="Google Shape;161;p31"/>
              <p:cNvSpPr/>
              <p:nvPr/>
            </p:nvSpPr>
            <p:spPr>
              <a:xfrm>
                <a:off x="7752240" y="1814760"/>
                <a:ext cx="4032000" cy="410688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2" name="Google Shape;162;p31"/>
              <p:cNvCxnSpPr/>
              <p:nvPr/>
            </p:nvCxnSpPr>
            <p:spPr>
              <a:xfrm>
                <a:off x="9790560" y="1814400"/>
                <a:ext cx="0" cy="201132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31"/>
              <p:cNvCxnSpPr/>
              <p:nvPr/>
            </p:nvCxnSpPr>
            <p:spPr>
              <a:xfrm>
                <a:off x="9855720" y="3870360"/>
                <a:ext cx="1656000" cy="108612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31"/>
              <p:cNvCxnSpPr/>
              <p:nvPr/>
            </p:nvCxnSpPr>
            <p:spPr>
              <a:xfrm flipH="1" rot="10800000">
                <a:off x="7960680" y="3825000"/>
                <a:ext cx="1827000" cy="101664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5" name="Google Shape;165;p31"/>
              <p:cNvGrpSpPr/>
              <p:nvPr/>
            </p:nvGrpSpPr>
            <p:grpSpPr>
              <a:xfrm>
                <a:off x="9180720" y="3178440"/>
                <a:ext cx="1308240" cy="1899720"/>
                <a:chOff x="9180720" y="3178440"/>
                <a:chExt cx="1308240" cy="1899720"/>
              </a:xfrm>
            </p:grpSpPr>
            <p:sp>
              <p:nvSpPr>
                <p:cNvPr id="166" name="Google Shape;166;p31"/>
                <p:cNvSpPr/>
                <p:nvPr/>
              </p:nvSpPr>
              <p:spPr>
                <a:xfrm>
                  <a:off x="9321120" y="3696840"/>
                  <a:ext cx="933840" cy="44856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38100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8039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" name="Google Shape;167;p31"/>
                <p:cNvSpPr/>
                <p:nvPr/>
              </p:nvSpPr>
              <p:spPr>
                <a:xfrm>
                  <a:off x="9407160" y="3565800"/>
                  <a:ext cx="763560" cy="44856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28425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68" name="Google Shape;168;p31"/>
                <p:cNvCxnSpPr/>
                <p:nvPr/>
              </p:nvCxnSpPr>
              <p:spPr>
                <a:xfrm>
                  <a:off x="9491040" y="326520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9" name="Google Shape;169;p31"/>
                <p:cNvCxnSpPr/>
                <p:nvPr/>
              </p:nvCxnSpPr>
              <p:spPr>
                <a:xfrm>
                  <a:off x="9491040" y="335196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0" name="Google Shape;170;p31"/>
                <p:cNvCxnSpPr/>
                <p:nvPr/>
              </p:nvCxnSpPr>
              <p:spPr>
                <a:xfrm>
                  <a:off x="9491040" y="344052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31"/>
                <p:cNvCxnSpPr/>
                <p:nvPr/>
              </p:nvCxnSpPr>
              <p:spPr>
                <a:xfrm>
                  <a:off x="9491040" y="352728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31"/>
                <p:cNvCxnSpPr/>
                <p:nvPr/>
              </p:nvCxnSpPr>
              <p:spPr>
                <a:xfrm>
                  <a:off x="9491040" y="361368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31"/>
                <p:cNvCxnSpPr/>
                <p:nvPr/>
              </p:nvCxnSpPr>
              <p:spPr>
                <a:xfrm>
                  <a:off x="9491040" y="370260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31"/>
                <p:cNvCxnSpPr/>
                <p:nvPr/>
              </p:nvCxnSpPr>
              <p:spPr>
                <a:xfrm>
                  <a:off x="9491040" y="378900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" name="Google Shape;175;p31"/>
                <p:cNvCxnSpPr/>
                <p:nvPr/>
              </p:nvCxnSpPr>
              <p:spPr>
                <a:xfrm>
                  <a:off x="9491040" y="387576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6" name="Google Shape;176;p31"/>
                <p:cNvCxnSpPr/>
                <p:nvPr/>
              </p:nvCxnSpPr>
              <p:spPr>
                <a:xfrm>
                  <a:off x="9491040" y="396432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7" name="Google Shape;177;p31"/>
                <p:cNvCxnSpPr/>
                <p:nvPr/>
              </p:nvCxnSpPr>
              <p:spPr>
                <a:xfrm>
                  <a:off x="9491040" y="405108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8" name="Google Shape;178;p31"/>
                <p:cNvCxnSpPr/>
                <p:nvPr/>
              </p:nvCxnSpPr>
              <p:spPr>
                <a:xfrm>
                  <a:off x="9491040" y="413964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9" name="Google Shape;179;p31"/>
                <p:cNvCxnSpPr/>
                <p:nvPr/>
              </p:nvCxnSpPr>
              <p:spPr>
                <a:xfrm>
                  <a:off x="9491040" y="422640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0" name="Google Shape;180;p31"/>
                <p:cNvCxnSpPr/>
                <p:nvPr/>
              </p:nvCxnSpPr>
              <p:spPr>
                <a:xfrm>
                  <a:off x="9491040" y="431316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1" name="Google Shape;181;p31"/>
                <p:cNvCxnSpPr/>
                <p:nvPr/>
              </p:nvCxnSpPr>
              <p:spPr>
                <a:xfrm>
                  <a:off x="9491040" y="440172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2" name="Google Shape;182;p31"/>
                <p:cNvCxnSpPr/>
                <p:nvPr/>
              </p:nvCxnSpPr>
              <p:spPr>
                <a:xfrm>
                  <a:off x="9491040" y="3178440"/>
                  <a:ext cx="59544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3" name="Google Shape;183;p31"/>
                <p:cNvSpPr/>
                <p:nvPr/>
              </p:nvSpPr>
              <p:spPr>
                <a:xfrm>
                  <a:off x="9180720" y="4409640"/>
                  <a:ext cx="1308240" cy="668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pt-BR" sz="19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Programa</a:t>
                  </a:r>
                  <a:endParaRPr b="0" i="0" sz="1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4" name="Google Shape;184;p31"/>
              <p:cNvSpPr/>
              <p:nvPr/>
            </p:nvSpPr>
            <p:spPr>
              <a:xfrm>
                <a:off x="8008560" y="2831760"/>
                <a:ext cx="1383120" cy="81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Contexto de Software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31"/>
              <p:cNvSpPr/>
              <p:nvPr/>
            </p:nvSpPr>
            <p:spPr>
              <a:xfrm>
                <a:off x="10213920" y="2847240"/>
                <a:ext cx="1383120" cy="81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Contexto de Hardware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31"/>
              <p:cNvSpPr/>
              <p:nvPr/>
            </p:nvSpPr>
            <p:spPr>
              <a:xfrm>
                <a:off x="8940960" y="4956840"/>
                <a:ext cx="1699560" cy="81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Espaço de Endereçamento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" name="Google Shape;187;p31"/>
            <p:cNvSpPr/>
            <p:nvPr/>
          </p:nvSpPr>
          <p:spPr>
            <a:xfrm>
              <a:off x="7876080" y="1340640"/>
              <a:ext cx="3885840" cy="39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Estrutura de um Processo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8" name="Google Shape;188;p3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3315600" y="209880"/>
            <a:ext cx="556092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Visão global da estrutura de um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32"/>
          <p:cNvGrpSpPr/>
          <p:nvPr/>
        </p:nvGrpSpPr>
        <p:grpSpPr>
          <a:xfrm>
            <a:off x="952200" y="1409040"/>
            <a:ext cx="10011600" cy="5410800"/>
            <a:chOff x="952200" y="1409040"/>
            <a:chExt cx="10011600" cy="5410800"/>
          </a:xfrm>
        </p:grpSpPr>
        <p:sp>
          <p:nvSpPr>
            <p:cNvPr id="196" name="Google Shape;196;p32"/>
            <p:cNvSpPr/>
            <p:nvPr/>
          </p:nvSpPr>
          <p:spPr>
            <a:xfrm>
              <a:off x="4026240" y="2044800"/>
              <a:ext cx="3901680" cy="3577320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" name="Google Shape;197;p32"/>
            <p:cNvGrpSpPr/>
            <p:nvPr/>
          </p:nvGrpSpPr>
          <p:grpSpPr>
            <a:xfrm>
              <a:off x="952200" y="1409040"/>
              <a:ext cx="10011600" cy="5410800"/>
              <a:chOff x="952200" y="1409040"/>
              <a:chExt cx="10011600" cy="5410800"/>
            </a:xfrm>
          </p:grpSpPr>
          <p:cxnSp>
            <p:nvCxnSpPr>
              <p:cNvPr id="198" name="Google Shape;198;p32"/>
              <p:cNvCxnSpPr/>
              <p:nvPr/>
            </p:nvCxnSpPr>
            <p:spPr>
              <a:xfrm>
                <a:off x="6023880" y="2272320"/>
                <a:ext cx="0" cy="165744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" name="Google Shape;199;p32"/>
              <p:cNvCxnSpPr/>
              <p:nvPr/>
            </p:nvCxnSpPr>
            <p:spPr>
              <a:xfrm>
                <a:off x="6021000" y="3928320"/>
                <a:ext cx="1521000" cy="83160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32"/>
              <p:cNvCxnSpPr/>
              <p:nvPr/>
            </p:nvCxnSpPr>
            <p:spPr>
              <a:xfrm flipH="1" rot="10800000">
                <a:off x="4509360" y="3928680"/>
                <a:ext cx="1513440" cy="830880"/>
              </a:xfrm>
              <a:prstGeom prst="straightConnector1">
                <a:avLst/>
              </a:prstGeom>
              <a:noFill/>
              <a:ln cap="flat" cmpd="sng" w="284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1" name="Google Shape;201;p32"/>
              <p:cNvGrpSpPr/>
              <p:nvPr/>
            </p:nvGrpSpPr>
            <p:grpSpPr>
              <a:xfrm>
                <a:off x="5253840" y="3398400"/>
                <a:ext cx="1364400" cy="1710720"/>
                <a:chOff x="5253840" y="3398400"/>
                <a:chExt cx="1364400" cy="1710720"/>
              </a:xfrm>
            </p:grpSpPr>
            <p:sp>
              <p:nvSpPr>
                <p:cNvPr id="202" name="Google Shape;202;p32"/>
                <p:cNvSpPr/>
                <p:nvPr/>
              </p:nvSpPr>
              <p:spPr>
                <a:xfrm>
                  <a:off x="5619600" y="3801600"/>
                  <a:ext cx="825120" cy="415440"/>
                </a:xfrm>
                <a:prstGeom prst="rect">
                  <a:avLst/>
                </a:prstGeom>
                <a:solidFill>
                  <a:schemeClr val="accent5"/>
                </a:solidFill>
                <a:ln cap="flat" cmpd="sng" w="38100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8039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" name="Google Shape;203;p32"/>
                <p:cNvSpPr/>
                <p:nvPr/>
              </p:nvSpPr>
              <p:spPr>
                <a:xfrm>
                  <a:off x="5695560" y="3693600"/>
                  <a:ext cx="674640" cy="41544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28425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04" name="Google Shape;204;p32"/>
                <p:cNvCxnSpPr/>
                <p:nvPr/>
              </p:nvCxnSpPr>
              <p:spPr>
                <a:xfrm>
                  <a:off x="5770080" y="346968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5" name="Google Shape;205;p32"/>
                <p:cNvCxnSpPr/>
                <p:nvPr/>
              </p:nvCxnSpPr>
              <p:spPr>
                <a:xfrm>
                  <a:off x="5770080" y="354132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32"/>
                <p:cNvCxnSpPr/>
                <p:nvPr/>
              </p:nvCxnSpPr>
              <p:spPr>
                <a:xfrm>
                  <a:off x="5770080" y="361404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32"/>
                <p:cNvCxnSpPr/>
                <p:nvPr/>
              </p:nvCxnSpPr>
              <p:spPr>
                <a:xfrm>
                  <a:off x="5770080" y="368568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32"/>
                <p:cNvCxnSpPr/>
                <p:nvPr/>
              </p:nvCxnSpPr>
              <p:spPr>
                <a:xfrm>
                  <a:off x="5770080" y="375696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32"/>
                <p:cNvCxnSpPr/>
                <p:nvPr/>
              </p:nvCxnSpPr>
              <p:spPr>
                <a:xfrm>
                  <a:off x="5770080" y="383004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32"/>
                <p:cNvCxnSpPr/>
                <p:nvPr/>
              </p:nvCxnSpPr>
              <p:spPr>
                <a:xfrm>
                  <a:off x="5770080" y="390168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32"/>
                <p:cNvCxnSpPr/>
                <p:nvPr/>
              </p:nvCxnSpPr>
              <p:spPr>
                <a:xfrm>
                  <a:off x="5770080" y="397296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2" name="Google Shape;212;p32"/>
                <p:cNvCxnSpPr/>
                <p:nvPr/>
              </p:nvCxnSpPr>
              <p:spPr>
                <a:xfrm>
                  <a:off x="5770080" y="404604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3" name="Google Shape;213;p32"/>
                <p:cNvCxnSpPr/>
                <p:nvPr/>
              </p:nvCxnSpPr>
              <p:spPr>
                <a:xfrm>
                  <a:off x="5770080" y="411732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4" name="Google Shape;214;p32"/>
                <p:cNvCxnSpPr/>
                <p:nvPr/>
              </p:nvCxnSpPr>
              <p:spPr>
                <a:xfrm>
                  <a:off x="5770080" y="419040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5" name="Google Shape;215;p32"/>
                <p:cNvCxnSpPr/>
                <p:nvPr/>
              </p:nvCxnSpPr>
              <p:spPr>
                <a:xfrm>
                  <a:off x="5770080" y="426204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6" name="Google Shape;216;p32"/>
                <p:cNvCxnSpPr/>
                <p:nvPr/>
              </p:nvCxnSpPr>
              <p:spPr>
                <a:xfrm>
                  <a:off x="5770080" y="433332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7" name="Google Shape;217;p32"/>
                <p:cNvCxnSpPr/>
                <p:nvPr/>
              </p:nvCxnSpPr>
              <p:spPr>
                <a:xfrm>
                  <a:off x="5770080" y="440640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8" name="Google Shape;218;p32"/>
                <p:cNvCxnSpPr/>
                <p:nvPr/>
              </p:nvCxnSpPr>
              <p:spPr>
                <a:xfrm>
                  <a:off x="5770080" y="3398400"/>
                  <a:ext cx="5259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9" name="Google Shape;219;p32"/>
                <p:cNvSpPr/>
                <p:nvPr/>
              </p:nvSpPr>
              <p:spPr>
                <a:xfrm>
                  <a:off x="5253840" y="4408200"/>
                  <a:ext cx="1364400" cy="700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pt-BR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Programa</a:t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0" name="Google Shape;220;p32"/>
              <p:cNvSpPr/>
              <p:nvPr/>
            </p:nvSpPr>
            <p:spPr>
              <a:xfrm>
                <a:off x="4415040" y="3209760"/>
                <a:ext cx="1222200" cy="1309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Contexto de Software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2"/>
              <p:cNvSpPr/>
              <p:nvPr/>
            </p:nvSpPr>
            <p:spPr>
              <a:xfrm>
                <a:off x="6440760" y="3209760"/>
                <a:ext cx="1222200" cy="1309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Contexto de Hardware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2"/>
              <p:cNvSpPr/>
              <p:nvPr/>
            </p:nvSpPr>
            <p:spPr>
              <a:xfrm>
                <a:off x="4941720" y="4789440"/>
                <a:ext cx="2073600" cy="100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Espaço de Endereçamento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32"/>
              <p:cNvCxnSpPr/>
              <p:nvPr/>
            </p:nvCxnSpPr>
            <p:spPr>
              <a:xfrm flipH="1" rot="10800000">
                <a:off x="3780720" y="4765320"/>
                <a:ext cx="761760" cy="407160"/>
              </a:xfrm>
              <a:prstGeom prst="straightConnector1">
                <a:avLst/>
              </a:prstGeom>
              <a:noFill/>
              <a:ln cap="rnd" cmpd="sng" w="28425">
                <a:solidFill>
                  <a:schemeClr val="dk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32"/>
              <p:cNvCxnSpPr/>
              <p:nvPr/>
            </p:nvCxnSpPr>
            <p:spPr>
              <a:xfrm>
                <a:off x="7511040" y="4761720"/>
                <a:ext cx="750600" cy="406800"/>
              </a:xfrm>
              <a:prstGeom prst="straightConnector1">
                <a:avLst/>
              </a:prstGeom>
              <a:noFill/>
              <a:ln cap="rnd" cmpd="sng" w="28425">
                <a:solidFill>
                  <a:schemeClr val="dk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32"/>
              <p:cNvCxnSpPr/>
              <p:nvPr/>
            </p:nvCxnSpPr>
            <p:spPr>
              <a:xfrm>
                <a:off x="6023880" y="1409040"/>
                <a:ext cx="0" cy="865080"/>
              </a:xfrm>
              <a:prstGeom prst="straightConnector1">
                <a:avLst/>
              </a:prstGeom>
              <a:noFill/>
              <a:ln cap="rnd" cmpd="sng" w="28425">
                <a:solidFill>
                  <a:schemeClr val="dk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226" name="Google Shape;226;p32"/>
              <p:cNvSpPr/>
              <p:nvPr/>
            </p:nvSpPr>
            <p:spPr>
              <a:xfrm>
                <a:off x="5071320" y="1553400"/>
                <a:ext cx="90216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nome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2"/>
              <p:cNvSpPr/>
              <p:nvPr/>
            </p:nvSpPr>
            <p:spPr>
              <a:xfrm>
                <a:off x="4438080" y="1913760"/>
                <a:ext cx="60480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PID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2"/>
              <p:cNvSpPr/>
              <p:nvPr/>
            </p:nvSpPr>
            <p:spPr>
              <a:xfrm>
                <a:off x="3101760" y="2218320"/>
                <a:ext cx="154980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dono (UID)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2"/>
              <p:cNvSpPr/>
              <p:nvPr/>
            </p:nvSpPr>
            <p:spPr>
              <a:xfrm>
                <a:off x="1236600" y="2717640"/>
                <a:ext cx="316836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prioridade de execução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2"/>
              <p:cNvSpPr/>
              <p:nvPr/>
            </p:nvSpPr>
            <p:spPr>
              <a:xfrm>
                <a:off x="1185120" y="3325320"/>
                <a:ext cx="281628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data/hora de criação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2"/>
              <p:cNvSpPr/>
              <p:nvPr/>
            </p:nvSpPr>
            <p:spPr>
              <a:xfrm>
                <a:off x="2759400" y="4522680"/>
                <a:ext cx="148428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privilégios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2"/>
              <p:cNvSpPr/>
              <p:nvPr/>
            </p:nvSpPr>
            <p:spPr>
              <a:xfrm>
                <a:off x="6693120" y="1846080"/>
                <a:ext cx="272772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registradores gerais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2"/>
              <p:cNvSpPr/>
              <p:nvPr/>
            </p:nvSpPr>
            <p:spPr>
              <a:xfrm>
                <a:off x="7611299" y="2603520"/>
                <a:ext cx="199476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registrador PC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2"/>
              <p:cNvSpPr/>
              <p:nvPr/>
            </p:nvSpPr>
            <p:spPr>
              <a:xfrm>
                <a:off x="7984800" y="3376440"/>
                <a:ext cx="2979000" cy="7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registrador SP (</a:t>
                </a:r>
                <a:r>
                  <a:rPr b="0" i="1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Stack Pointer</a:t>
                </a: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2"/>
              <p:cNvSpPr/>
              <p:nvPr/>
            </p:nvSpPr>
            <p:spPr>
              <a:xfrm>
                <a:off x="7874232" y="4290480"/>
                <a:ext cx="284220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registrador de status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2"/>
              <p:cNvSpPr/>
              <p:nvPr/>
            </p:nvSpPr>
            <p:spPr>
              <a:xfrm>
                <a:off x="4594680" y="5815440"/>
                <a:ext cx="2911320" cy="100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Endereços de memória principal alocados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2"/>
              <p:cNvSpPr/>
              <p:nvPr/>
            </p:nvSpPr>
            <p:spPr>
              <a:xfrm>
                <a:off x="952200" y="4029840"/>
                <a:ext cx="3037320" cy="39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pt-BR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tempo de processador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38" name="Google Shape;238;p3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/>
          <p:nvPr/>
        </p:nvSpPr>
        <p:spPr>
          <a:xfrm>
            <a:off x="2869550" y="209876"/>
            <a:ext cx="66534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Hardware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123480" y="1489320"/>
            <a:ext cx="1198764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hardware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um processo armazena o conteúdo dos registradores da CPU;​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Quando um processo está em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seu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hardware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está armazenado nos registradores da CPU;​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sistema operacional gerencia a troca de contexto, base para a implementação da concorrência, que consiste:​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Salvar o conteúdo dos registradores do processo que está deixando a CPU; 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Carregá-los com os valores referentes ao do novo processo que será executado.​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O contexto de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é fundamental para a implementação dos sistemas Multiprogramáveis.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/>
          <p:nvPr/>
        </p:nvSpPr>
        <p:spPr>
          <a:xfrm>
            <a:off x="2869550" y="209876"/>
            <a:ext cx="66534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Hardware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la de celular com texto preto sobre fundo branco&#10;&#10;Descrição gerada automaticamente" id="253" name="Google Shape;253;p34"/>
          <p:cNvPicPr preferRelativeResize="0"/>
          <p:nvPr/>
        </p:nvPicPr>
        <p:blipFill rotWithShape="1">
          <a:blip r:embed="rId3">
            <a:alphaModFix/>
          </a:blip>
          <a:srcRect b="6722" l="8500" r="8216" t="5262"/>
          <a:stretch/>
        </p:blipFill>
        <p:spPr>
          <a:xfrm>
            <a:off x="3418560" y="1033920"/>
            <a:ext cx="5542560" cy="568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4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/>
          <p:nvPr/>
        </p:nvSpPr>
        <p:spPr>
          <a:xfrm>
            <a:off x="2869550" y="209876"/>
            <a:ext cx="66534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Software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/>
          <p:nvPr/>
        </p:nvSpPr>
        <p:spPr>
          <a:xfrm>
            <a:off x="123480" y="1489320"/>
            <a:ext cx="11987640" cy="4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 </a:t>
            </a: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ontexto de </a:t>
            </a: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oftware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um processo são especificados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 características dos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podem ser alocados pelo processo;</a:t>
            </a:r>
            <a:br>
              <a:rPr lang="pt-BR" sz="2200">
                <a:solidFill>
                  <a:schemeClr val="dk1"/>
                </a:solidFill>
              </a:rPr>
            </a:b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maior parte das informações do contexto de software do processo provém de um arquivo do S.O, conhecido como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arquivo de usuários,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1" marL="80010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Especifica os limites dos recursos que cada processo pode alocar, sendo gerenciado pelo administrador do sistema;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contexto de software é composto por três grupos de informações sobre o processo: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quotas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privilégios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3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>
            <a:off x="2869550" y="209876"/>
            <a:ext cx="6653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Software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123480" y="1489320"/>
            <a:ext cx="11987640" cy="48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Identificação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processo criado recebe um número único (PID –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 Identification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S.O pode fazer referência a qualquer processo existente através do PID, consultando o seu contexto ou alterando algumas de suas características;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processo também possui a identificação do usuário ou o processo que o criou (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usuário possui uma identificação única no sistema (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UID – User Identification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), atribuída ao processo no momento de sua criação;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just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UID permite implementar um modelo de segurança, onde apenas os objetos que possuem a mesma UID do usuário podem ser acessados.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3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>
            <a:off x="123480" y="1489320"/>
            <a:ext cx="1198764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Processos no Windows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a de celular com texto preto sobre fundo branco&#10;&#10;Descrição gerada automaticamente" id="278" name="Google Shape;278;p37"/>
          <p:cNvPicPr preferRelativeResize="0"/>
          <p:nvPr/>
        </p:nvPicPr>
        <p:blipFill rotWithShape="1">
          <a:blip r:embed="rId3">
            <a:alphaModFix/>
          </a:blip>
          <a:srcRect b="-366" l="0" r="140" t="4100"/>
          <a:stretch/>
        </p:blipFill>
        <p:spPr>
          <a:xfrm>
            <a:off x="943200" y="2286000"/>
            <a:ext cx="10305360" cy="37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7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Software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8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123480" y="1489320"/>
            <a:ext cx="11987640" cy="518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Quotas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quotas são os limites de cada recurso do sistema que um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pode alocar;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 uma quota seja insuficiente, o processo poderá ser executado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lentamente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 interrompido ou mesmo não ser executado;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Exemplos de quotas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Número máximo de arquivos abertos simultaneamente;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Tamanho máximo de memória principal e secundária que o processo pode alocar;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Número máximo de operações de E/S pendentes;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5748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Espaço de disco disponível.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3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/>
          <p:nvPr/>
        </p:nvSpPr>
        <p:spPr>
          <a:xfrm>
            <a:off x="2869550" y="209876"/>
            <a:ext cx="66534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Contexto de Software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9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9"/>
          <p:cNvSpPr/>
          <p:nvPr/>
        </p:nvSpPr>
        <p:spPr>
          <a:xfrm>
            <a:off x="123480" y="1489320"/>
            <a:ext cx="11987640" cy="528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Privilégios ou Direitos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Definem as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um processo pode </a:t>
            </a:r>
            <a:r>
              <a:rPr b="1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fazer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em relação: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200" u="none" cap="none" strike="noStrike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(i)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 mesmo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200" u="none" cap="none" strike="noStrike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(ii)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aos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demais processos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 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200" u="none" cap="none" strike="noStrike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(iii)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ao sistema operacional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permitindo que: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21840" marR="0" rt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Suas características possam ser alteradas, como prioridade de execução, limites alocados na memória principal e secundária, etc.;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21840" marR="0" rt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Além da alteração de suas próprias características, alterar as de outros processos;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221840" marR="0" rtl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São os mais amplos e poderosos, pois estão relacionados à operação e à gerência do ambiente, como a desativação do sistema, alteração de regras de segurança, criação de outros processos privilegiados, modificação de parâmetros de configuração do sistema, entre outros.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/>
          <p:nvPr/>
        </p:nvSpPr>
        <p:spPr>
          <a:xfrm>
            <a:off x="2366650" y="209876"/>
            <a:ext cx="74586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um Processo – Espaço de Endereçamento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0"/>
          <p:cNvSpPr/>
          <p:nvPr/>
        </p:nvSpPr>
        <p:spPr>
          <a:xfrm>
            <a:off x="123480" y="1489320"/>
            <a:ext cx="11987640" cy="195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 </a:t>
            </a: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espaço de endereçamento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a área de memória pertencente ao processo, onde instruções e dados do programa são armazenados para execução;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just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processo possui seu próprio espaço de endereçamento, que deve ser devidamente protegido do acesso dos demais processos.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eletrônico, circuito&#10;&#10;Descrição gerada automaticamente" id="303" name="Google Shape;3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1200" y="3579120"/>
            <a:ext cx="5603760" cy="280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0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1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/>
          <p:nvPr/>
        </p:nvSpPr>
        <p:spPr>
          <a:xfrm>
            <a:off x="123480" y="1489320"/>
            <a:ext cx="11987640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processo é </a:t>
            </a: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pelo S.O através de uma estrutura de dados chamada 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(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 Control Block – PCB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partir do PCB, o sistema operacional mantém todas as informações sobre o </a:t>
            </a: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hardware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de software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 </a:t>
            </a: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espaço de endereçamento 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cada processo;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 PCBs de todos os processos ativos residem na 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memória principal (e.g., 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65" lvl="0" marL="342900" marR="0" rtl="0" algn="just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tamanho desta área, geralmente é limitado por um parâmetro do S.O que permite especificar o número máximo de processos que podem ser suportados </a:t>
            </a: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simultaneamente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pelo sistema.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4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>
            <a:off x="123480" y="1489320"/>
            <a:ext cx="1198764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Processos no Ubuntu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a de computador com texto preto sobre fundo branco&#10;&#10;Descrição gerada automaticamente" id="320" name="Google Shape;3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800" y="2113200"/>
            <a:ext cx="10204560" cy="432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/>
          <p:nvPr/>
        </p:nvSpPr>
        <p:spPr>
          <a:xfrm>
            <a:off x="2366640" y="209880"/>
            <a:ext cx="7458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117720" y="-4320"/>
            <a:ext cx="11976000" cy="215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3"/>
          <p:cNvSpPr/>
          <p:nvPr/>
        </p:nvSpPr>
        <p:spPr>
          <a:xfrm>
            <a:off x="123480" y="1489320"/>
            <a:ext cx="11987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Processos no Windows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a de celular com texto preto sobre fundo branco&#10;&#10;Descrição gerada automaticamente" id="329" name="Google Shape;329;p43"/>
          <p:cNvPicPr preferRelativeResize="0"/>
          <p:nvPr/>
        </p:nvPicPr>
        <p:blipFill rotWithShape="1">
          <a:blip r:embed="rId3">
            <a:alphaModFix/>
          </a:blip>
          <a:srcRect b="-366" l="0" r="140" t="4101"/>
          <a:stretch/>
        </p:blipFill>
        <p:spPr>
          <a:xfrm>
            <a:off x="943200" y="2286000"/>
            <a:ext cx="10305360" cy="37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 - PCB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240" y="1257480"/>
            <a:ext cx="3594240" cy="537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Bloco de Controle do Processo - PCB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45"/>
          <p:cNvGrpSpPr/>
          <p:nvPr/>
        </p:nvGrpSpPr>
        <p:grpSpPr>
          <a:xfrm>
            <a:off x="2674800" y="2424240"/>
            <a:ext cx="1430280" cy="3606120"/>
            <a:chOff x="2674800" y="2424240"/>
            <a:chExt cx="1430280" cy="3606120"/>
          </a:xfrm>
        </p:grpSpPr>
        <p:sp>
          <p:nvSpPr>
            <p:cNvPr id="345" name="Google Shape;345;p45"/>
            <p:cNvSpPr/>
            <p:nvPr/>
          </p:nvSpPr>
          <p:spPr>
            <a:xfrm>
              <a:off x="2674800" y="2424240"/>
              <a:ext cx="1430280" cy="100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5"/>
            <p:cNvSpPr/>
            <p:nvPr/>
          </p:nvSpPr>
          <p:spPr>
            <a:xfrm>
              <a:off x="2674800" y="5025960"/>
              <a:ext cx="1430280" cy="100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45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165960" y="1258560"/>
            <a:ext cx="1198764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 de PCBs nos estados de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Pronto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Espera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600" y="2082960"/>
            <a:ext cx="7620120" cy="443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5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Estado do Processo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6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6"/>
          <p:cNvSpPr/>
          <p:nvPr/>
        </p:nvSpPr>
        <p:spPr>
          <a:xfrm>
            <a:off x="111968" y="1374595"/>
            <a:ext cx="11987700" cy="51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um sistema multiprogramável os processos passam por diferentes estados ao longo do seu processamento, em função de eventos gerados pelo S.O ou pelo próprio processo;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processo ativo pode encontrar-se em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três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diferentes estados;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1" marL="99324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Execução (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está sendo processado pela CPU;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sistema com apenas uma CPU, somente um processo pode estar sendo executado em um dado instante de tempo;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3" marL="187272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processos se alternam na utilização do processador seguindo uma política estabelecida pelo S.O;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sistemas com múltiplos processadores existe a possibilidade de mais de um processo ser executado ao mesmo tempo;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possível um mesmo processo ser executado ao mesmo tempo em mais de uma CPU (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processamento paralelo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4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Estado do Processo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7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7"/>
          <p:cNvSpPr/>
          <p:nvPr/>
        </p:nvSpPr>
        <p:spPr>
          <a:xfrm>
            <a:off x="123480" y="1489320"/>
            <a:ext cx="1198764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2.    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Pronto (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processo está no estado de pronto quando aguarda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para ser executado;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S.O é responsável por determinar a ordem e os critérios pelos quais os processos em estado de pronto devem fazer uso do processador;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 mecanismo é conhecido como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escalonamento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geral existem vários processos no sistema no estado de pronto organizados em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listas encadeadas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processos devem estar ordenados pela sua importância, permitindo que processos mais prioritários sejam selecionados primeiramente para execução.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4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Estado do Processo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8"/>
          <p:cNvSpPr/>
          <p:nvPr/>
        </p:nvSpPr>
        <p:spPr>
          <a:xfrm>
            <a:off x="123480" y="1489320"/>
            <a:ext cx="11987640" cy="454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3.    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Espera (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processo no estado de espera aguarda por algum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evento externo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 por algum recurso para prosseguir seu processamento;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alguns S.Os, o estado de espera pode ser chamado de bloqueado (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blocked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794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sistema organiza os vários processos no estado de espera também em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listas encadeadas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geral, os processos são separados em listas de espera associadas a cada tipo de evento;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141588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um evento acontece, todos os processos da lista associada ao evento são transferidos para o estado de pronto.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316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4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9"/>
          <p:cNvGrpSpPr/>
          <p:nvPr/>
        </p:nvGrpSpPr>
        <p:grpSpPr>
          <a:xfrm>
            <a:off x="1334016" y="1934876"/>
            <a:ext cx="9543528" cy="4863990"/>
            <a:chOff x="712440" y="1628640"/>
            <a:chExt cx="10170000" cy="5183280"/>
          </a:xfrm>
        </p:grpSpPr>
        <p:cxnSp>
          <p:nvCxnSpPr>
            <p:cNvPr id="380" name="Google Shape;380;p49"/>
            <p:cNvCxnSpPr/>
            <p:nvPr/>
          </p:nvCxnSpPr>
          <p:spPr>
            <a:xfrm>
              <a:off x="983160" y="4986360"/>
              <a:ext cx="9899280" cy="0"/>
            </a:xfrm>
            <a:prstGeom prst="straightConnector1">
              <a:avLst/>
            </a:prstGeom>
            <a:noFill/>
            <a:ln cap="rnd" cmpd="sng" w="2667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grpSp>
          <p:nvGrpSpPr>
            <p:cNvPr id="381" name="Google Shape;381;p49"/>
            <p:cNvGrpSpPr/>
            <p:nvPr/>
          </p:nvGrpSpPr>
          <p:grpSpPr>
            <a:xfrm>
              <a:off x="4994640" y="2133000"/>
              <a:ext cx="899280" cy="863280"/>
              <a:chOff x="4994640" y="2133000"/>
              <a:chExt cx="899280" cy="863280"/>
            </a:xfrm>
          </p:grpSpPr>
          <p:sp>
            <p:nvSpPr>
              <p:cNvPr id="382" name="Google Shape;382;p49"/>
              <p:cNvSpPr/>
              <p:nvPr/>
            </p:nvSpPr>
            <p:spPr>
              <a:xfrm>
                <a:off x="4994640" y="2133000"/>
                <a:ext cx="899280" cy="86328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3" name="Google Shape;383;p49"/>
              <p:cNvCxnSpPr/>
              <p:nvPr/>
            </p:nvCxnSpPr>
            <p:spPr>
              <a:xfrm>
                <a:off x="5441400" y="2136240"/>
                <a:ext cx="0" cy="43848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49"/>
              <p:cNvCxnSpPr/>
              <p:nvPr/>
            </p:nvCxnSpPr>
            <p:spPr>
              <a:xfrm>
                <a:off x="5440680" y="2574360"/>
                <a:ext cx="394920" cy="21996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49"/>
              <p:cNvCxnSpPr/>
              <p:nvPr/>
            </p:nvCxnSpPr>
            <p:spPr>
              <a:xfrm flipH="1" rot="10800000">
                <a:off x="5048280" y="2574360"/>
                <a:ext cx="392760" cy="21996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86" name="Google Shape;386;p49"/>
              <p:cNvGrpSpPr/>
              <p:nvPr/>
            </p:nvGrpSpPr>
            <p:grpSpPr>
              <a:xfrm>
                <a:off x="5333760" y="2359440"/>
                <a:ext cx="213840" cy="443520"/>
                <a:chOff x="5333760" y="2359440"/>
                <a:chExt cx="213840" cy="443520"/>
              </a:xfrm>
            </p:grpSpPr>
            <p:sp>
              <p:nvSpPr>
                <p:cNvPr id="387" name="Google Shape;387;p49"/>
                <p:cNvSpPr/>
                <p:nvPr/>
              </p:nvSpPr>
              <p:spPr>
                <a:xfrm>
                  <a:off x="5333760" y="238824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49"/>
                <p:cNvSpPr/>
                <p:nvPr/>
              </p:nvSpPr>
              <p:spPr>
                <a:xfrm>
                  <a:off x="5353560" y="235944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89" name="Google Shape;389;p49"/>
                <p:cNvCxnSpPr/>
                <p:nvPr/>
              </p:nvCxnSpPr>
              <p:spPr>
                <a:xfrm>
                  <a:off x="5372640" y="24526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0" name="Google Shape;390;p49"/>
                <p:cNvCxnSpPr/>
                <p:nvPr/>
              </p:nvCxnSpPr>
              <p:spPr>
                <a:xfrm>
                  <a:off x="5372640" y="24714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1" name="Google Shape;391;p49"/>
                <p:cNvCxnSpPr/>
                <p:nvPr/>
              </p:nvCxnSpPr>
              <p:spPr>
                <a:xfrm>
                  <a:off x="5372640" y="249084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2" name="Google Shape;392;p49"/>
                <p:cNvCxnSpPr/>
                <p:nvPr/>
              </p:nvCxnSpPr>
              <p:spPr>
                <a:xfrm>
                  <a:off x="5372640" y="25095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3" name="Google Shape;393;p49"/>
                <p:cNvCxnSpPr/>
                <p:nvPr/>
              </p:nvCxnSpPr>
              <p:spPr>
                <a:xfrm>
                  <a:off x="5372640" y="252864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4" name="Google Shape;394;p49"/>
                <p:cNvCxnSpPr/>
                <p:nvPr/>
              </p:nvCxnSpPr>
              <p:spPr>
                <a:xfrm>
                  <a:off x="5372640" y="25480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5" name="Google Shape;395;p49"/>
                <p:cNvCxnSpPr/>
                <p:nvPr/>
              </p:nvCxnSpPr>
              <p:spPr>
                <a:xfrm>
                  <a:off x="5372640" y="25668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6" name="Google Shape;396;p49"/>
                <p:cNvCxnSpPr/>
                <p:nvPr/>
              </p:nvCxnSpPr>
              <p:spPr>
                <a:xfrm>
                  <a:off x="5372640" y="25858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7" name="Google Shape;397;p49"/>
                <p:cNvCxnSpPr/>
                <p:nvPr/>
              </p:nvCxnSpPr>
              <p:spPr>
                <a:xfrm>
                  <a:off x="5372640" y="26049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8" name="Google Shape;398;p49"/>
                <p:cNvCxnSpPr/>
                <p:nvPr/>
              </p:nvCxnSpPr>
              <p:spPr>
                <a:xfrm>
                  <a:off x="5372640" y="262404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9" name="Google Shape;399;p49"/>
                <p:cNvCxnSpPr/>
                <p:nvPr/>
              </p:nvCxnSpPr>
              <p:spPr>
                <a:xfrm>
                  <a:off x="5372640" y="26431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0" name="Google Shape;400;p49"/>
                <p:cNvCxnSpPr/>
                <p:nvPr/>
              </p:nvCxnSpPr>
              <p:spPr>
                <a:xfrm>
                  <a:off x="5372640" y="26622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1" name="Google Shape;401;p49"/>
                <p:cNvCxnSpPr/>
                <p:nvPr/>
              </p:nvCxnSpPr>
              <p:spPr>
                <a:xfrm>
                  <a:off x="5372640" y="26809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2" name="Google Shape;402;p49"/>
                <p:cNvCxnSpPr/>
                <p:nvPr/>
              </p:nvCxnSpPr>
              <p:spPr>
                <a:xfrm>
                  <a:off x="5372640" y="27003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49"/>
                <p:cNvCxnSpPr/>
                <p:nvPr/>
              </p:nvCxnSpPr>
              <p:spPr>
                <a:xfrm>
                  <a:off x="5372640" y="24336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04" name="Google Shape;404;p49"/>
            <p:cNvGrpSpPr/>
            <p:nvPr/>
          </p:nvGrpSpPr>
          <p:grpSpPr>
            <a:xfrm>
              <a:off x="3272400" y="3597480"/>
              <a:ext cx="899280" cy="889200"/>
              <a:chOff x="3272400" y="3597480"/>
              <a:chExt cx="899280" cy="889200"/>
            </a:xfrm>
          </p:grpSpPr>
          <p:sp>
            <p:nvSpPr>
              <p:cNvPr id="405" name="Google Shape;405;p49"/>
              <p:cNvSpPr/>
              <p:nvPr/>
            </p:nvSpPr>
            <p:spPr>
              <a:xfrm>
                <a:off x="3272400" y="3622680"/>
                <a:ext cx="899280" cy="86400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06" name="Google Shape;406;p49"/>
              <p:cNvCxnSpPr/>
              <p:nvPr/>
            </p:nvCxnSpPr>
            <p:spPr>
              <a:xfrm>
                <a:off x="3721680" y="3597480"/>
                <a:ext cx="0" cy="4399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49"/>
              <p:cNvCxnSpPr/>
              <p:nvPr/>
            </p:nvCxnSpPr>
            <p:spPr>
              <a:xfrm>
                <a:off x="3721320" y="4037040"/>
                <a:ext cx="394560" cy="22068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49"/>
              <p:cNvCxnSpPr/>
              <p:nvPr/>
            </p:nvCxnSpPr>
            <p:spPr>
              <a:xfrm flipH="1" rot="10800000">
                <a:off x="3328560" y="4037040"/>
                <a:ext cx="393120" cy="22068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09" name="Google Shape;409;p49"/>
              <p:cNvGrpSpPr/>
              <p:nvPr/>
            </p:nvGrpSpPr>
            <p:grpSpPr>
              <a:xfrm>
                <a:off x="3614400" y="3821400"/>
                <a:ext cx="213840" cy="444600"/>
                <a:chOff x="3614400" y="3821400"/>
                <a:chExt cx="213840" cy="444600"/>
              </a:xfrm>
            </p:grpSpPr>
            <p:sp>
              <p:nvSpPr>
                <p:cNvPr id="410" name="Google Shape;410;p49"/>
                <p:cNvSpPr/>
                <p:nvPr/>
              </p:nvSpPr>
              <p:spPr>
                <a:xfrm>
                  <a:off x="3614400" y="3850200"/>
                  <a:ext cx="213840" cy="41580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49"/>
                <p:cNvSpPr/>
                <p:nvPr/>
              </p:nvSpPr>
              <p:spPr>
                <a:xfrm>
                  <a:off x="3633840" y="3821400"/>
                  <a:ext cx="174960" cy="41580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12" name="Google Shape;412;p49"/>
                <p:cNvCxnSpPr/>
                <p:nvPr/>
              </p:nvCxnSpPr>
              <p:spPr>
                <a:xfrm>
                  <a:off x="3653280" y="391464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3" name="Google Shape;413;p49"/>
                <p:cNvCxnSpPr/>
                <p:nvPr/>
              </p:nvCxnSpPr>
              <p:spPr>
                <a:xfrm>
                  <a:off x="3653280" y="39337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4" name="Google Shape;414;p49"/>
                <p:cNvCxnSpPr/>
                <p:nvPr/>
              </p:nvCxnSpPr>
              <p:spPr>
                <a:xfrm>
                  <a:off x="3653280" y="39531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5" name="Google Shape;415;p49"/>
                <p:cNvCxnSpPr/>
                <p:nvPr/>
              </p:nvCxnSpPr>
              <p:spPr>
                <a:xfrm>
                  <a:off x="3653280" y="39718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6" name="Google Shape;416;p49"/>
                <p:cNvCxnSpPr/>
                <p:nvPr/>
              </p:nvCxnSpPr>
              <p:spPr>
                <a:xfrm>
                  <a:off x="3653280" y="39909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7" name="Google Shape;417;p49"/>
                <p:cNvCxnSpPr/>
                <p:nvPr/>
              </p:nvCxnSpPr>
              <p:spPr>
                <a:xfrm>
                  <a:off x="3653280" y="40104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8" name="Google Shape;418;p49"/>
                <p:cNvCxnSpPr/>
                <p:nvPr/>
              </p:nvCxnSpPr>
              <p:spPr>
                <a:xfrm>
                  <a:off x="3653280" y="40294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19" name="Google Shape;419;p49"/>
                <p:cNvCxnSpPr/>
                <p:nvPr/>
              </p:nvCxnSpPr>
              <p:spPr>
                <a:xfrm>
                  <a:off x="3653280" y="40482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0" name="Google Shape;420;p49"/>
                <p:cNvCxnSpPr/>
                <p:nvPr/>
              </p:nvCxnSpPr>
              <p:spPr>
                <a:xfrm>
                  <a:off x="3653280" y="406764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1" name="Google Shape;421;p49"/>
                <p:cNvCxnSpPr/>
                <p:nvPr/>
              </p:nvCxnSpPr>
              <p:spPr>
                <a:xfrm>
                  <a:off x="3653280" y="40867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2" name="Google Shape;422;p49"/>
                <p:cNvCxnSpPr/>
                <p:nvPr/>
              </p:nvCxnSpPr>
              <p:spPr>
                <a:xfrm>
                  <a:off x="3653280" y="41061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3" name="Google Shape;423;p49"/>
                <p:cNvCxnSpPr/>
                <p:nvPr/>
              </p:nvCxnSpPr>
              <p:spPr>
                <a:xfrm>
                  <a:off x="3653280" y="41248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4" name="Google Shape;424;p49"/>
                <p:cNvCxnSpPr/>
                <p:nvPr/>
              </p:nvCxnSpPr>
              <p:spPr>
                <a:xfrm>
                  <a:off x="3653280" y="41439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5" name="Google Shape;425;p49"/>
                <p:cNvCxnSpPr/>
                <p:nvPr/>
              </p:nvCxnSpPr>
              <p:spPr>
                <a:xfrm>
                  <a:off x="3653280" y="41634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6" name="Google Shape;426;p49"/>
                <p:cNvCxnSpPr/>
                <p:nvPr/>
              </p:nvCxnSpPr>
              <p:spPr>
                <a:xfrm>
                  <a:off x="3653280" y="38959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27" name="Google Shape;427;p49"/>
            <p:cNvGrpSpPr/>
            <p:nvPr/>
          </p:nvGrpSpPr>
          <p:grpSpPr>
            <a:xfrm>
              <a:off x="3272400" y="5571360"/>
              <a:ext cx="899280" cy="873000"/>
              <a:chOff x="3272400" y="5571360"/>
              <a:chExt cx="899280" cy="873000"/>
            </a:xfrm>
          </p:grpSpPr>
          <p:sp>
            <p:nvSpPr>
              <p:cNvPr id="428" name="Google Shape;428;p49"/>
              <p:cNvSpPr/>
              <p:nvPr/>
            </p:nvSpPr>
            <p:spPr>
              <a:xfrm>
                <a:off x="3272400" y="5581800"/>
                <a:ext cx="899280" cy="86256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9" name="Google Shape;429;p49"/>
              <p:cNvCxnSpPr/>
              <p:nvPr/>
            </p:nvCxnSpPr>
            <p:spPr>
              <a:xfrm>
                <a:off x="3721680" y="5571360"/>
                <a:ext cx="0" cy="43848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49"/>
              <p:cNvCxnSpPr/>
              <p:nvPr/>
            </p:nvCxnSpPr>
            <p:spPr>
              <a:xfrm>
                <a:off x="3721320" y="6009480"/>
                <a:ext cx="39456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49"/>
              <p:cNvCxnSpPr/>
              <p:nvPr/>
            </p:nvCxnSpPr>
            <p:spPr>
              <a:xfrm flipH="1" rot="10800000">
                <a:off x="3328560" y="6009480"/>
                <a:ext cx="39312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32" name="Google Shape;432;p49"/>
              <p:cNvGrpSpPr/>
              <p:nvPr/>
            </p:nvGrpSpPr>
            <p:grpSpPr>
              <a:xfrm>
                <a:off x="3614400" y="5794560"/>
                <a:ext cx="213840" cy="443160"/>
                <a:chOff x="3614400" y="5794560"/>
                <a:chExt cx="213840" cy="443160"/>
              </a:xfrm>
            </p:grpSpPr>
            <p:sp>
              <p:nvSpPr>
                <p:cNvPr id="433" name="Google Shape;433;p49"/>
                <p:cNvSpPr/>
                <p:nvPr/>
              </p:nvSpPr>
              <p:spPr>
                <a:xfrm>
                  <a:off x="3614400" y="582300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49"/>
                <p:cNvSpPr/>
                <p:nvPr/>
              </p:nvSpPr>
              <p:spPr>
                <a:xfrm>
                  <a:off x="3633840" y="579456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35" name="Google Shape;435;p49"/>
                <p:cNvCxnSpPr/>
                <p:nvPr/>
              </p:nvCxnSpPr>
              <p:spPr>
                <a:xfrm>
                  <a:off x="3653280" y="58878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6" name="Google Shape;436;p49"/>
                <p:cNvCxnSpPr/>
                <p:nvPr/>
              </p:nvCxnSpPr>
              <p:spPr>
                <a:xfrm>
                  <a:off x="3653280" y="59065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7" name="Google Shape;437;p49"/>
                <p:cNvCxnSpPr/>
                <p:nvPr/>
              </p:nvCxnSpPr>
              <p:spPr>
                <a:xfrm>
                  <a:off x="3653280" y="59259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8" name="Google Shape;438;p49"/>
                <p:cNvCxnSpPr/>
                <p:nvPr/>
              </p:nvCxnSpPr>
              <p:spPr>
                <a:xfrm>
                  <a:off x="3653280" y="59446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9" name="Google Shape;439;p49"/>
                <p:cNvCxnSpPr/>
                <p:nvPr/>
              </p:nvCxnSpPr>
              <p:spPr>
                <a:xfrm>
                  <a:off x="3653280" y="59637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0" name="Google Shape;440;p49"/>
                <p:cNvCxnSpPr/>
                <p:nvPr/>
              </p:nvCxnSpPr>
              <p:spPr>
                <a:xfrm>
                  <a:off x="3653280" y="59832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1" name="Google Shape;441;p49"/>
                <p:cNvCxnSpPr/>
                <p:nvPr/>
              </p:nvCxnSpPr>
              <p:spPr>
                <a:xfrm>
                  <a:off x="3653280" y="60019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2" name="Google Shape;442;p49"/>
                <p:cNvCxnSpPr/>
                <p:nvPr/>
              </p:nvCxnSpPr>
              <p:spPr>
                <a:xfrm>
                  <a:off x="3653280" y="60210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3" name="Google Shape;443;p49"/>
                <p:cNvCxnSpPr/>
                <p:nvPr/>
              </p:nvCxnSpPr>
              <p:spPr>
                <a:xfrm>
                  <a:off x="3653280" y="60400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4" name="Google Shape;444;p49"/>
                <p:cNvCxnSpPr/>
                <p:nvPr/>
              </p:nvCxnSpPr>
              <p:spPr>
                <a:xfrm>
                  <a:off x="3653280" y="605916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5" name="Google Shape;445;p49"/>
                <p:cNvCxnSpPr/>
                <p:nvPr/>
              </p:nvCxnSpPr>
              <p:spPr>
                <a:xfrm>
                  <a:off x="3653280" y="60786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6" name="Google Shape;446;p49"/>
                <p:cNvCxnSpPr/>
                <p:nvPr/>
              </p:nvCxnSpPr>
              <p:spPr>
                <a:xfrm>
                  <a:off x="3653280" y="60973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7" name="Google Shape;447;p49"/>
                <p:cNvCxnSpPr/>
                <p:nvPr/>
              </p:nvCxnSpPr>
              <p:spPr>
                <a:xfrm>
                  <a:off x="3653280" y="611640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8" name="Google Shape;448;p49"/>
                <p:cNvCxnSpPr/>
                <p:nvPr/>
              </p:nvCxnSpPr>
              <p:spPr>
                <a:xfrm>
                  <a:off x="3653280" y="613548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9" name="Google Shape;449;p49"/>
                <p:cNvCxnSpPr/>
                <p:nvPr/>
              </p:nvCxnSpPr>
              <p:spPr>
                <a:xfrm>
                  <a:off x="3653280" y="5868720"/>
                  <a:ext cx="13644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50" name="Google Shape;450;p49"/>
            <p:cNvGrpSpPr/>
            <p:nvPr/>
          </p:nvGrpSpPr>
          <p:grpSpPr>
            <a:xfrm>
              <a:off x="6629400" y="3597480"/>
              <a:ext cx="899280" cy="879840"/>
              <a:chOff x="6629400" y="3597480"/>
              <a:chExt cx="899280" cy="879840"/>
            </a:xfrm>
          </p:grpSpPr>
          <p:sp>
            <p:nvSpPr>
              <p:cNvPr id="451" name="Google Shape;451;p49"/>
              <p:cNvSpPr/>
              <p:nvPr/>
            </p:nvSpPr>
            <p:spPr>
              <a:xfrm>
                <a:off x="6629400" y="3612960"/>
                <a:ext cx="899280" cy="86436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52" name="Google Shape;452;p49"/>
              <p:cNvCxnSpPr/>
              <p:nvPr/>
            </p:nvCxnSpPr>
            <p:spPr>
              <a:xfrm>
                <a:off x="7092000" y="3597480"/>
                <a:ext cx="0" cy="43920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p49"/>
              <p:cNvCxnSpPr/>
              <p:nvPr/>
            </p:nvCxnSpPr>
            <p:spPr>
              <a:xfrm>
                <a:off x="7091280" y="4036320"/>
                <a:ext cx="39636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49"/>
              <p:cNvCxnSpPr/>
              <p:nvPr/>
            </p:nvCxnSpPr>
            <p:spPr>
              <a:xfrm flipH="1" rot="10800000">
                <a:off x="6697080" y="4036320"/>
                <a:ext cx="39456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55" name="Google Shape;455;p49"/>
              <p:cNvGrpSpPr/>
              <p:nvPr/>
            </p:nvGrpSpPr>
            <p:grpSpPr>
              <a:xfrm>
                <a:off x="6983640" y="3821040"/>
                <a:ext cx="214920" cy="444240"/>
                <a:chOff x="6983640" y="3821040"/>
                <a:chExt cx="214920" cy="444240"/>
              </a:xfrm>
            </p:grpSpPr>
            <p:sp>
              <p:nvSpPr>
                <p:cNvPr id="456" name="Google Shape;456;p49"/>
                <p:cNvSpPr/>
                <p:nvPr/>
              </p:nvSpPr>
              <p:spPr>
                <a:xfrm>
                  <a:off x="6983640" y="3849840"/>
                  <a:ext cx="214920" cy="41544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49"/>
                <p:cNvSpPr/>
                <p:nvPr/>
              </p:nvSpPr>
              <p:spPr>
                <a:xfrm>
                  <a:off x="7003800" y="3821040"/>
                  <a:ext cx="175680" cy="41544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58" name="Google Shape;458;p49"/>
                <p:cNvCxnSpPr/>
                <p:nvPr/>
              </p:nvCxnSpPr>
              <p:spPr>
                <a:xfrm>
                  <a:off x="7022880" y="391428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59" name="Google Shape;459;p49"/>
                <p:cNvCxnSpPr/>
                <p:nvPr/>
              </p:nvCxnSpPr>
              <p:spPr>
                <a:xfrm>
                  <a:off x="7022880" y="393336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0" name="Google Shape;460;p49"/>
                <p:cNvCxnSpPr/>
                <p:nvPr/>
              </p:nvCxnSpPr>
              <p:spPr>
                <a:xfrm>
                  <a:off x="7022880" y="395244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1" name="Google Shape;461;p49"/>
                <p:cNvCxnSpPr/>
                <p:nvPr/>
              </p:nvCxnSpPr>
              <p:spPr>
                <a:xfrm>
                  <a:off x="7022880" y="397152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2" name="Google Shape;462;p49"/>
                <p:cNvCxnSpPr/>
                <p:nvPr/>
              </p:nvCxnSpPr>
              <p:spPr>
                <a:xfrm>
                  <a:off x="7022880" y="399060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3" name="Google Shape;463;p49"/>
                <p:cNvCxnSpPr/>
                <p:nvPr/>
              </p:nvCxnSpPr>
              <p:spPr>
                <a:xfrm>
                  <a:off x="7022880" y="400968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4" name="Google Shape;464;p49"/>
                <p:cNvCxnSpPr/>
                <p:nvPr/>
              </p:nvCxnSpPr>
              <p:spPr>
                <a:xfrm>
                  <a:off x="7022880" y="402876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5" name="Google Shape;465;p49"/>
                <p:cNvCxnSpPr/>
                <p:nvPr/>
              </p:nvCxnSpPr>
              <p:spPr>
                <a:xfrm>
                  <a:off x="7022880" y="404784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6" name="Google Shape;466;p49"/>
                <p:cNvCxnSpPr/>
                <p:nvPr/>
              </p:nvCxnSpPr>
              <p:spPr>
                <a:xfrm>
                  <a:off x="7022880" y="406692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7" name="Google Shape;467;p49"/>
                <p:cNvCxnSpPr/>
                <p:nvPr/>
              </p:nvCxnSpPr>
              <p:spPr>
                <a:xfrm>
                  <a:off x="7022880" y="408600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8" name="Google Shape;468;p49"/>
                <p:cNvCxnSpPr/>
                <p:nvPr/>
              </p:nvCxnSpPr>
              <p:spPr>
                <a:xfrm>
                  <a:off x="7022880" y="410544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9" name="Google Shape;469;p49"/>
                <p:cNvCxnSpPr/>
                <p:nvPr/>
              </p:nvCxnSpPr>
              <p:spPr>
                <a:xfrm>
                  <a:off x="7022880" y="412416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0" name="Google Shape;470;p49"/>
                <p:cNvCxnSpPr/>
                <p:nvPr/>
              </p:nvCxnSpPr>
              <p:spPr>
                <a:xfrm>
                  <a:off x="7022880" y="414324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1" name="Google Shape;471;p49"/>
                <p:cNvCxnSpPr/>
                <p:nvPr/>
              </p:nvCxnSpPr>
              <p:spPr>
                <a:xfrm>
                  <a:off x="7022880" y="416268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2" name="Google Shape;472;p49"/>
                <p:cNvCxnSpPr/>
                <p:nvPr/>
              </p:nvCxnSpPr>
              <p:spPr>
                <a:xfrm>
                  <a:off x="7022880" y="3895200"/>
                  <a:ext cx="13716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73" name="Google Shape;473;p49"/>
            <p:cNvSpPr/>
            <p:nvPr/>
          </p:nvSpPr>
          <p:spPr>
            <a:xfrm rot="-2376000">
              <a:off x="3989520" y="3121560"/>
              <a:ext cx="1140840" cy="36216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9"/>
            <p:cNvSpPr/>
            <p:nvPr/>
          </p:nvSpPr>
          <p:spPr>
            <a:xfrm rot="2598000">
              <a:off x="5521320" y="3338640"/>
              <a:ext cx="1211040" cy="32688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9"/>
            <p:cNvSpPr/>
            <p:nvPr/>
          </p:nvSpPr>
          <p:spPr>
            <a:xfrm rot="-8304600">
              <a:off x="5814720" y="3115080"/>
              <a:ext cx="1068120" cy="32688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9"/>
            <p:cNvSpPr/>
            <p:nvPr/>
          </p:nvSpPr>
          <p:spPr>
            <a:xfrm>
              <a:off x="7614720" y="3900600"/>
              <a:ext cx="1036080" cy="35892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7" name="Google Shape;477;p49"/>
            <p:cNvGrpSpPr/>
            <p:nvPr/>
          </p:nvGrpSpPr>
          <p:grpSpPr>
            <a:xfrm>
              <a:off x="8728560" y="3597480"/>
              <a:ext cx="899280" cy="866880"/>
              <a:chOff x="8728560" y="3597480"/>
              <a:chExt cx="899280" cy="866880"/>
            </a:xfrm>
          </p:grpSpPr>
          <p:sp>
            <p:nvSpPr>
              <p:cNvPr id="478" name="Google Shape;478;p49"/>
              <p:cNvSpPr/>
              <p:nvPr/>
            </p:nvSpPr>
            <p:spPr>
              <a:xfrm>
                <a:off x="8728560" y="3601080"/>
                <a:ext cx="899280" cy="86328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79" name="Google Shape;479;p49"/>
              <p:cNvCxnSpPr/>
              <p:nvPr/>
            </p:nvCxnSpPr>
            <p:spPr>
              <a:xfrm>
                <a:off x="9180000" y="3597480"/>
                <a:ext cx="0" cy="43884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49"/>
              <p:cNvCxnSpPr/>
              <p:nvPr/>
            </p:nvCxnSpPr>
            <p:spPr>
              <a:xfrm>
                <a:off x="9179280" y="4035960"/>
                <a:ext cx="395280" cy="21996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1" name="Google Shape;481;p49"/>
              <p:cNvCxnSpPr/>
              <p:nvPr/>
            </p:nvCxnSpPr>
            <p:spPr>
              <a:xfrm flipH="1" rot="10800000">
                <a:off x="8786880" y="4035960"/>
                <a:ext cx="393120" cy="21996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82" name="Google Shape;482;p49"/>
              <p:cNvGrpSpPr/>
              <p:nvPr/>
            </p:nvGrpSpPr>
            <p:grpSpPr>
              <a:xfrm>
                <a:off x="9072360" y="3820680"/>
                <a:ext cx="214200" cy="443520"/>
                <a:chOff x="9072360" y="3820680"/>
                <a:chExt cx="214200" cy="443520"/>
              </a:xfrm>
            </p:grpSpPr>
            <p:sp>
              <p:nvSpPr>
                <p:cNvPr id="483" name="Google Shape;483;p49"/>
                <p:cNvSpPr/>
                <p:nvPr/>
              </p:nvSpPr>
              <p:spPr>
                <a:xfrm>
                  <a:off x="9072360" y="3849480"/>
                  <a:ext cx="214200" cy="41472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49"/>
                <p:cNvSpPr/>
                <p:nvPr/>
              </p:nvSpPr>
              <p:spPr>
                <a:xfrm>
                  <a:off x="9092160" y="382068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85" name="Google Shape;485;p49"/>
                <p:cNvCxnSpPr/>
                <p:nvPr/>
              </p:nvCxnSpPr>
              <p:spPr>
                <a:xfrm>
                  <a:off x="9111240" y="39139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6" name="Google Shape;486;p49"/>
                <p:cNvCxnSpPr/>
                <p:nvPr/>
              </p:nvCxnSpPr>
              <p:spPr>
                <a:xfrm>
                  <a:off x="9111240" y="39326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7" name="Google Shape;487;p49"/>
                <p:cNvCxnSpPr/>
                <p:nvPr/>
              </p:nvCxnSpPr>
              <p:spPr>
                <a:xfrm>
                  <a:off x="9111240" y="39520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8" name="Google Shape;488;p49"/>
                <p:cNvCxnSpPr/>
                <p:nvPr/>
              </p:nvCxnSpPr>
              <p:spPr>
                <a:xfrm>
                  <a:off x="9111240" y="39711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9" name="Google Shape;489;p49"/>
                <p:cNvCxnSpPr/>
                <p:nvPr/>
              </p:nvCxnSpPr>
              <p:spPr>
                <a:xfrm>
                  <a:off x="9111240" y="39898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0" name="Google Shape;490;p49"/>
                <p:cNvCxnSpPr/>
                <p:nvPr/>
              </p:nvCxnSpPr>
              <p:spPr>
                <a:xfrm>
                  <a:off x="9111240" y="40093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1" name="Google Shape;491;p49"/>
                <p:cNvCxnSpPr/>
                <p:nvPr/>
              </p:nvCxnSpPr>
              <p:spPr>
                <a:xfrm>
                  <a:off x="9111240" y="40280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2" name="Google Shape;492;p49"/>
                <p:cNvCxnSpPr/>
                <p:nvPr/>
              </p:nvCxnSpPr>
              <p:spPr>
                <a:xfrm>
                  <a:off x="9111240" y="40471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3" name="Google Shape;493;p49"/>
                <p:cNvCxnSpPr/>
                <p:nvPr/>
              </p:nvCxnSpPr>
              <p:spPr>
                <a:xfrm>
                  <a:off x="9111240" y="40665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4" name="Google Shape;494;p49"/>
                <p:cNvCxnSpPr/>
                <p:nvPr/>
              </p:nvCxnSpPr>
              <p:spPr>
                <a:xfrm>
                  <a:off x="9111240" y="40852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5" name="Google Shape;495;p49"/>
                <p:cNvCxnSpPr/>
                <p:nvPr/>
              </p:nvCxnSpPr>
              <p:spPr>
                <a:xfrm>
                  <a:off x="9111240" y="41047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6" name="Google Shape;496;p49"/>
                <p:cNvCxnSpPr/>
                <p:nvPr/>
              </p:nvCxnSpPr>
              <p:spPr>
                <a:xfrm>
                  <a:off x="9111240" y="41234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7" name="Google Shape;497;p49"/>
                <p:cNvCxnSpPr/>
                <p:nvPr/>
              </p:nvCxnSpPr>
              <p:spPr>
                <a:xfrm>
                  <a:off x="9111240" y="41425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8" name="Google Shape;498;p49"/>
                <p:cNvCxnSpPr/>
                <p:nvPr/>
              </p:nvCxnSpPr>
              <p:spPr>
                <a:xfrm>
                  <a:off x="9111240" y="41619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9" name="Google Shape;499;p49"/>
                <p:cNvCxnSpPr/>
                <p:nvPr/>
              </p:nvCxnSpPr>
              <p:spPr>
                <a:xfrm>
                  <a:off x="9111240" y="38948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00" name="Google Shape;500;p49"/>
            <p:cNvSpPr/>
            <p:nvPr/>
          </p:nvSpPr>
          <p:spPr>
            <a:xfrm flipH="1">
              <a:off x="6167160" y="2349000"/>
              <a:ext cx="1008360" cy="39600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1" name="Google Shape;501;p49"/>
            <p:cNvGrpSpPr/>
            <p:nvPr/>
          </p:nvGrpSpPr>
          <p:grpSpPr>
            <a:xfrm>
              <a:off x="7309800" y="2136240"/>
              <a:ext cx="899280" cy="873000"/>
              <a:chOff x="7309800" y="2136240"/>
              <a:chExt cx="899280" cy="873000"/>
            </a:xfrm>
          </p:grpSpPr>
          <p:sp>
            <p:nvSpPr>
              <p:cNvPr id="502" name="Google Shape;502;p49"/>
              <p:cNvSpPr/>
              <p:nvPr/>
            </p:nvSpPr>
            <p:spPr>
              <a:xfrm>
                <a:off x="7309800" y="2146680"/>
                <a:ext cx="899280" cy="86256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3" name="Google Shape;503;p49"/>
              <p:cNvCxnSpPr/>
              <p:nvPr/>
            </p:nvCxnSpPr>
            <p:spPr>
              <a:xfrm>
                <a:off x="7760880" y="2136240"/>
                <a:ext cx="0" cy="4381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49"/>
              <p:cNvCxnSpPr/>
              <p:nvPr/>
            </p:nvCxnSpPr>
            <p:spPr>
              <a:xfrm>
                <a:off x="7760520" y="2574000"/>
                <a:ext cx="395280" cy="21960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49"/>
              <p:cNvCxnSpPr/>
              <p:nvPr/>
            </p:nvCxnSpPr>
            <p:spPr>
              <a:xfrm flipH="1" rot="10800000">
                <a:off x="7367040" y="2574000"/>
                <a:ext cx="393840" cy="21960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6" name="Google Shape;506;p49"/>
              <p:cNvGrpSpPr/>
              <p:nvPr/>
            </p:nvGrpSpPr>
            <p:grpSpPr>
              <a:xfrm>
                <a:off x="7653240" y="2359080"/>
                <a:ext cx="214200" cy="442800"/>
                <a:chOff x="7653240" y="2359080"/>
                <a:chExt cx="214200" cy="442800"/>
              </a:xfrm>
            </p:grpSpPr>
            <p:sp>
              <p:nvSpPr>
                <p:cNvPr id="507" name="Google Shape;507;p49"/>
                <p:cNvSpPr/>
                <p:nvPr/>
              </p:nvSpPr>
              <p:spPr>
                <a:xfrm>
                  <a:off x="7653240" y="2387520"/>
                  <a:ext cx="214200" cy="41436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49"/>
                <p:cNvSpPr/>
                <p:nvPr/>
              </p:nvSpPr>
              <p:spPr>
                <a:xfrm>
                  <a:off x="7673040" y="2359080"/>
                  <a:ext cx="175320" cy="41436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09" name="Google Shape;509;p49"/>
                <p:cNvCxnSpPr/>
                <p:nvPr/>
              </p:nvCxnSpPr>
              <p:spPr>
                <a:xfrm>
                  <a:off x="7692120" y="24519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0" name="Google Shape;510;p49"/>
                <p:cNvCxnSpPr/>
                <p:nvPr/>
              </p:nvCxnSpPr>
              <p:spPr>
                <a:xfrm>
                  <a:off x="7692120" y="24710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1" name="Google Shape;511;p49"/>
                <p:cNvCxnSpPr/>
                <p:nvPr/>
              </p:nvCxnSpPr>
              <p:spPr>
                <a:xfrm>
                  <a:off x="7692120" y="24904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2" name="Google Shape;512;p49"/>
                <p:cNvCxnSpPr/>
                <p:nvPr/>
              </p:nvCxnSpPr>
              <p:spPr>
                <a:xfrm>
                  <a:off x="7692120" y="25092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3" name="Google Shape;513;p49"/>
                <p:cNvCxnSpPr/>
                <p:nvPr/>
              </p:nvCxnSpPr>
              <p:spPr>
                <a:xfrm>
                  <a:off x="7692120" y="25279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4" name="Google Shape;514;p49"/>
                <p:cNvCxnSpPr/>
                <p:nvPr/>
              </p:nvCxnSpPr>
              <p:spPr>
                <a:xfrm>
                  <a:off x="7692120" y="25473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5" name="Google Shape;515;p49"/>
                <p:cNvCxnSpPr/>
                <p:nvPr/>
              </p:nvCxnSpPr>
              <p:spPr>
                <a:xfrm>
                  <a:off x="7692120" y="25664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6" name="Google Shape;516;p49"/>
                <p:cNvCxnSpPr/>
                <p:nvPr/>
              </p:nvCxnSpPr>
              <p:spPr>
                <a:xfrm>
                  <a:off x="7692120" y="25851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7" name="Google Shape;517;p49"/>
                <p:cNvCxnSpPr/>
                <p:nvPr/>
              </p:nvCxnSpPr>
              <p:spPr>
                <a:xfrm>
                  <a:off x="7692120" y="26046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8" name="Google Shape;518;p49"/>
                <p:cNvCxnSpPr/>
                <p:nvPr/>
              </p:nvCxnSpPr>
              <p:spPr>
                <a:xfrm>
                  <a:off x="7692120" y="26233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9" name="Google Shape;519;p49"/>
                <p:cNvCxnSpPr/>
                <p:nvPr/>
              </p:nvCxnSpPr>
              <p:spPr>
                <a:xfrm>
                  <a:off x="7692120" y="26427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0" name="Google Shape;520;p49"/>
                <p:cNvCxnSpPr/>
                <p:nvPr/>
              </p:nvCxnSpPr>
              <p:spPr>
                <a:xfrm>
                  <a:off x="7692120" y="26614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" name="Google Shape;521;p49"/>
                <p:cNvCxnSpPr/>
                <p:nvPr/>
              </p:nvCxnSpPr>
              <p:spPr>
                <a:xfrm>
                  <a:off x="7692120" y="26805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2" name="Google Shape;522;p49"/>
                <p:cNvCxnSpPr/>
                <p:nvPr/>
              </p:nvCxnSpPr>
              <p:spPr>
                <a:xfrm>
                  <a:off x="7692120" y="26996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3" name="Google Shape;523;p49"/>
                <p:cNvCxnSpPr/>
                <p:nvPr/>
              </p:nvCxnSpPr>
              <p:spPr>
                <a:xfrm>
                  <a:off x="7692120" y="243324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24" name="Google Shape;524;p49"/>
            <p:cNvSpPr/>
            <p:nvPr/>
          </p:nvSpPr>
          <p:spPr>
            <a:xfrm rot="-5400000">
              <a:off x="3245040" y="4912920"/>
              <a:ext cx="935640" cy="39528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5" name="Google Shape;525;p49"/>
            <p:cNvGrpSpPr/>
            <p:nvPr/>
          </p:nvGrpSpPr>
          <p:grpSpPr>
            <a:xfrm>
              <a:off x="6637320" y="5571360"/>
              <a:ext cx="899280" cy="873000"/>
              <a:chOff x="6637320" y="5571360"/>
              <a:chExt cx="899280" cy="873000"/>
            </a:xfrm>
          </p:grpSpPr>
          <p:sp>
            <p:nvSpPr>
              <p:cNvPr id="526" name="Google Shape;526;p49"/>
              <p:cNvSpPr/>
              <p:nvPr/>
            </p:nvSpPr>
            <p:spPr>
              <a:xfrm>
                <a:off x="6637320" y="5581800"/>
                <a:ext cx="899280" cy="862560"/>
              </a:xfrm>
              <a:prstGeom prst="ellipse">
                <a:avLst/>
              </a:prstGeom>
              <a:solidFill>
                <a:srgbClr val="F2F2F2"/>
              </a:solidFill>
              <a:ln cap="flat" cmpd="sng" w="8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7538" rotWithShape="0" dir="5400000" dist="18769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85800" lIns="85800" spcFirstLastPara="1" rIns="85800" wrap="square" tIns="858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7" name="Google Shape;527;p49"/>
              <p:cNvCxnSpPr/>
              <p:nvPr/>
            </p:nvCxnSpPr>
            <p:spPr>
              <a:xfrm>
                <a:off x="7086960" y="5571360"/>
                <a:ext cx="0" cy="43848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49"/>
              <p:cNvCxnSpPr/>
              <p:nvPr/>
            </p:nvCxnSpPr>
            <p:spPr>
              <a:xfrm>
                <a:off x="7086240" y="6009480"/>
                <a:ext cx="39492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49"/>
              <p:cNvCxnSpPr/>
              <p:nvPr/>
            </p:nvCxnSpPr>
            <p:spPr>
              <a:xfrm flipH="1" rot="10800000">
                <a:off x="6693840" y="6009480"/>
                <a:ext cx="392760" cy="220320"/>
              </a:xfrm>
              <a:prstGeom prst="straightConnector1">
                <a:avLst/>
              </a:prstGeom>
              <a:noFill/>
              <a:ln cap="flat" cmpd="sng" w="89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30" name="Google Shape;530;p49"/>
              <p:cNvGrpSpPr/>
              <p:nvPr/>
            </p:nvGrpSpPr>
            <p:grpSpPr>
              <a:xfrm>
                <a:off x="6979320" y="5794560"/>
                <a:ext cx="213840" cy="443160"/>
                <a:chOff x="6979320" y="5794560"/>
                <a:chExt cx="213840" cy="443160"/>
              </a:xfrm>
            </p:grpSpPr>
            <p:sp>
              <p:nvSpPr>
                <p:cNvPr id="531" name="Google Shape;531;p49"/>
                <p:cNvSpPr/>
                <p:nvPr/>
              </p:nvSpPr>
              <p:spPr>
                <a:xfrm>
                  <a:off x="6979320" y="582300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49"/>
                <p:cNvSpPr/>
                <p:nvPr/>
              </p:nvSpPr>
              <p:spPr>
                <a:xfrm>
                  <a:off x="6999120" y="579456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cap="flat" cmpd="sng" w="8950">
                  <a:solidFill>
                    <a:schemeClr val="dk2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85800" lIns="85800" spcFirstLastPara="1" rIns="85800" wrap="square" tIns="858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33" name="Google Shape;533;p49"/>
                <p:cNvCxnSpPr/>
                <p:nvPr/>
              </p:nvCxnSpPr>
              <p:spPr>
                <a:xfrm>
                  <a:off x="7018200" y="58878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4" name="Google Shape;534;p49"/>
                <p:cNvCxnSpPr/>
                <p:nvPr/>
              </p:nvCxnSpPr>
              <p:spPr>
                <a:xfrm>
                  <a:off x="7018200" y="59065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5" name="Google Shape;535;p49"/>
                <p:cNvCxnSpPr/>
                <p:nvPr/>
              </p:nvCxnSpPr>
              <p:spPr>
                <a:xfrm>
                  <a:off x="7018200" y="59259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6" name="Google Shape;536;p49"/>
                <p:cNvCxnSpPr/>
                <p:nvPr/>
              </p:nvCxnSpPr>
              <p:spPr>
                <a:xfrm>
                  <a:off x="7018200" y="59446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7" name="Google Shape;537;p49"/>
                <p:cNvCxnSpPr/>
                <p:nvPr/>
              </p:nvCxnSpPr>
              <p:spPr>
                <a:xfrm>
                  <a:off x="7018200" y="59637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8" name="Google Shape;538;p49"/>
                <p:cNvCxnSpPr/>
                <p:nvPr/>
              </p:nvCxnSpPr>
              <p:spPr>
                <a:xfrm>
                  <a:off x="7018200" y="59832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9" name="Google Shape;539;p49"/>
                <p:cNvCxnSpPr/>
                <p:nvPr/>
              </p:nvCxnSpPr>
              <p:spPr>
                <a:xfrm>
                  <a:off x="7018200" y="60019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0" name="Google Shape;540;p49"/>
                <p:cNvCxnSpPr/>
                <p:nvPr/>
              </p:nvCxnSpPr>
              <p:spPr>
                <a:xfrm>
                  <a:off x="7018200" y="60210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1" name="Google Shape;541;p49"/>
                <p:cNvCxnSpPr/>
                <p:nvPr/>
              </p:nvCxnSpPr>
              <p:spPr>
                <a:xfrm>
                  <a:off x="7018200" y="60400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2" name="Google Shape;542;p49"/>
                <p:cNvCxnSpPr/>
                <p:nvPr/>
              </p:nvCxnSpPr>
              <p:spPr>
                <a:xfrm>
                  <a:off x="7018200" y="605916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3" name="Google Shape;543;p49"/>
                <p:cNvCxnSpPr/>
                <p:nvPr/>
              </p:nvCxnSpPr>
              <p:spPr>
                <a:xfrm>
                  <a:off x="7018200" y="60786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4" name="Google Shape;544;p49"/>
                <p:cNvCxnSpPr/>
                <p:nvPr/>
              </p:nvCxnSpPr>
              <p:spPr>
                <a:xfrm>
                  <a:off x="7018200" y="60973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49"/>
                <p:cNvCxnSpPr/>
                <p:nvPr/>
              </p:nvCxnSpPr>
              <p:spPr>
                <a:xfrm>
                  <a:off x="7018200" y="611640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6" name="Google Shape;546;p49"/>
                <p:cNvCxnSpPr/>
                <p:nvPr/>
              </p:nvCxnSpPr>
              <p:spPr>
                <a:xfrm>
                  <a:off x="7018200" y="613548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7" name="Google Shape;547;p49"/>
                <p:cNvCxnSpPr/>
                <p:nvPr/>
              </p:nvCxnSpPr>
              <p:spPr>
                <a:xfrm>
                  <a:off x="7018200" y="5868720"/>
                  <a:ext cx="136800" cy="0"/>
                </a:xfrm>
                <a:prstGeom prst="straightConnector1">
                  <a:avLst/>
                </a:prstGeom>
                <a:noFill/>
                <a:ln cap="flat" cmpd="sng" w="89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48" name="Google Shape;548;p49"/>
            <p:cNvSpPr/>
            <p:nvPr/>
          </p:nvSpPr>
          <p:spPr>
            <a:xfrm rot="-5400000">
              <a:off x="6406560" y="4897440"/>
              <a:ext cx="1008360" cy="35892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9"/>
            <p:cNvSpPr/>
            <p:nvPr/>
          </p:nvSpPr>
          <p:spPr>
            <a:xfrm flipH="1" rot="-5400000">
              <a:off x="6779160" y="4872600"/>
              <a:ext cx="1008360" cy="358920"/>
            </a:xfrm>
            <a:prstGeom prst="leftArrow">
              <a:avLst>
                <a:gd fmla="val 50000" name="adj1"/>
                <a:gd fmla="val 68923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9"/>
            <p:cNvSpPr/>
            <p:nvPr/>
          </p:nvSpPr>
          <p:spPr>
            <a:xfrm flipH="1">
              <a:off x="4457160" y="6003360"/>
              <a:ext cx="1902960" cy="396000"/>
            </a:xfrm>
            <a:prstGeom prst="leftArrow">
              <a:avLst>
                <a:gd fmla="val 50000" name="adj1"/>
                <a:gd fmla="val 144199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9"/>
            <p:cNvSpPr/>
            <p:nvPr/>
          </p:nvSpPr>
          <p:spPr>
            <a:xfrm flipH="1">
              <a:off x="4498560" y="3934440"/>
              <a:ext cx="1656000" cy="358920"/>
            </a:xfrm>
            <a:prstGeom prst="leftArrow">
              <a:avLst>
                <a:gd fmla="val 50000" name="adj1"/>
                <a:gd fmla="val 150414" name="adj2"/>
              </a:avLst>
            </a:prstGeom>
            <a:solidFill>
              <a:schemeClr val="dk1"/>
            </a:solidFill>
            <a:ln cap="flat" cmpd="sng" w="23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800" lIns="85800" spcFirstLastPara="1" rIns="85800" wrap="square" tIns="8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4839480" y="1844640"/>
              <a:ext cx="1012626" cy="352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59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Execução</a:t>
              </a:r>
              <a:endParaRPr b="0" i="0" sz="15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3215520" y="3315600"/>
              <a:ext cx="1011600" cy="34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59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Espera</a:t>
              </a:r>
              <a:endParaRPr b="0" i="0" sz="15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6782758" y="3280138"/>
              <a:ext cx="10011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59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Pronto</a:t>
              </a:r>
              <a:endParaRPr b="0" i="0" sz="15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8516160" y="3167640"/>
              <a:ext cx="1461240" cy="45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252" u="none" cap="none" strike="noStrike">
                  <a:solidFill>
                    <a:srgbClr val="07C910"/>
                  </a:solidFill>
                  <a:latin typeface="Calibri"/>
                  <a:ea typeface="Calibri"/>
                  <a:cs typeface="Calibri"/>
                  <a:sym typeface="Calibri"/>
                </a:rPr>
                <a:t>Criação</a:t>
              </a:r>
              <a:endParaRPr b="0" i="0" sz="225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6942960" y="1628640"/>
              <a:ext cx="1552680" cy="45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252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Término</a:t>
              </a:r>
              <a:endParaRPr b="0" i="0" sz="225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3233520" y="6447960"/>
              <a:ext cx="1011600" cy="34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59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Espera</a:t>
              </a:r>
              <a:endParaRPr b="0" i="0" sz="15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6625440" y="6462360"/>
              <a:ext cx="1001160" cy="34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59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Pronto</a:t>
              </a:r>
              <a:endParaRPr b="0" i="0" sz="159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808200" y="4623840"/>
              <a:ext cx="234216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68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Residente na MP</a:t>
              </a:r>
              <a:endParaRPr b="0" i="0" sz="16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712440" y="5001120"/>
              <a:ext cx="292428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225" lIns="84450" spcFirstLastPara="1" rIns="84450" wrap="square" tIns="4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68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Não Residente na MP</a:t>
              </a:r>
              <a:endParaRPr b="0" i="0" sz="16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p49"/>
          <p:cNvSpPr/>
          <p:nvPr/>
        </p:nvSpPr>
        <p:spPr>
          <a:xfrm>
            <a:off x="4383845" y="5068463"/>
            <a:ext cx="1335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swap out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7808090" y="5068475"/>
            <a:ext cx="1150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swap in</a:t>
            </a:r>
            <a:endParaRPr b="0" i="0" sz="2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9"/>
          <p:cNvSpPr/>
          <p:nvPr/>
        </p:nvSpPr>
        <p:spPr>
          <a:xfrm>
            <a:off x="5718838" y="5068475"/>
            <a:ext cx="1335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swap out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2366640" y="1234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Mudança de Estado do Processo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9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137857" y="942976"/>
            <a:ext cx="119300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processo muda de estado durante seu processamento em função de eventos originados por ele próprio (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eventos voluntários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ou pelo S.O. (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eventos involuntários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4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0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Mudança de Estado do Processo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0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123480" y="1489320"/>
            <a:ext cx="11987640" cy="48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processo em estado de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pronto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 de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espera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pode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 encontrar na memória principal</a:t>
            </a:r>
            <a:r>
              <a:rPr lang="pt-BR" sz="2100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pt-BR" sz="2100">
                <a:solidFill>
                  <a:schemeClr val="dk1"/>
                </a:solidFill>
              </a:rPr>
              <a:t> 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 condição ocorre quando: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 há espaço suficiente para todos os processos na memória principal;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•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Parte do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do processo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levada para a memória secundária (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HD);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100">
                <a:latin typeface="Calibri"/>
                <a:ea typeface="Calibri"/>
                <a:cs typeface="Calibri"/>
                <a:sym typeface="Calibri"/>
              </a:rPr>
              <a:t>Nesse caso é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utilizada uma técnica conhecida como </a:t>
            </a: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swapping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1" marL="80028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Swap out –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transfere o processo da memória principal para secundária;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1" lvl="1" marL="80028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1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Swap in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– traz o processo da memória secundária para principal; 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Isto indica que os processos em estados de espera e pronto podem estar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residentes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ou </a:t>
            </a:r>
            <a:r>
              <a:rPr b="0" i="1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 residentes 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 memória principal.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3160" marR="0" rtl="0" algn="just">
              <a:lnSpc>
                <a:spcPct val="9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5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1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1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1"/>
          <p:cNvSpPr/>
          <p:nvPr/>
        </p:nvSpPr>
        <p:spPr>
          <a:xfrm>
            <a:off x="3646080" y="253080"/>
            <a:ext cx="492804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1"/>
          <p:cNvSpPr/>
          <p:nvPr/>
        </p:nvSpPr>
        <p:spPr>
          <a:xfrm>
            <a:off x="103680" y="1008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ma imagem contendo água, campo&#10;&#10;Descrição gerada automaticamente" id="584" name="Google Shape;58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80000">
            <a:off x="8030880" y="2636280"/>
            <a:ext cx="2742840" cy="126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280" y="5822280"/>
            <a:ext cx="2742840" cy="96408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1"/>
          <p:cNvSpPr/>
          <p:nvPr/>
        </p:nvSpPr>
        <p:spPr>
          <a:xfrm>
            <a:off x="253080" y="1446480"/>
            <a:ext cx="11700000" cy="3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Gerenciamento de Processos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Estrutura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Contexto de hardware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- Contexto de software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- Espaço de endereçamento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Bloco de controle de processo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=&gt; Estado de um processo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-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     -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     - Wait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=&gt; Mudança de estado do processo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7" name="Google Shape;587;p51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2"/>
          <p:cNvSpPr/>
          <p:nvPr/>
        </p:nvSpPr>
        <p:spPr>
          <a:xfrm>
            <a:off x="3631680" y="281880"/>
            <a:ext cx="492804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Bibliografia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122760" y="1241280"/>
            <a:ext cx="11989800" cy="5438880"/>
          </a:xfrm>
          <a:prstGeom prst="rect">
            <a:avLst/>
          </a:prstGeom>
          <a:solidFill>
            <a:schemeClr val="lt1"/>
          </a:solidFill>
          <a:ln cap="flat" cmpd="sng" w="12600">
            <a:solidFill>
              <a:srgbClr val="03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480" lvl="0" marL="28584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DEITEL, Harvey M.; DEITEL, Paul J.; CHOFFNES, David 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3ª Edição. São Paulo: Pearson Prentice Hall, 2005. {681.31:519.687 D325s} (5 exemplares)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SILBERSCHATZ, Abraham; GALVIN, Peter Baer; GAGNE, Greg.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6ª edição. Rio de Janeiro: LTC, 2004. {681.31:519.687 S582f}(4 exemplares)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TANENBAUM, Andrew S. 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 modernos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 São Paulo: Pearson Prentice Hall, 2009. 5ex.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just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COMPLEMENTAR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HILL, Benjamin Mako; BACON, Jono.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livro oficial de ubuntu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Porto Alegre: Artmed, 2008. 3ex.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Berenger; MAIA, Luiz Paulo.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 LTC,2007. 10ex.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B.; MAIA, Luiz Paulo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5ª  Edição. Rio de Janeiro: Editora Livros Técnicos e Científicos, 2013. {681.31:519.687  M149a}(8 exemplares)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NEGUS, Christopher.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 edição especial: a bíblia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 Alta Books, 2007. 2ex.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OLIVEIRA, Rômulo Silva de; CARISSIMI, Alexandre da Silva; TOSCANI, Simão. Sistemas operacionais. Porto Alegre: Bookman, 2010. 5ex.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just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AHO, Alfred V. et al.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Compiladores: princípios, técnicas e ferramentas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2. ed. São Paulo, SP: Pearson Addison Wesley, 2008. {005.453 C737}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