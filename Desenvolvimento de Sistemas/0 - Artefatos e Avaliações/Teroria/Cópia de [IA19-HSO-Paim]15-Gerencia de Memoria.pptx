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47" r:id="rId2"/>
  </p:sldMasterIdLst>
  <p:notesMasterIdLst>
    <p:notesMasterId r:id="rId41"/>
  </p:notesMasterIdLst>
  <p:sldIdLst>
    <p:sldId id="428" r:id="rId3"/>
    <p:sldId id="258" r:id="rId4"/>
    <p:sldId id="299" r:id="rId5"/>
    <p:sldId id="278" r:id="rId6"/>
    <p:sldId id="385" r:id="rId7"/>
    <p:sldId id="398" r:id="rId8"/>
    <p:sldId id="399" r:id="rId9"/>
    <p:sldId id="400" r:id="rId10"/>
    <p:sldId id="403" r:id="rId11"/>
    <p:sldId id="402" r:id="rId12"/>
    <p:sldId id="401" r:id="rId13"/>
    <p:sldId id="404" r:id="rId14"/>
    <p:sldId id="405" r:id="rId15"/>
    <p:sldId id="406" r:id="rId16"/>
    <p:sldId id="407" r:id="rId17"/>
    <p:sldId id="408" r:id="rId18"/>
    <p:sldId id="409" r:id="rId19"/>
    <p:sldId id="410" r:id="rId20"/>
    <p:sldId id="411" r:id="rId21"/>
    <p:sldId id="412" r:id="rId22"/>
    <p:sldId id="413" r:id="rId23"/>
    <p:sldId id="414" r:id="rId24"/>
    <p:sldId id="416" r:id="rId25"/>
    <p:sldId id="415" r:id="rId26"/>
    <p:sldId id="417" r:id="rId27"/>
    <p:sldId id="418" r:id="rId28"/>
    <p:sldId id="419" r:id="rId29"/>
    <p:sldId id="420" r:id="rId30"/>
    <p:sldId id="421" r:id="rId31"/>
    <p:sldId id="422" r:id="rId32"/>
    <p:sldId id="423" r:id="rId33"/>
    <p:sldId id="424" r:id="rId34"/>
    <p:sldId id="425" r:id="rId35"/>
    <p:sldId id="426" r:id="rId36"/>
    <p:sldId id="427" r:id="rId37"/>
    <p:sldId id="298" r:id="rId38"/>
    <p:sldId id="430" r:id="rId39"/>
    <p:sldId id="429" r:id="rId4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9EA7E-4D4D-4E8F-969C-17266D302EF1}" v="118" dt="2020-02-09T12:12:13.372"/>
    <p1510:client id="{0EAAA988-2C68-4BCF-83CD-AE9F026FE6BB}" v="116" dt="2020-08-07T13:02:08.316"/>
    <p1510:client id="{143A7383-A703-4B01-BFA6-9D49624151EF}" v="2327" dt="2019-10-30T23:29:10.569"/>
    <p1510:client id="{1870CAAA-6112-4EF5-189E-CAC462A6C950}" v="1109" dt="2020-08-31T21:11:10.252"/>
    <p1510:client id="{1A2A0786-CE7E-4209-0480-B9109996D086}" v="389" dt="2020-08-28T20:19:32.566"/>
    <p1510:client id="{1B0FA6D5-760C-40F9-A76A-C66A23210A88}" v="423" dt="2019-11-29T11:24:33.104"/>
    <p1510:client id="{1BB82EB3-19AB-4BFF-BCFB-C90F68260413}" v="7" dt="2020-08-31T18:32:38.913"/>
    <p1510:client id="{23242F81-3CE7-4A36-BDB6-B7B7A984F465}" v="2" dt="2019-10-18T12:58:11.033"/>
    <p1510:client id="{2A55021F-E700-4BF7-B87F-25A17069A1AB}" v="313" dt="2019-10-14T20:03:47.839"/>
    <p1510:client id="{2FDF496E-7993-41B8-29BC-FCE736FC7F76}" v="694" dt="2020-08-28T21:30:08.702"/>
    <p1510:client id="{34201E48-31EE-428E-0F5D-E7EE42343631}" v="1040" dt="2020-08-31T19:58:14.847"/>
    <p1510:client id="{361FB914-AB24-452E-8D82-D9724BC21E12}" v="802" dt="2020-08-25T20:52:37.440"/>
    <p1510:client id="{442FC9E3-A72F-4F1E-842F-D3DB983CCA19}" v="59" dt="2019-11-19T17:43:47.056"/>
    <p1510:client id="{47312A0A-2580-4E6C-A6BF-A0E372B9B604}" v="152" dt="2019-10-17T21:43:15.538"/>
    <p1510:client id="{4772D096-53B3-4388-93E6-0FAF17EF4F1D}" v="550" dt="2020-02-07T16:07:06.407"/>
    <p1510:client id="{4F52E309-D824-46DE-8290-CE0DA95FBED1}" v="1479" dt="2020-08-26T19:41:59.662"/>
    <p1510:client id="{51A4D553-2689-475F-B85B-5409472BB271}" v="5" dt="2020-08-07T14:09:46.701"/>
    <p1510:client id="{5300BF01-0C64-4874-8B4E-5FFAD2FB9BC5}" v="61" dt="2020-08-26T21:16:43.328"/>
    <p1510:client id="{5539FE0C-B27A-414B-9E4C-7AE9BF724BFE}" v="1132" dt="2019-11-19T19:16:19.306"/>
    <p1510:client id="{5FB961D9-0F7A-485C-80E1-AD1F928BDA22}" v="522" dt="2020-09-23T20:17:38.953"/>
    <p1510:client id="{6D7EA119-5084-4D11-BAED-8CE51403B43E}" v="1" dt="2020-08-25T19:39:39"/>
    <p1510:client id="{7201E0C9-B949-4F13-BE14-9B556989ADDF}" v="132" dt="2020-08-24T20:15:46.668"/>
    <p1510:client id="{7E5D80FC-4E43-446C-90BF-9E97AB994AD7}" v="25" dt="2019-11-21T13:47:59.916"/>
    <p1510:client id="{801B7D5C-A1E8-4E19-BC6A-1ACBA6F45069}" v="32" dt="2019-10-31T13:02:16.459"/>
    <p1510:client id="{8277D4A4-4E4E-44B6-0963-BEA43C028769}" v="729" dt="2020-08-28T19:10:59.485"/>
    <p1510:client id="{8AE34065-CF1F-4955-89B5-2F7369EF095C}" v="749" dt="2019-11-21T21:40:32.565"/>
    <p1510:client id="{8E0CB0C3-2A50-464A-8C06-101B4A252542}" v="404" dt="2019-11-21T12:56:24.293"/>
    <p1510:client id="{946D074D-AD5F-43BB-92E6-812D08736660}" v="153" dt="2019-10-10T18:38:13.703"/>
    <p1510:client id="{952FA1BF-CC87-45AC-8B59-0B2DA5A9E9B8}" v="334" dt="2020-08-25T19:59:01.640"/>
    <p1510:client id="{9F7126B5-9B7A-4541-A261-76C16665FCD0}" v="1130" dt="2020-08-25T19:34:11.625"/>
    <p1510:client id="{C2B792DB-D4AA-4DA2-BCD0-B318FF19AA8D}" v="64" dt="2020-02-09T13:43:01.647"/>
    <p1510:client id="{C309FB53-0EB5-4CF4-ABBD-C22AC887ED01}" v="8" dt="2020-08-24T19:51:14.897"/>
    <p1510:client id="{CD129751-6C35-40FD-81C7-F417742B84B2}" v="1123" dt="2020-08-25T15:05:05.594"/>
    <p1510:client id="{D21A5906-9B93-48DF-9D8B-6957E841F45C}" v="37" dt="2020-10-19T19:52:03.276"/>
    <p1510:client id="{D899B664-AD11-42C6-8917-B7B35A927E2C}" v="582" dt="2019-10-15T21:42:19.228"/>
    <p1510:client id="{D8B7BC65-859C-47D7-0F1A-396E25E009BF}" v="1884" dt="2020-08-27T18:41:28.509"/>
    <p1510:client id="{E5A72817-02E0-44B0-1358-F57C1DC66DF1}" v="303" dt="2020-08-31T18:54:04.278"/>
    <p1510:client id="{EC70F95B-7482-460D-A349-FFE2D60658D2}" v="259" dt="2020-08-07T14:26:48.667"/>
    <p1510:client id="{F2FACACA-56B9-404A-9400-D308A3009EE7}" v="6" dt="2020-08-25T21:04:20.908"/>
    <p1510:client id="{F410FB9A-662C-4572-9B0C-7779FF7BD594}" v="6" dt="2020-09-21T19:05:00.402"/>
    <p1510:client id="{F51956DF-0D82-4507-8963-D6195A21818B}" v="971" dt="2020-08-28T18:37:51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clides Paim" userId="0d84fb374bcffaab" providerId="Windows Live" clId="Web-{D21A5906-9B93-48DF-9D8B-6957E841F45C}"/>
    <pc:docChg chg="addSld delSld modSld">
      <pc:chgData name="Euclides Paim" userId="0d84fb374bcffaab" providerId="Windows Live" clId="Web-{D21A5906-9B93-48DF-9D8B-6957E841F45C}" dt="2020-10-19T19:52:03.276" v="36"/>
      <pc:docMkLst>
        <pc:docMk/>
      </pc:docMkLst>
      <pc:sldChg chg="del">
        <pc:chgData name="Euclides Paim" userId="0d84fb374bcffaab" providerId="Windows Live" clId="Web-{D21A5906-9B93-48DF-9D8B-6957E841F45C}" dt="2020-10-19T14:22:48.222" v="1"/>
        <pc:sldMkLst>
          <pc:docMk/>
          <pc:sldMk cId="1912989895" sldId="257"/>
        </pc:sldMkLst>
      </pc:sldChg>
      <pc:sldChg chg="modSp">
        <pc:chgData name="Euclides Paim" userId="0d84fb374bcffaab" providerId="Windows Live" clId="Web-{D21A5906-9B93-48DF-9D8B-6957E841F45C}" dt="2020-10-19T14:23:00.785" v="3"/>
        <pc:sldMkLst>
          <pc:docMk/>
          <pc:sldMk cId="899282184" sldId="258"/>
        </pc:sldMkLst>
        <pc:spChg chg="mod">
          <ac:chgData name="Euclides Paim" userId="0d84fb374bcffaab" providerId="Windows Live" clId="Web-{D21A5906-9B93-48DF-9D8B-6957E841F45C}" dt="2020-10-19T14:23:00.785" v="3"/>
          <ac:spMkLst>
            <pc:docMk/>
            <pc:sldMk cId="899282184" sldId="258"/>
            <ac:spMk id="7" creationId="{F1E9E8CF-FE9E-4B81-B325-A5C58B74BD75}"/>
          </ac:spMkLst>
        </pc:spChg>
        <pc:spChg chg="mod">
          <ac:chgData name="Euclides Paim" userId="0d84fb374bcffaab" providerId="Windows Live" clId="Web-{D21A5906-9B93-48DF-9D8B-6957E841F45C}" dt="2020-10-19T14:22:56.972" v="2"/>
          <ac:spMkLst>
            <pc:docMk/>
            <pc:sldMk cId="899282184" sldId="258"/>
            <ac:spMk id="9" creationId="{658B6992-D464-4E9E-9004-33BB3AF6F50F}"/>
          </ac:spMkLst>
        </pc:spChg>
      </pc:sldChg>
      <pc:sldChg chg="modSp">
        <pc:chgData name="Euclides Paim" userId="0d84fb374bcffaab" providerId="Windows Live" clId="Web-{D21A5906-9B93-48DF-9D8B-6957E841F45C}" dt="2020-10-19T14:23:11.160" v="4"/>
        <pc:sldMkLst>
          <pc:docMk/>
          <pc:sldMk cId="4062819139" sldId="278"/>
        </pc:sldMkLst>
        <pc:spChg chg="mod">
          <ac:chgData name="Euclides Paim" userId="0d84fb374bcffaab" providerId="Windows Live" clId="Web-{D21A5906-9B93-48DF-9D8B-6957E841F45C}" dt="2020-10-19T14:23:11.160" v="4"/>
          <ac:spMkLst>
            <pc:docMk/>
            <pc:sldMk cId="4062819139" sldId="278"/>
            <ac:spMk id="3" creationId="{7D5BEDC0-B9C6-4CBC-B0EA-6BD0A411D1F2}"/>
          </ac:spMkLst>
        </pc:spChg>
      </pc:sldChg>
      <pc:sldChg chg="modSp del">
        <pc:chgData name="Euclides Paim" userId="0d84fb374bcffaab" providerId="Windows Live" clId="Web-{D21A5906-9B93-48DF-9D8B-6957E841F45C}" dt="2020-10-19T19:50:48.805" v="34"/>
        <pc:sldMkLst>
          <pc:docMk/>
          <pc:sldMk cId="4240500451" sldId="301"/>
        </pc:sldMkLst>
        <pc:spChg chg="mod">
          <ac:chgData name="Euclides Paim" userId="0d84fb374bcffaab" providerId="Windows Live" clId="Web-{D21A5906-9B93-48DF-9D8B-6957E841F45C}" dt="2020-10-19T14:25:52.493" v="33"/>
          <ac:spMkLst>
            <pc:docMk/>
            <pc:sldMk cId="4240500451" sldId="30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19.645" v="5"/>
        <pc:sldMkLst>
          <pc:docMk/>
          <pc:sldMk cId="541632847" sldId="385"/>
        </pc:sldMkLst>
        <pc:spChg chg="mod">
          <ac:chgData name="Euclides Paim" userId="0d84fb374bcffaab" providerId="Windows Live" clId="Web-{D21A5906-9B93-48DF-9D8B-6957E841F45C}" dt="2020-10-19T14:23:19.645" v="5"/>
          <ac:spMkLst>
            <pc:docMk/>
            <pc:sldMk cId="541632847" sldId="38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26.488" v="6"/>
        <pc:sldMkLst>
          <pc:docMk/>
          <pc:sldMk cId="1303100967" sldId="398"/>
        </pc:sldMkLst>
        <pc:spChg chg="mod">
          <ac:chgData name="Euclides Paim" userId="0d84fb374bcffaab" providerId="Windows Live" clId="Web-{D21A5906-9B93-48DF-9D8B-6957E841F45C}" dt="2020-10-19T14:23:26.488" v="6"/>
          <ac:spMkLst>
            <pc:docMk/>
            <pc:sldMk cId="1303100967" sldId="398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31.426" v="7"/>
        <pc:sldMkLst>
          <pc:docMk/>
          <pc:sldMk cId="2826445169" sldId="399"/>
        </pc:sldMkLst>
        <pc:spChg chg="mod">
          <ac:chgData name="Euclides Paim" userId="0d84fb374bcffaab" providerId="Windows Live" clId="Web-{D21A5906-9B93-48DF-9D8B-6957E841F45C}" dt="2020-10-19T14:23:31.426" v="7"/>
          <ac:spMkLst>
            <pc:docMk/>
            <pc:sldMk cId="2826445169" sldId="399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36.645" v="8"/>
        <pc:sldMkLst>
          <pc:docMk/>
          <pc:sldMk cId="382828230" sldId="400"/>
        </pc:sldMkLst>
        <pc:spChg chg="mod">
          <ac:chgData name="Euclides Paim" userId="0d84fb374bcffaab" providerId="Windows Live" clId="Web-{D21A5906-9B93-48DF-9D8B-6957E841F45C}" dt="2020-10-19T14:23:36.645" v="8"/>
          <ac:spMkLst>
            <pc:docMk/>
            <pc:sldMk cId="382828230" sldId="400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50.942" v="11"/>
        <pc:sldMkLst>
          <pc:docMk/>
          <pc:sldMk cId="3668246103" sldId="401"/>
        </pc:sldMkLst>
        <pc:spChg chg="mod">
          <ac:chgData name="Euclides Paim" userId="0d84fb374bcffaab" providerId="Windows Live" clId="Web-{D21A5906-9B93-48DF-9D8B-6957E841F45C}" dt="2020-10-19T14:23:50.942" v="11"/>
          <ac:spMkLst>
            <pc:docMk/>
            <pc:sldMk cId="3668246103" sldId="40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46.036" v="10"/>
        <pc:sldMkLst>
          <pc:docMk/>
          <pc:sldMk cId="2157755160" sldId="402"/>
        </pc:sldMkLst>
        <pc:spChg chg="mod">
          <ac:chgData name="Euclides Paim" userId="0d84fb374bcffaab" providerId="Windows Live" clId="Web-{D21A5906-9B93-48DF-9D8B-6957E841F45C}" dt="2020-10-19T14:23:46.036" v="10"/>
          <ac:spMkLst>
            <pc:docMk/>
            <pc:sldMk cId="2157755160" sldId="402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41.786" v="9"/>
        <pc:sldMkLst>
          <pc:docMk/>
          <pc:sldMk cId="1720129074" sldId="403"/>
        </pc:sldMkLst>
        <pc:spChg chg="mod">
          <ac:chgData name="Euclides Paim" userId="0d84fb374bcffaab" providerId="Windows Live" clId="Web-{D21A5906-9B93-48DF-9D8B-6957E841F45C}" dt="2020-10-19T14:23:41.786" v="9"/>
          <ac:spMkLst>
            <pc:docMk/>
            <pc:sldMk cId="1720129074" sldId="403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58.240" v="12"/>
        <pc:sldMkLst>
          <pc:docMk/>
          <pc:sldMk cId="3501233667" sldId="405"/>
        </pc:sldMkLst>
        <pc:spChg chg="mod">
          <ac:chgData name="Euclides Paim" userId="0d84fb374bcffaab" providerId="Windows Live" clId="Web-{D21A5906-9B93-48DF-9D8B-6957E841F45C}" dt="2020-10-19T14:23:58.240" v="12"/>
          <ac:spMkLst>
            <pc:docMk/>
            <pc:sldMk cId="3501233667" sldId="40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04.615" v="13"/>
        <pc:sldMkLst>
          <pc:docMk/>
          <pc:sldMk cId="1041809911" sldId="407"/>
        </pc:sldMkLst>
        <pc:spChg chg="mod">
          <ac:chgData name="Euclides Paim" userId="0d84fb374bcffaab" providerId="Windows Live" clId="Web-{D21A5906-9B93-48DF-9D8B-6957E841F45C}" dt="2020-10-19T14:24:04.615" v="13"/>
          <ac:spMkLst>
            <pc:docMk/>
            <pc:sldMk cId="1041809911" sldId="407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32.663" v="14"/>
        <pc:sldMkLst>
          <pc:docMk/>
          <pc:sldMk cId="1495837239" sldId="409"/>
        </pc:sldMkLst>
        <pc:spChg chg="mod">
          <ac:chgData name="Euclides Paim" userId="0d84fb374bcffaab" providerId="Windows Live" clId="Web-{D21A5906-9B93-48DF-9D8B-6957E841F45C}" dt="2020-10-19T14:24:32.663" v="14"/>
          <ac:spMkLst>
            <pc:docMk/>
            <pc:sldMk cId="1495837239" sldId="409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36.850" v="15"/>
        <pc:sldMkLst>
          <pc:docMk/>
          <pc:sldMk cId="1030389348" sldId="410"/>
        </pc:sldMkLst>
        <pc:spChg chg="mod">
          <ac:chgData name="Euclides Paim" userId="0d84fb374bcffaab" providerId="Windows Live" clId="Web-{D21A5906-9B93-48DF-9D8B-6957E841F45C}" dt="2020-10-19T14:24:36.850" v="15"/>
          <ac:spMkLst>
            <pc:docMk/>
            <pc:sldMk cId="1030389348" sldId="410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41.538" v="16"/>
        <pc:sldMkLst>
          <pc:docMk/>
          <pc:sldMk cId="3741192684" sldId="411"/>
        </pc:sldMkLst>
        <pc:spChg chg="mod">
          <ac:chgData name="Euclides Paim" userId="0d84fb374bcffaab" providerId="Windows Live" clId="Web-{D21A5906-9B93-48DF-9D8B-6957E841F45C}" dt="2020-10-19T14:24:41.538" v="16"/>
          <ac:spMkLst>
            <pc:docMk/>
            <pc:sldMk cId="3741192684" sldId="41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45.272" v="17"/>
        <pc:sldMkLst>
          <pc:docMk/>
          <pc:sldMk cId="1667903140" sldId="412"/>
        </pc:sldMkLst>
        <pc:spChg chg="mod">
          <ac:chgData name="Euclides Paim" userId="0d84fb374bcffaab" providerId="Windows Live" clId="Web-{D21A5906-9B93-48DF-9D8B-6957E841F45C}" dt="2020-10-19T14:24:45.272" v="17"/>
          <ac:spMkLst>
            <pc:docMk/>
            <pc:sldMk cId="1667903140" sldId="412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49.366" v="18"/>
        <pc:sldMkLst>
          <pc:docMk/>
          <pc:sldMk cId="1304779293" sldId="413"/>
        </pc:sldMkLst>
        <pc:spChg chg="mod">
          <ac:chgData name="Euclides Paim" userId="0d84fb374bcffaab" providerId="Windows Live" clId="Web-{D21A5906-9B93-48DF-9D8B-6957E841F45C}" dt="2020-10-19T14:24:49.366" v="18"/>
          <ac:spMkLst>
            <pc:docMk/>
            <pc:sldMk cId="1304779293" sldId="413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53.726" v="19"/>
        <pc:sldMkLst>
          <pc:docMk/>
          <pc:sldMk cId="111829957" sldId="414"/>
        </pc:sldMkLst>
        <pc:spChg chg="mod">
          <ac:chgData name="Euclides Paim" userId="0d84fb374bcffaab" providerId="Windows Live" clId="Web-{D21A5906-9B93-48DF-9D8B-6957E841F45C}" dt="2020-10-19T14:24:53.726" v="19"/>
          <ac:spMkLst>
            <pc:docMk/>
            <pc:sldMk cId="111829957" sldId="414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03.023" v="21"/>
        <pc:sldMkLst>
          <pc:docMk/>
          <pc:sldMk cId="110099322" sldId="415"/>
        </pc:sldMkLst>
        <pc:spChg chg="mod">
          <ac:chgData name="Euclides Paim" userId="0d84fb374bcffaab" providerId="Windows Live" clId="Web-{D21A5906-9B93-48DF-9D8B-6957E841F45C}" dt="2020-10-19T14:25:03.023" v="21"/>
          <ac:spMkLst>
            <pc:docMk/>
            <pc:sldMk cId="110099322" sldId="41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57.445" v="20"/>
        <pc:sldMkLst>
          <pc:docMk/>
          <pc:sldMk cId="2112682935" sldId="416"/>
        </pc:sldMkLst>
        <pc:spChg chg="mod">
          <ac:chgData name="Euclides Paim" userId="0d84fb374bcffaab" providerId="Windows Live" clId="Web-{D21A5906-9B93-48DF-9D8B-6957E841F45C}" dt="2020-10-19T14:24:57.445" v="20"/>
          <ac:spMkLst>
            <pc:docMk/>
            <pc:sldMk cId="2112682935" sldId="416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06.820" v="22"/>
        <pc:sldMkLst>
          <pc:docMk/>
          <pc:sldMk cId="711719472" sldId="417"/>
        </pc:sldMkLst>
        <pc:spChg chg="mod">
          <ac:chgData name="Euclides Paim" userId="0d84fb374bcffaab" providerId="Windows Live" clId="Web-{D21A5906-9B93-48DF-9D8B-6957E841F45C}" dt="2020-10-19T14:25:06.820" v="22"/>
          <ac:spMkLst>
            <pc:docMk/>
            <pc:sldMk cId="711719472" sldId="417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10.664" v="23"/>
        <pc:sldMkLst>
          <pc:docMk/>
          <pc:sldMk cId="2503283609" sldId="418"/>
        </pc:sldMkLst>
        <pc:spChg chg="mod">
          <ac:chgData name="Euclides Paim" userId="0d84fb374bcffaab" providerId="Windows Live" clId="Web-{D21A5906-9B93-48DF-9D8B-6957E841F45C}" dt="2020-10-19T14:25:10.664" v="23"/>
          <ac:spMkLst>
            <pc:docMk/>
            <pc:sldMk cId="2503283609" sldId="418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14.679" v="24"/>
        <pc:sldMkLst>
          <pc:docMk/>
          <pc:sldMk cId="3664132014" sldId="419"/>
        </pc:sldMkLst>
        <pc:spChg chg="mod">
          <ac:chgData name="Euclides Paim" userId="0d84fb374bcffaab" providerId="Windows Live" clId="Web-{D21A5906-9B93-48DF-9D8B-6957E841F45C}" dt="2020-10-19T14:25:14.679" v="24"/>
          <ac:spMkLst>
            <pc:docMk/>
            <pc:sldMk cId="3664132014" sldId="419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20.445" v="25"/>
        <pc:sldMkLst>
          <pc:docMk/>
          <pc:sldMk cId="1510317545" sldId="420"/>
        </pc:sldMkLst>
        <pc:spChg chg="mod">
          <ac:chgData name="Euclides Paim" userId="0d84fb374bcffaab" providerId="Windows Live" clId="Web-{D21A5906-9B93-48DF-9D8B-6957E841F45C}" dt="2020-10-19T14:25:20.445" v="25"/>
          <ac:spMkLst>
            <pc:docMk/>
            <pc:sldMk cId="1510317545" sldId="420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23.305" v="26"/>
        <pc:sldMkLst>
          <pc:docMk/>
          <pc:sldMk cId="641468180" sldId="421"/>
        </pc:sldMkLst>
        <pc:spChg chg="mod">
          <ac:chgData name="Euclides Paim" userId="0d84fb374bcffaab" providerId="Windows Live" clId="Web-{D21A5906-9B93-48DF-9D8B-6957E841F45C}" dt="2020-10-19T14:25:23.305" v="26"/>
          <ac:spMkLst>
            <pc:docMk/>
            <pc:sldMk cId="641468180" sldId="42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27.617" v="27"/>
        <pc:sldMkLst>
          <pc:docMk/>
          <pc:sldMk cId="4232862485" sldId="422"/>
        </pc:sldMkLst>
        <pc:spChg chg="mod">
          <ac:chgData name="Euclides Paim" userId="0d84fb374bcffaab" providerId="Windows Live" clId="Web-{D21A5906-9B93-48DF-9D8B-6957E841F45C}" dt="2020-10-19T14:25:27.617" v="27"/>
          <ac:spMkLst>
            <pc:docMk/>
            <pc:sldMk cId="4232862485" sldId="422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31.368" v="28"/>
        <pc:sldMkLst>
          <pc:docMk/>
          <pc:sldMk cId="720070422" sldId="423"/>
        </pc:sldMkLst>
        <pc:spChg chg="mod">
          <ac:chgData name="Euclides Paim" userId="0d84fb374bcffaab" providerId="Windows Live" clId="Web-{D21A5906-9B93-48DF-9D8B-6957E841F45C}" dt="2020-10-19T14:25:31.368" v="28"/>
          <ac:spMkLst>
            <pc:docMk/>
            <pc:sldMk cId="720070422" sldId="423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36.305" v="29"/>
        <pc:sldMkLst>
          <pc:docMk/>
          <pc:sldMk cId="900629962" sldId="424"/>
        </pc:sldMkLst>
        <pc:spChg chg="mod">
          <ac:chgData name="Euclides Paim" userId="0d84fb374bcffaab" providerId="Windows Live" clId="Web-{D21A5906-9B93-48DF-9D8B-6957E841F45C}" dt="2020-10-19T14:25:36.305" v="29"/>
          <ac:spMkLst>
            <pc:docMk/>
            <pc:sldMk cId="900629962" sldId="424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40.258" v="30"/>
        <pc:sldMkLst>
          <pc:docMk/>
          <pc:sldMk cId="2504292541" sldId="425"/>
        </pc:sldMkLst>
        <pc:spChg chg="mod">
          <ac:chgData name="Euclides Paim" userId="0d84fb374bcffaab" providerId="Windows Live" clId="Web-{D21A5906-9B93-48DF-9D8B-6957E841F45C}" dt="2020-10-19T14:25:40.258" v="30"/>
          <ac:spMkLst>
            <pc:docMk/>
            <pc:sldMk cId="2504292541" sldId="42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44.477" v="31"/>
        <pc:sldMkLst>
          <pc:docMk/>
          <pc:sldMk cId="2072425670" sldId="426"/>
        </pc:sldMkLst>
        <pc:spChg chg="mod">
          <ac:chgData name="Euclides Paim" userId="0d84fb374bcffaab" providerId="Windows Live" clId="Web-{D21A5906-9B93-48DF-9D8B-6957E841F45C}" dt="2020-10-19T14:25:44.477" v="31"/>
          <ac:spMkLst>
            <pc:docMk/>
            <pc:sldMk cId="2072425670" sldId="426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48.290" v="32"/>
        <pc:sldMkLst>
          <pc:docMk/>
          <pc:sldMk cId="1206606872" sldId="427"/>
        </pc:sldMkLst>
        <pc:spChg chg="mod">
          <ac:chgData name="Euclides Paim" userId="0d84fb374bcffaab" providerId="Windows Live" clId="Web-{D21A5906-9B93-48DF-9D8B-6957E841F45C}" dt="2020-10-19T14:25:48.290" v="32"/>
          <ac:spMkLst>
            <pc:docMk/>
            <pc:sldMk cId="1206606872" sldId="427"/>
            <ac:spMk id="3" creationId="{7D5BEDC0-B9C6-4CBC-B0EA-6BD0A411D1F2}"/>
          </ac:spMkLst>
        </pc:spChg>
      </pc:sldChg>
      <pc:sldChg chg="add">
        <pc:chgData name="Euclides Paim" userId="0d84fb374bcffaab" providerId="Windows Live" clId="Web-{D21A5906-9B93-48DF-9D8B-6957E841F45C}" dt="2020-10-19T14:22:43.831" v="0"/>
        <pc:sldMkLst>
          <pc:docMk/>
          <pc:sldMk cId="2581059678" sldId="428"/>
        </pc:sldMkLst>
      </pc:sldChg>
      <pc:sldChg chg="add">
        <pc:chgData name="Euclides Paim" userId="0d84fb374bcffaab" providerId="Windows Live" clId="Web-{D21A5906-9B93-48DF-9D8B-6957E841F45C}" dt="2020-10-19T19:52:03.198" v="35"/>
        <pc:sldMkLst>
          <pc:docMk/>
          <pc:sldMk cId="1326019757" sldId="429"/>
        </pc:sldMkLst>
      </pc:sldChg>
      <pc:sldChg chg="add">
        <pc:chgData name="Euclides Paim" userId="0d84fb374bcffaab" providerId="Windows Live" clId="Web-{D21A5906-9B93-48DF-9D8B-6957E841F45C}" dt="2020-10-19T19:52:03.276" v="36"/>
        <pc:sldMkLst>
          <pc:docMk/>
          <pc:sldMk cId="1441428431" sldId="4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F4894-F784-4519-9C56-FB09D3BE1893}" type="datetimeFigureOut">
              <a:rPr lang="pt-BR"/>
              <a:t>19/10/2020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9D57E-F1B0-4986-B268-66D28F9A6467}" type="slidenum">
              <a:rPr lang="pt-B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41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980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07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551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005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10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98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780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938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463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022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53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19.10.2020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B14C849-749F-4401-99B3-6A8C4A7AA7D0}" type="datetimeFigureOut">
              <a:rPr lang="pt-BR" smtClean="0"/>
              <a:pPr/>
              <a:t>19/10/2020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12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cs typeface="Calibri" panose="020F0502020204030204"/>
              </a:rPr>
              <a:t>euclides.paim@ifc.edu.br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0CE7AA5-E1E6-4D1E-91AC-CA05762D0EAA}"/>
              </a:ext>
            </a:extLst>
          </p:cNvPr>
          <p:cNvSpPr txBox="1"/>
          <p:nvPr/>
        </p:nvSpPr>
        <p:spPr>
          <a:xfrm>
            <a:off x="1733910" y="3071004"/>
            <a:ext cx="87385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600" b="1" dirty="0"/>
              <a:t>Hardware e Sistemas Operacionais</a:t>
            </a:r>
            <a:endParaRPr lang="pt-BR" sz="16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BCB967-DB78-40C0-A72A-F09C5D44A7F7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5" descr="Uma imagem contendo faca&#10;&#10;Descrição gerada automaticamente">
            <a:extLst>
              <a:ext uri="{FF2B5EF4-FFF2-40B4-BE49-F238E27FC236}">
                <a16:creationId xmlns:a16="http://schemas.microsoft.com/office/drawing/2014/main" id="{772C15A6-71B8-4399-B521-028FB141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3" y="211347"/>
            <a:ext cx="27336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05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ea typeface="+mn-lt"/>
                <a:cs typeface="+mn-lt"/>
              </a:rPr>
              <a:t>euclides.paim@ifc.edu.br</a:t>
            </a:r>
            <a:endParaRPr lang="de-DE">
              <a:ea typeface="+mn-lt"/>
              <a:cs typeface="+mn-lt"/>
            </a:endParaRPr>
          </a:p>
          <a:p>
            <a:endParaRPr lang="de-DE" i="1">
              <a:cs typeface="Calibri" panose="020F0502020204030204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754704" y="3142889"/>
            <a:ext cx="69701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200" b="1" dirty="0">
                <a:cs typeface="Calibri"/>
              </a:rPr>
              <a:t>Gerência de Memória</a:t>
            </a:r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58B6992-D464-4E9E-9004-33BB3AF6F50F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28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>
                <a:ea typeface="+mn-lt"/>
                <a:cs typeface="+mn-lt"/>
              </a:rPr>
              <a:t>Sumário</a:t>
            </a:r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E871C1AB-BD80-4112-8E35-BCEEAD91D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900000">
            <a:off x="8125004" y="2179788"/>
            <a:ext cx="2541198" cy="249842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98244D9-18F2-4E0D-A25B-8135D2BD69CE}"/>
              </a:ext>
            </a:extLst>
          </p:cNvPr>
          <p:cNvSpPr txBox="1"/>
          <p:nvPr/>
        </p:nvSpPr>
        <p:spPr>
          <a:xfrm>
            <a:off x="253041" y="1719533"/>
            <a:ext cx="1170029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000" b="1" dirty="0">
                <a:ea typeface="+mn-lt"/>
                <a:cs typeface="+mn-lt"/>
              </a:rPr>
              <a:t>Gerência de Memória</a:t>
            </a:r>
            <a:br>
              <a:rPr lang="pt-BR" sz="2000" b="1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 Introdução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Mecanismos básicos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 Alocação contígua 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Simples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Particionada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       - Estática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       - Dinâmica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Alocação não contígua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Estratégias de alocação de partição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</a:t>
            </a:r>
            <a:r>
              <a:rPr lang="pt-BR" sz="2000" i="1" dirty="0">
                <a:ea typeface="+mn-lt"/>
                <a:cs typeface="+mn-lt"/>
              </a:rPr>
              <a:t>Best-Fit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</a:t>
            </a:r>
            <a:r>
              <a:rPr lang="pt-BR" sz="2000" i="1" dirty="0" err="1">
                <a:ea typeface="+mn-lt"/>
                <a:cs typeface="+mn-lt"/>
              </a:rPr>
              <a:t>Worst</a:t>
            </a:r>
            <a:r>
              <a:rPr lang="pt-BR" sz="2000" i="1" dirty="0">
                <a:ea typeface="+mn-lt"/>
                <a:cs typeface="+mn-lt"/>
              </a:rPr>
              <a:t>-Fit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</a:t>
            </a:r>
            <a:r>
              <a:rPr lang="pt-BR" sz="2000" i="1" dirty="0" err="1">
                <a:ea typeface="+mn-lt"/>
                <a:cs typeface="+mn-lt"/>
              </a:rPr>
              <a:t>First</a:t>
            </a:r>
            <a:r>
              <a:rPr lang="pt-BR" sz="2000" i="1" dirty="0">
                <a:ea typeface="+mn-lt"/>
                <a:cs typeface="+mn-lt"/>
              </a:rPr>
              <a:t>-Fit</a:t>
            </a:r>
            <a:r>
              <a:rPr lang="pt-BR" sz="2000" dirty="0">
                <a:ea typeface="+mn-lt"/>
                <a:cs typeface="+mn-lt"/>
              </a:rPr>
              <a:t>        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</a:t>
            </a:r>
            <a:r>
              <a:rPr lang="pt-BR" sz="2000" i="1" dirty="0">
                <a:ea typeface="+mn-lt"/>
                <a:cs typeface="+mn-lt"/>
              </a:rPr>
              <a:t>Swapping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cs typeface="Calibri"/>
              </a:rPr>
              <a:t>=&gt; Considerações finais</a:t>
            </a:r>
            <a:endParaRPr lang="pt-BR" sz="2000" i="1" dirty="0" err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1069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8" descr="Uma imagem contendo circuito&#10;&#10;Descrição gerada automaticamente">
            <a:extLst>
              <a:ext uri="{FF2B5EF4-FFF2-40B4-BE49-F238E27FC236}">
                <a16:creationId xmlns:a16="http://schemas.microsoft.com/office/drawing/2014/main" id="{77230B14-D1D9-4221-A941-B1DEE56E2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080" y="1174217"/>
            <a:ext cx="8206595" cy="553035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D5FE8574-2F85-4E7C-B31F-2FDB0C445A26}"/>
              </a:ext>
            </a:extLst>
          </p:cNvPr>
          <p:cNvSpPr>
            <a:spLocks noGrp="1"/>
          </p:cNvSpPr>
          <p:nvPr/>
        </p:nvSpPr>
        <p:spPr>
          <a:xfrm>
            <a:off x="2851568" y="3124918"/>
            <a:ext cx="6474844" cy="1608827"/>
          </a:xfrm>
          <a:custGeom>
            <a:avLst/>
            <a:gdLst>
              <a:gd name="connsiteX0" fmla="*/ 0 w 6474844"/>
              <a:gd name="connsiteY0" fmla="*/ 0 h 1608827"/>
              <a:gd name="connsiteX1" fmla="*/ 523874 w 6474844"/>
              <a:gd name="connsiteY1" fmla="*/ 0 h 1608827"/>
              <a:gd name="connsiteX2" fmla="*/ 982999 w 6474844"/>
              <a:gd name="connsiteY2" fmla="*/ 0 h 1608827"/>
              <a:gd name="connsiteX3" fmla="*/ 1442124 w 6474844"/>
              <a:gd name="connsiteY3" fmla="*/ 0 h 1608827"/>
              <a:gd name="connsiteX4" fmla="*/ 1836501 w 6474844"/>
              <a:gd name="connsiteY4" fmla="*/ 0 h 1608827"/>
              <a:gd name="connsiteX5" fmla="*/ 2230878 w 6474844"/>
              <a:gd name="connsiteY5" fmla="*/ 0 h 1608827"/>
              <a:gd name="connsiteX6" fmla="*/ 2625255 w 6474844"/>
              <a:gd name="connsiteY6" fmla="*/ 0 h 1608827"/>
              <a:gd name="connsiteX7" fmla="*/ 3278626 w 6474844"/>
              <a:gd name="connsiteY7" fmla="*/ 0 h 1608827"/>
              <a:gd name="connsiteX8" fmla="*/ 3673002 w 6474844"/>
              <a:gd name="connsiteY8" fmla="*/ 0 h 1608827"/>
              <a:gd name="connsiteX9" fmla="*/ 4132128 w 6474844"/>
              <a:gd name="connsiteY9" fmla="*/ 0 h 1608827"/>
              <a:gd name="connsiteX10" fmla="*/ 4591253 w 6474844"/>
              <a:gd name="connsiteY10" fmla="*/ 0 h 1608827"/>
              <a:gd name="connsiteX11" fmla="*/ 5309372 w 6474844"/>
              <a:gd name="connsiteY11" fmla="*/ 0 h 1608827"/>
              <a:gd name="connsiteX12" fmla="*/ 5703749 w 6474844"/>
              <a:gd name="connsiteY12" fmla="*/ 0 h 1608827"/>
              <a:gd name="connsiteX13" fmla="*/ 6474844 w 6474844"/>
              <a:gd name="connsiteY13" fmla="*/ 0 h 1608827"/>
              <a:gd name="connsiteX14" fmla="*/ 6474844 w 6474844"/>
              <a:gd name="connsiteY14" fmla="*/ 568452 h 1608827"/>
              <a:gd name="connsiteX15" fmla="*/ 6474844 w 6474844"/>
              <a:gd name="connsiteY15" fmla="*/ 1120816 h 1608827"/>
              <a:gd name="connsiteX16" fmla="*/ 6474844 w 6474844"/>
              <a:gd name="connsiteY16" fmla="*/ 1608827 h 1608827"/>
              <a:gd name="connsiteX17" fmla="*/ 6080467 w 6474844"/>
              <a:gd name="connsiteY17" fmla="*/ 1608827 h 1608827"/>
              <a:gd name="connsiteX18" fmla="*/ 5621342 w 6474844"/>
              <a:gd name="connsiteY18" fmla="*/ 1608827 h 1608827"/>
              <a:gd name="connsiteX19" fmla="*/ 5097468 w 6474844"/>
              <a:gd name="connsiteY19" fmla="*/ 1608827 h 1608827"/>
              <a:gd name="connsiteX20" fmla="*/ 4508846 w 6474844"/>
              <a:gd name="connsiteY20" fmla="*/ 1608827 h 1608827"/>
              <a:gd name="connsiteX21" fmla="*/ 3984972 w 6474844"/>
              <a:gd name="connsiteY21" fmla="*/ 1608827 h 1608827"/>
              <a:gd name="connsiteX22" fmla="*/ 3590595 w 6474844"/>
              <a:gd name="connsiteY22" fmla="*/ 1608827 h 1608827"/>
              <a:gd name="connsiteX23" fmla="*/ 3001973 w 6474844"/>
              <a:gd name="connsiteY23" fmla="*/ 1608827 h 1608827"/>
              <a:gd name="connsiteX24" fmla="*/ 2413351 w 6474844"/>
              <a:gd name="connsiteY24" fmla="*/ 1608827 h 1608827"/>
              <a:gd name="connsiteX25" fmla="*/ 1759980 w 6474844"/>
              <a:gd name="connsiteY25" fmla="*/ 1608827 h 1608827"/>
              <a:gd name="connsiteX26" fmla="*/ 1041861 w 6474844"/>
              <a:gd name="connsiteY26" fmla="*/ 1608827 h 1608827"/>
              <a:gd name="connsiteX27" fmla="*/ 582736 w 6474844"/>
              <a:gd name="connsiteY27" fmla="*/ 1608827 h 1608827"/>
              <a:gd name="connsiteX28" fmla="*/ 0 w 6474844"/>
              <a:gd name="connsiteY28" fmla="*/ 1608827 h 1608827"/>
              <a:gd name="connsiteX29" fmla="*/ 0 w 6474844"/>
              <a:gd name="connsiteY29" fmla="*/ 1120816 h 1608827"/>
              <a:gd name="connsiteX30" fmla="*/ 0 w 6474844"/>
              <a:gd name="connsiteY30" fmla="*/ 632805 h 1608827"/>
              <a:gd name="connsiteX31" fmla="*/ 0 w 6474844"/>
              <a:gd name="connsiteY31" fmla="*/ 0 h 1608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474844" h="1608827" extrusionOk="0">
                <a:moveTo>
                  <a:pt x="0" y="0"/>
                </a:moveTo>
                <a:cubicBezTo>
                  <a:pt x="260654" y="-9078"/>
                  <a:pt x="334253" y="35773"/>
                  <a:pt x="523874" y="0"/>
                </a:cubicBezTo>
                <a:cubicBezTo>
                  <a:pt x="713495" y="-35773"/>
                  <a:pt x="826057" y="5201"/>
                  <a:pt x="982999" y="0"/>
                </a:cubicBezTo>
                <a:cubicBezTo>
                  <a:pt x="1139942" y="-5201"/>
                  <a:pt x="1232182" y="21375"/>
                  <a:pt x="1442124" y="0"/>
                </a:cubicBezTo>
                <a:cubicBezTo>
                  <a:pt x="1652066" y="-21375"/>
                  <a:pt x="1727820" y="22031"/>
                  <a:pt x="1836501" y="0"/>
                </a:cubicBezTo>
                <a:cubicBezTo>
                  <a:pt x="1945182" y="-22031"/>
                  <a:pt x="2080946" y="38597"/>
                  <a:pt x="2230878" y="0"/>
                </a:cubicBezTo>
                <a:cubicBezTo>
                  <a:pt x="2380810" y="-38597"/>
                  <a:pt x="2519834" y="14139"/>
                  <a:pt x="2625255" y="0"/>
                </a:cubicBezTo>
                <a:cubicBezTo>
                  <a:pt x="2730676" y="-14139"/>
                  <a:pt x="3115213" y="31410"/>
                  <a:pt x="3278626" y="0"/>
                </a:cubicBezTo>
                <a:cubicBezTo>
                  <a:pt x="3442039" y="-31410"/>
                  <a:pt x="3585284" y="1461"/>
                  <a:pt x="3673002" y="0"/>
                </a:cubicBezTo>
                <a:cubicBezTo>
                  <a:pt x="3760720" y="-1461"/>
                  <a:pt x="4029260" y="34041"/>
                  <a:pt x="4132128" y="0"/>
                </a:cubicBezTo>
                <a:cubicBezTo>
                  <a:pt x="4234996" y="-34041"/>
                  <a:pt x="4402849" y="33145"/>
                  <a:pt x="4591253" y="0"/>
                </a:cubicBezTo>
                <a:cubicBezTo>
                  <a:pt x="4779658" y="-33145"/>
                  <a:pt x="5086342" y="76318"/>
                  <a:pt x="5309372" y="0"/>
                </a:cubicBezTo>
                <a:cubicBezTo>
                  <a:pt x="5532402" y="-76318"/>
                  <a:pt x="5571588" y="25581"/>
                  <a:pt x="5703749" y="0"/>
                </a:cubicBezTo>
                <a:cubicBezTo>
                  <a:pt x="5835910" y="-25581"/>
                  <a:pt x="6245522" y="7793"/>
                  <a:pt x="6474844" y="0"/>
                </a:cubicBezTo>
                <a:cubicBezTo>
                  <a:pt x="6482848" y="166790"/>
                  <a:pt x="6449962" y="375118"/>
                  <a:pt x="6474844" y="568452"/>
                </a:cubicBezTo>
                <a:cubicBezTo>
                  <a:pt x="6499726" y="761786"/>
                  <a:pt x="6437960" y="893354"/>
                  <a:pt x="6474844" y="1120816"/>
                </a:cubicBezTo>
                <a:cubicBezTo>
                  <a:pt x="6511728" y="1348278"/>
                  <a:pt x="6452590" y="1448550"/>
                  <a:pt x="6474844" y="1608827"/>
                </a:cubicBezTo>
                <a:cubicBezTo>
                  <a:pt x="6287103" y="1612336"/>
                  <a:pt x="6248506" y="1591731"/>
                  <a:pt x="6080467" y="1608827"/>
                </a:cubicBezTo>
                <a:cubicBezTo>
                  <a:pt x="5912428" y="1625923"/>
                  <a:pt x="5843208" y="1589423"/>
                  <a:pt x="5621342" y="1608827"/>
                </a:cubicBezTo>
                <a:cubicBezTo>
                  <a:pt x="5399476" y="1628231"/>
                  <a:pt x="5357684" y="1607471"/>
                  <a:pt x="5097468" y="1608827"/>
                </a:cubicBezTo>
                <a:cubicBezTo>
                  <a:pt x="4837252" y="1610183"/>
                  <a:pt x="4699580" y="1601245"/>
                  <a:pt x="4508846" y="1608827"/>
                </a:cubicBezTo>
                <a:cubicBezTo>
                  <a:pt x="4318112" y="1616409"/>
                  <a:pt x="4155284" y="1604163"/>
                  <a:pt x="3984972" y="1608827"/>
                </a:cubicBezTo>
                <a:cubicBezTo>
                  <a:pt x="3814660" y="1613491"/>
                  <a:pt x="3778735" y="1576019"/>
                  <a:pt x="3590595" y="1608827"/>
                </a:cubicBezTo>
                <a:cubicBezTo>
                  <a:pt x="3402455" y="1641635"/>
                  <a:pt x="3271322" y="1553984"/>
                  <a:pt x="3001973" y="1608827"/>
                </a:cubicBezTo>
                <a:cubicBezTo>
                  <a:pt x="2732624" y="1663670"/>
                  <a:pt x="2667755" y="1595021"/>
                  <a:pt x="2413351" y="1608827"/>
                </a:cubicBezTo>
                <a:cubicBezTo>
                  <a:pt x="2158947" y="1622633"/>
                  <a:pt x="1977000" y="1605723"/>
                  <a:pt x="1759980" y="1608827"/>
                </a:cubicBezTo>
                <a:cubicBezTo>
                  <a:pt x="1542960" y="1611931"/>
                  <a:pt x="1241628" y="1579877"/>
                  <a:pt x="1041861" y="1608827"/>
                </a:cubicBezTo>
                <a:cubicBezTo>
                  <a:pt x="842094" y="1637777"/>
                  <a:pt x="716690" y="1595238"/>
                  <a:pt x="582736" y="1608827"/>
                </a:cubicBezTo>
                <a:cubicBezTo>
                  <a:pt x="448782" y="1622416"/>
                  <a:pt x="196743" y="1566128"/>
                  <a:pt x="0" y="1608827"/>
                </a:cubicBezTo>
                <a:cubicBezTo>
                  <a:pt x="-4142" y="1389610"/>
                  <a:pt x="56959" y="1343373"/>
                  <a:pt x="0" y="1120816"/>
                </a:cubicBezTo>
                <a:cubicBezTo>
                  <a:pt x="-56959" y="898259"/>
                  <a:pt x="45064" y="847378"/>
                  <a:pt x="0" y="632805"/>
                </a:cubicBezTo>
                <a:cubicBezTo>
                  <a:pt x="-45064" y="418232"/>
                  <a:pt x="67850" y="231623"/>
                  <a:pt x="0" y="0"/>
                </a:cubicBezTo>
                <a:close/>
              </a:path>
            </a:pathLst>
          </a:custGeom>
          <a:noFill/>
          <a:ln w="28575">
            <a:extLst>
              <a:ext uri="{C807C97D-BFC1-408E-A445-0C87EB9F89A2}">
                <ask:lineSketchStyleProps xmlns:ask="http://schemas.microsoft.com/office/drawing/2018/sketchyshapes" sd="349921161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70000"/>
              </a:lnSpc>
            </a:pPr>
            <a:r>
              <a:rPr lang="pt-BR" sz="4600" b="1" dirty="0">
                <a:solidFill>
                  <a:srgbClr val="FFFFFF"/>
                </a:solidFill>
                <a:highlight>
                  <a:srgbClr val="000000"/>
                </a:highlight>
                <a:latin typeface="Calibri"/>
                <a:ea typeface="+mj-ea"/>
                <a:cs typeface="Calibri"/>
              </a:rPr>
              <a:t>Gerência de  Memória</a:t>
            </a:r>
            <a:endParaRPr lang="en-US" sz="4600" b="1" dirty="0">
              <a:solidFill>
                <a:srgbClr val="FFFFFF"/>
              </a:solidFill>
              <a:highlight>
                <a:srgbClr val="000000"/>
              </a:highlight>
              <a:latin typeface="Calibri"/>
              <a:ea typeface="+mj-ea"/>
              <a:cs typeface="Calibri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819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Introdução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302590"/>
            <a:ext cx="11987840" cy="50875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Introdução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Historicamente, a memória principal sempre foi um recurso escasso e caro;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Multiprogramação implica em manter-se vários processos em memória;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Alocação eficiente x Mais processos na memória;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Um sistema de memória possui pelo menos dois níveis: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6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Memória principal: acessada pela CPU;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6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Memória secundária: discos;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60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Programas são armazenados em disco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6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Para executar precisa de transferência para a  memória primária;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60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Qualquer sistema operacional tem gerência de memória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600"/>
              </a:spcBef>
              <a:buFont typeface="Arial"/>
              <a:buChar char="•"/>
            </a:pPr>
            <a:r>
              <a:rPr lang="pt-BR" sz="2100" dirty="0" err="1">
                <a:ea typeface="+mn-lt"/>
                <a:cs typeface="+mn-lt"/>
              </a:rPr>
              <a:t>Monotarefa</a:t>
            </a:r>
            <a:r>
              <a:rPr lang="pt-BR" sz="2100" dirty="0">
                <a:ea typeface="+mn-lt"/>
                <a:cs typeface="+mn-lt"/>
              </a:rPr>
              <a:t>: gerência é simples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6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Multitarefa: complexa.</a:t>
            </a:r>
            <a:endParaRPr lang="pt-BR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163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Funções Básicas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61382"/>
            <a:ext cx="11987840" cy="41637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Funções básicas da gerência de memória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160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Manter na memória principal o maior número de </a:t>
            </a:r>
            <a:r>
              <a:rPr lang="pt-BR" sz="2100" i="1" dirty="0">
                <a:ea typeface="+mn-lt"/>
                <a:cs typeface="+mn-lt"/>
              </a:rPr>
              <a:t>processos residentes</a:t>
            </a:r>
            <a:r>
              <a:rPr lang="pt-BR" sz="2100" dirty="0">
                <a:ea typeface="+mn-lt"/>
                <a:cs typeface="+mn-lt"/>
              </a:rPr>
              <a:t>; 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Permitindo maximizar o compartilhamento do processador e demais recursos computacionais;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Permitir que novos processos sejam executados, mesmo na ausência de espaço livre, o sistema deve;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Possível através da transferência temporária de processos da memória principal para a memória secundária (</a:t>
            </a:r>
            <a:r>
              <a:rPr lang="pt-BR" sz="2100" b="1" i="1" dirty="0">
                <a:ea typeface="+mn-lt"/>
                <a:cs typeface="+mn-lt"/>
              </a:rPr>
              <a:t>swapping</a:t>
            </a:r>
            <a:r>
              <a:rPr lang="pt-BR" sz="2100" dirty="0">
                <a:ea typeface="+mn-lt"/>
                <a:cs typeface="+mn-lt"/>
              </a:rPr>
              <a:t>);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16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Permitir a execução de programas que sejam maiores que a memória física disponível, implementada através de técnicas como </a:t>
            </a:r>
            <a:r>
              <a:rPr lang="pt-BR" sz="2100" i="1" dirty="0">
                <a:ea typeface="+mn-lt"/>
                <a:cs typeface="+mn-lt"/>
              </a:rPr>
              <a:t>memória virtual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16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Proteger as áreas de memória ocupadas por cada processo, além da área onde reside o próprio S.O.</a:t>
            </a:r>
            <a:endParaRPr lang="pt-B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3100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Mecanismos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61382"/>
            <a:ext cx="11987840" cy="32742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Mecanismos básicos de gerência de memória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160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Um programa (processo) para ser executado deve estar na memória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r>
              <a:rPr lang="pt-BR" sz="2100" b="1" dirty="0">
                <a:solidFill>
                  <a:srgbClr val="FF0000"/>
                </a:solidFill>
                <a:ea typeface="+mn-lt"/>
                <a:cs typeface="+mn-lt"/>
              </a:rPr>
              <a:t>Onde deve ser carregado?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Esse é o problema de alocação de memória;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Necessidade de gerenciamento da memória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Determinar as áreas livres e ocupadas;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4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Racionalizar a ocupação da memória.</a:t>
            </a:r>
            <a:endParaRPr lang="pt-B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644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>
                <a:cs typeface="Calibri"/>
              </a:rPr>
              <a:t>Mecanismos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61382"/>
            <a:ext cx="11987840" cy="3831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Mecanismos para </a:t>
            </a:r>
            <a:r>
              <a:rPr lang="pt-BR" sz="2100" b="1" i="1" dirty="0">
                <a:ea typeface="+mn-lt"/>
                <a:cs typeface="+mn-lt"/>
              </a:rPr>
              <a:t>alocação de memória</a:t>
            </a:r>
            <a:endParaRPr lang="en-US" sz="2100" b="1" i="1" dirty="0">
              <a:ea typeface="+mn-lt"/>
              <a:cs typeface="+mn-lt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A78A31AC-B573-4C89-BA68-5304D5F32396}"/>
              </a:ext>
            </a:extLst>
          </p:cNvPr>
          <p:cNvGrpSpPr/>
          <p:nvPr/>
        </p:nvGrpSpPr>
        <p:grpSpPr>
          <a:xfrm>
            <a:off x="1288483" y="2218514"/>
            <a:ext cx="9456846" cy="4212256"/>
            <a:chOff x="986558" y="1772816"/>
            <a:chExt cx="9456846" cy="4212256"/>
          </a:xfrm>
        </p:grpSpPr>
        <p:sp>
          <p:nvSpPr>
            <p:cNvPr id="7" name="AutoShape 11">
              <a:extLst>
                <a:ext uri="{FF2B5EF4-FFF2-40B4-BE49-F238E27FC236}">
                  <a16:creationId xmlns:a16="http://schemas.microsoft.com/office/drawing/2014/main" id="{6FE6745F-7FEF-465D-8FEF-ECD9BAA0D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616" y="1916832"/>
              <a:ext cx="468000" cy="3816000"/>
            </a:xfrm>
            <a:prstGeom prst="leftBrace">
              <a:avLst>
                <a:gd name="adj1" fmla="val 108058"/>
                <a:gd name="adj2" fmla="val 51356"/>
              </a:avLst>
            </a:prstGeom>
            <a:solidFill>
              <a:schemeClr val="bg1"/>
            </a:solidFill>
            <a:ln w="19050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8" name="AutoShape 11">
              <a:extLst>
                <a:ext uri="{FF2B5EF4-FFF2-40B4-BE49-F238E27FC236}">
                  <a16:creationId xmlns:a16="http://schemas.microsoft.com/office/drawing/2014/main" id="{8A3014B1-520E-401A-9C0B-1002819F6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888" y="1772816"/>
              <a:ext cx="288000" cy="1908000"/>
            </a:xfrm>
            <a:prstGeom prst="leftBrace">
              <a:avLst>
                <a:gd name="adj1" fmla="val 108058"/>
                <a:gd name="adj2" fmla="val 51356"/>
              </a:avLst>
            </a:prstGeom>
            <a:solidFill>
              <a:schemeClr val="bg1"/>
            </a:solidFill>
            <a:ln w="19050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9" name="AutoShape 11">
              <a:extLst>
                <a:ext uri="{FF2B5EF4-FFF2-40B4-BE49-F238E27FC236}">
                  <a16:creationId xmlns:a16="http://schemas.microsoft.com/office/drawing/2014/main" id="{494AC41B-933D-43CE-A40E-0EE338033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8071" y="2435986"/>
              <a:ext cx="216000" cy="1188000"/>
            </a:xfrm>
            <a:prstGeom prst="leftBrace">
              <a:avLst>
                <a:gd name="adj1" fmla="val 108058"/>
                <a:gd name="adj2" fmla="val 51356"/>
              </a:avLst>
            </a:prstGeom>
            <a:solidFill>
              <a:schemeClr val="bg1"/>
            </a:solidFill>
            <a:ln w="19050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0" name="CaixaDeTexto 4">
              <a:extLst>
                <a:ext uri="{FF2B5EF4-FFF2-40B4-BE49-F238E27FC236}">
                  <a16:creationId xmlns:a16="http://schemas.microsoft.com/office/drawing/2014/main" id="{21C9A8AC-A22C-42CB-B998-07EA70B5839E}"/>
                </a:ext>
              </a:extLst>
            </p:cNvPr>
            <p:cNvSpPr txBox="1"/>
            <p:nvPr/>
          </p:nvSpPr>
          <p:spPr>
            <a:xfrm>
              <a:off x="986558" y="3523074"/>
              <a:ext cx="1604157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000" dirty="0">
                  <a:latin typeface="Calibri"/>
                  <a:cs typeface="Calibri"/>
                </a:rPr>
                <a:t>Alocação</a:t>
              </a:r>
            </a:p>
          </p:txBody>
        </p:sp>
        <p:sp>
          <p:nvSpPr>
            <p:cNvPr id="11" name="CaixaDeTexto 5">
              <a:extLst>
                <a:ext uri="{FF2B5EF4-FFF2-40B4-BE49-F238E27FC236}">
                  <a16:creationId xmlns:a16="http://schemas.microsoft.com/office/drawing/2014/main" id="{F4B2EA8D-764F-4369-AAC6-E9B92956BF25}"/>
                </a:ext>
              </a:extLst>
            </p:cNvPr>
            <p:cNvSpPr txBox="1"/>
            <p:nvPr/>
          </p:nvSpPr>
          <p:spPr>
            <a:xfrm>
              <a:off x="3126283" y="2492896"/>
              <a:ext cx="1590820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000" dirty="0">
                  <a:latin typeface="Calibri"/>
                  <a:cs typeface="Calibri"/>
                </a:rPr>
                <a:t>Contígua</a:t>
              </a:r>
            </a:p>
          </p:txBody>
        </p:sp>
        <p:sp>
          <p:nvSpPr>
            <p:cNvPr id="12" name="CaixaDeTexto 6">
              <a:extLst>
                <a:ext uri="{FF2B5EF4-FFF2-40B4-BE49-F238E27FC236}">
                  <a16:creationId xmlns:a16="http://schemas.microsoft.com/office/drawing/2014/main" id="{18A1A333-4308-4081-ADCC-BDBA0A1AE22C}"/>
                </a:ext>
              </a:extLst>
            </p:cNvPr>
            <p:cNvSpPr txBox="1"/>
            <p:nvPr/>
          </p:nvSpPr>
          <p:spPr>
            <a:xfrm>
              <a:off x="3071664" y="4689057"/>
              <a:ext cx="2297745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000" dirty="0">
                  <a:latin typeface="Calibri"/>
                  <a:cs typeface="Calibri"/>
                </a:rPr>
                <a:t>Não Contígua</a:t>
              </a:r>
            </a:p>
          </p:txBody>
        </p:sp>
        <p:sp>
          <p:nvSpPr>
            <p:cNvPr id="13" name="AutoShape 11">
              <a:extLst>
                <a:ext uri="{FF2B5EF4-FFF2-40B4-BE49-F238E27FC236}">
                  <a16:creationId xmlns:a16="http://schemas.microsoft.com/office/drawing/2014/main" id="{4C5EAE62-FF2F-40E9-A6A9-4BD4BFB15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888" y="4077072"/>
              <a:ext cx="288000" cy="1908000"/>
            </a:xfrm>
            <a:prstGeom prst="leftBrace">
              <a:avLst>
                <a:gd name="adj1" fmla="val 108058"/>
                <a:gd name="adj2" fmla="val 51356"/>
              </a:avLst>
            </a:prstGeom>
            <a:solidFill>
              <a:schemeClr val="bg1"/>
            </a:solidFill>
            <a:ln w="19050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4" name="CaixaDeTexto 8">
              <a:extLst>
                <a:ext uri="{FF2B5EF4-FFF2-40B4-BE49-F238E27FC236}">
                  <a16:creationId xmlns:a16="http://schemas.microsoft.com/office/drawing/2014/main" id="{1F22C275-E840-4D4F-838E-DF2C8524A118}"/>
                </a:ext>
              </a:extLst>
            </p:cNvPr>
            <p:cNvSpPr txBox="1"/>
            <p:nvPr/>
          </p:nvSpPr>
          <p:spPr>
            <a:xfrm>
              <a:off x="5629024" y="2172818"/>
              <a:ext cx="1433790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000" dirty="0">
                  <a:latin typeface="Calibri"/>
                  <a:cs typeface="Calibri"/>
                </a:rPr>
                <a:t>Simples</a:t>
              </a:r>
            </a:p>
          </p:txBody>
        </p:sp>
        <p:sp>
          <p:nvSpPr>
            <p:cNvPr id="15" name="CaixaDeTexto 9">
              <a:extLst>
                <a:ext uri="{FF2B5EF4-FFF2-40B4-BE49-F238E27FC236}">
                  <a16:creationId xmlns:a16="http://schemas.microsoft.com/office/drawing/2014/main" id="{7A4E19CD-6639-41F7-88E1-F7F98A3ED3C8}"/>
                </a:ext>
              </a:extLst>
            </p:cNvPr>
            <p:cNvSpPr txBox="1"/>
            <p:nvPr/>
          </p:nvSpPr>
          <p:spPr>
            <a:xfrm>
              <a:off x="5631189" y="2752987"/>
              <a:ext cx="2136867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000" dirty="0">
                  <a:latin typeface="Calibri"/>
                  <a:cs typeface="Calibri"/>
                </a:rPr>
                <a:t>Particionada</a:t>
              </a:r>
            </a:p>
          </p:txBody>
        </p:sp>
        <p:sp>
          <p:nvSpPr>
            <p:cNvPr id="16" name="CaixaDeTexto 10">
              <a:extLst>
                <a:ext uri="{FF2B5EF4-FFF2-40B4-BE49-F238E27FC236}">
                  <a16:creationId xmlns:a16="http://schemas.microsoft.com/office/drawing/2014/main" id="{D0E391CF-2BB6-4AB4-AC8D-C34319E7A145}"/>
                </a:ext>
              </a:extLst>
            </p:cNvPr>
            <p:cNvSpPr txBox="1"/>
            <p:nvPr/>
          </p:nvSpPr>
          <p:spPr>
            <a:xfrm>
              <a:off x="8054827" y="2360909"/>
              <a:ext cx="1382366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000" dirty="0">
                  <a:latin typeface="Calibri"/>
                  <a:cs typeface="Calibri"/>
                </a:rPr>
                <a:t>Estática</a:t>
              </a:r>
            </a:p>
          </p:txBody>
        </p:sp>
        <p:sp>
          <p:nvSpPr>
            <p:cNvPr id="17" name="CaixaDeTexto 11">
              <a:extLst>
                <a:ext uri="{FF2B5EF4-FFF2-40B4-BE49-F238E27FC236}">
                  <a16:creationId xmlns:a16="http://schemas.microsoft.com/office/drawing/2014/main" id="{EC3026BB-A489-458A-B7B3-809264C6EB78}"/>
                </a:ext>
              </a:extLst>
            </p:cNvPr>
            <p:cNvSpPr txBox="1"/>
            <p:nvPr/>
          </p:nvSpPr>
          <p:spPr>
            <a:xfrm>
              <a:off x="8054827" y="2976084"/>
              <a:ext cx="1646285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000" dirty="0">
                  <a:latin typeface="Calibri"/>
                  <a:cs typeface="Calibri"/>
                </a:rPr>
                <a:t>Dinâmica</a:t>
              </a:r>
            </a:p>
          </p:txBody>
        </p:sp>
        <p:sp>
          <p:nvSpPr>
            <p:cNvPr id="18" name="CaixaDeTexto 12">
              <a:extLst>
                <a:ext uri="{FF2B5EF4-FFF2-40B4-BE49-F238E27FC236}">
                  <a16:creationId xmlns:a16="http://schemas.microsoft.com/office/drawing/2014/main" id="{44EEE4A0-BEB3-47EE-A285-82DCF781477C}"/>
                </a:ext>
              </a:extLst>
            </p:cNvPr>
            <p:cNvSpPr txBox="1"/>
            <p:nvPr/>
          </p:nvSpPr>
          <p:spPr>
            <a:xfrm>
              <a:off x="5681896" y="4171146"/>
              <a:ext cx="1820050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000" dirty="0">
                  <a:latin typeface="Calibri"/>
                  <a:cs typeface="Calibri"/>
                </a:rPr>
                <a:t>Paginação</a:t>
              </a:r>
            </a:p>
          </p:txBody>
        </p:sp>
        <p:sp>
          <p:nvSpPr>
            <p:cNvPr id="19" name="CaixaDeTexto 13">
              <a:extLst>
                <a:ext uri="{FF2B5EF4-FFF2-40B4-BE49-F238E27FC236}">
                  <a16:creationId xmlns:a16="http://schemas.microsoft.com/office/drawing/2014/main" id="{77A23F4D-3FC6-4D97-BA16-16FB7E537609}"/>
                </a:ext>
              </a:extLst>
            </p:cNvPr>
            <p:cNvSpPr txBox="1"/>
            <p:nvPr/>
          </p:nvSpPr>
          <p:spPr>
            <a:xfrm>
              <a:off x="5681896" y="4801988"/>
              <a:ext cx="2359620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000" dirty="0">
                  <a:latin typeface="Calibri"/>
                  <a:cs typeface="Calibri"/>
                </a:rPr>
                <a:t>Segmentação</a:t>
              </a:r>
            </a:p>
          </p:txBody>
        </p:sp>
        <p:sp>
          <p:nvSpPr>
            <p:cNvPr id="20" name="CaixaDeTexto 14">
              <a:extLst>
                <a:ext uri="{FF2B5EF4-FFF2-40B4-BE49-F238E27FC236}">
                  <a16:creationId xmlns:a16="http://schemas.microsoft.com/office/drawing/2014/main" id="{502D39C1-A375-4E37-8D0F-B4D220B55891}"/>
                </a:ext>
              </a:extLst>
            </p:cNvPr>
            <p:cNvSpPr txBox="1"/>
            <p:nvPr/>
          </p:nvSpPr>
          <p:spPr>
            <a:xfrm>
              <a:off x="5631189" y="5414473"/>
              <a:ext cx="4812215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000" dirty="0">
                  <a:latin typeface="Calibri"/>
                  <a:cs typeface="Calibri"/>
                </a:rPr>
                <a:t>Segmentação com paginação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828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Contígua Simples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475118"/>
            <a:ext cx="11987840" cy="493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Foi implementada nos primeiros sistemas operacionais; 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Ainda está presente em alguns sistemas </a:t>
            </a:r>
            <a:r>
              <a:rPr lang="pt-BR" sz="2100" dirty="0" err="1">
                <a:ea typeface="+mn-lt"/>
                <a:cs typeface="+mn-lt"/>
              </a:rPr>
              <a:t>monoprogramáveis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Funcionamento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memória principal é subdividida em duas áreas/partições: 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Para o sistema operacional;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Programa/processo do usuário;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programador deve desenvolver suas aplicações preocupado, apenas, em não ultrapassar o espaço de memória disponível; 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usuário tem controle total sobre a memória principal, inclusive a área do S.O, 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Vantagens x Desvantagens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Fácil implementação;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Não permite a utilização eficiente da memória - apenas um usuário;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Quando o programa não preencher totalmente  a memória existirá um espaço livre sem utilização.</a:t>
            </a:r>
            <a:endParaRPr lang="pt-B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0129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Contígua Simples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647646"/>
            <a:ext cx="11987840" cy="3831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Subutilização da memória principal</a:t>
            </a:r>
            <a:endParaRPr lang="pt-BR" sz="2100" dirty="0">
              <a:ea typeface="+mn-lt"/>
              <a:cs typeface="+mn-lt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F10CF56-1FCE-4BA4-95E5-08738DC9A394}"/>
              </a:ext>
            </a:extLst>
          </p:cNvPr>
          <p:cNvGrpSpPr/>
          <p:nvPr/>
        </p:nvGrpSpPr>
        <p:grpSpPr>
          <a:xfrm>
            <a:off x="3359456" y="2231561"/>
            <a:ext cx="3739853" cy="4115824"/>
            <a:chOff x="3287569" y="1598957"/>
            <a:chExt cx="3739853" cy="4115824"/>
          </a:xfrm>
        </p:grpSpPr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B0CFE789-6EE9-4B66-B633-49BD600636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599" y="1598957"/>
              <a:ext cx="1976823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latin typeface="+mj-lt"/>
                </a:rPr>
                <a:t>Memória Principal</a:t>
              </a:r>
            </a:p>
          </p:txBody>
        </p: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2858F35D-A0A8-4B74-BA75-CB76597A2FA3}"/>
                </a:ext>
              </a:extLst>
            </p:cNvPr>
            <p:cNvGrpSpPr/>
            <p:nvPr/>
          </p:nvGrpSpPr>
          <p:grpSpPr>
            <a:xfrm>
              <a:off x="5178261" y="2134147"/>
              <a:ext cx="1654175" cy="3580634"/>
              <a:chOff x="5178261" y="2134146"/>
              <a:chExt cx="1654175" cy="2371725"/>
            </a:xfrm>
          </p:grpSpPr>
          <p:sp>
            <p:nvSpPr>
              <p:cNvPr id="11" name="Rectangle 4">
                <a:extLst>
                  <a:ext uri="{FF2B5EF4-FFF2-40B4-BE49-F238E27FC236}">
                    <a16:creationId xmlns:a16="http://schemas.microsoft.com/office/drawing/2014/main" id="{CD1F38D6-7F33-4877-ACB8-55889DB4B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8261" y="2933069"/>
                <a:ext cx="1654175" cy="120032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dirty="0"/>
              </a:p>
              <a:p>
                <a:pPr algn="ctr"/>
                <a:r>
                  <a:rPr lang="pt-BR" dirty="0"/>
                  <a:t>Programa do Usuário</a:t>
                </a:r>
              </a:p>
              <a:p>
                <a:pPr algn="ctr"/>
                <a:endParaRPr lang="pt-BR" dirty="0"/>
              </a:p>
            </p:txBody>
          </p:sp>
          <p:sp>
            <p:nvSpPr>
              <p:cNvPr id="12" name="Rectangle 5">
                <a:extLst>
                  <a:ext uri="{FF2B5EF4-FFF2-40B4-BE49-F238E27FC236}">
                    <a16:creationId xmlns:a16="http://schemas.microsoft.com/office/drawing/2014/main" id="{676FED1C-F775-4301-8216-4B52CE1DD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8261" y="4136539"/>
                <a:ext cx="1654175" cy="36933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pt-BR"/>
                  <a:t>SO</a:t>
                </a:r>
              </a:p>
            </p:txBody>
          </p:sp>
          <p:sp>
            <p:nvSpPr>
              <p:cNvPr id="13" name="Rectangle 10">
                <a:extLst>
                  <a:ext uri="{FF2B5EF4-FFF2-40B4-BE49-F238E27FC236}">
                    <a16:creationId xmlns:a16="http://schemas.microsoft.com/office/drawing/2014/main" id="{B362377E-9FF5-458D-BA27-929374915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8261" y="2134146"/>
                <a:ext cx="1654175" cy="92333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pt-BR" dirty="0"/>
              </a:p>
              <a:p>
                <a:pPr algn="ctr">
                  <a:defRPr/>
                </a:pPr>
                <a:r>
                  <a:rPr lang="pt-BR" dirty="0"/>
                  <a:t>Área Livre</a:t>
                </a:r>
              </a:p>
              <a:p>
                <a:pPr algn="ctr">
                  <a:defRPr/>
                </a:pPr>
                <a:endParaRPr lang="pt-BR" dirty="0"/>
              </a:p>
            </p:txBody>
          </p:sp>
        </p:grpSp>
        <p:sp>
          <p:nvSpPr>
            <p:cNvPr id="9" name="AutoShape 11">
              <a:extLst>
                <a:ext uri="{FF2B5EF4-FFF2-40B4-BE49-F238E27FC236}">
                  <a16:creationId xmlns:a16="http://schemas.microsoft.com/office/drawing/2014/main" id="{5C26D310-90E6-449B-9A90-DB87C12ED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2919" y="2133008"/>
              <a:ext cx="324000" cy="1368000"/>
            </a:xfrm>
            <a:prstGeom prst="leftBrace">
              <a:avLst>
                <a:gd name="adj1" fmla="val 108058"/>
                <a:gd name="adj2" fmla="val 51356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8BC023ED-96DB-4A54-8F04-EFC775AA1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7569" y="2493842"/>
              <a:ext cx="1657350" cy="6463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/>
                <a:t>Memória subutilizada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7755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187571"/>
            <a:ext cx="11987840" cy="56692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Existência de múltiplas partições;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Imposta pela multiprogramação;</a:t>
            </a:r>
            <a:endParaRPr lang="en-US" sz="210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pt-BR" sz="2100" b="1" dirty="0">
                <a:ea typeface="+mn-lt"/>
                <a:cs typeface="+mn-lt"/>
              </a:rPr>
              <a:t> Objetivo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Dividir a memória em partições (blocos);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Cada partição pode receber um processo (programa);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Grau de multiprogramação é fornecido pelo número de partições;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O S.O é responsável pelo controle das partições mantendo informações como: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Partições alocadas;</a:t>
            </a:r>
            <a:endParaRPr lang="en-US" sz="210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Partições livres;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Tamanho das partições.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Dois métodos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Alocação contígua com partições fixa (estática);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pt-BR" sz="2100" dirty="0">
                <a:ea typeface="+mn-lt"/>
                <a:cs typeface="+mn-lt"/>
              </a:rPr>
              <a:t>Alocação contígua com partições variáveis (dinâmica).</a:t>
            </a:r>
            <a:endParaRPr lang="pt-B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68246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1387326" y="1628194"/>
            <a:ext cx="9409881" cy="4680520"/>
            <a:chOff x="1272307" y="1268760"/>
            <a:chExt cx="9409881" cy="4680520"/>
          </a:xfrm>
        </p:grpSpPr>
        <p:sp>
          <p:nvSpPr>
            <p:cNvPr id="118790" name="Text Box 6"/>
            <p:cNvSpPr txBox="1">
              <a:spLocks noChangeArrowheads="1"/>
            </p:cNvSpPr>
            <p:nvPr/>
          </p:nvSpPr>
          <p:spPr bwMode="auto">
            <a:xfrm>
              <a:off x="7752184" y="1385066"/>
              <a:ext cx="2278188" cy="4154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100" b="1" dirty="0">
                  <a:latin typeface="Calibri"/>
                  <a:cs typeface="Calibri"/>
                </a:rPr>
                <a:t>Memória Principal</a:t>
              </a:r>
            </a:p>
          </p:txBody>
        </p:sp>
        <p:grpSp>
          <p:nvGrpSpPr>
            <p:cNvPr id="7" name="Agrupar 6"/>
            <p:cNvGrpSpPr/>
            <p:nvPr/>
          </p:nvGrpSpPr>
          <p:grpSpPr>
            <a:xfrm>
              <a:off x="7890594" y="1859602"/>
              <a:ext cx="2791594" cy="4089678"/>
              <a:chOff x="8260350" y="1859602"/>
              <a:chExt cx="2421838" cy="3109460"/>
            </a:xfrm>
          </p:grpSpPr>
          <p:sp>
            <p:nvSpPr>
              <p:cNvPr id="118788" name="Rectangle 4"/>
              <p:cNvSpPr>
                <a:spLocks noChangeArrowheads="1"/>
              </p:cNvSpPr>
              <p:nvPr/>
            </p:nvSpPr>
            <p:spPr bwMode="auto">
              <a:xfrm>
                <a:off x="8260350" y="4215555"/>
                <a:ext cx="1654175" cy="36933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pt-BR"/>
                  <a:t>Partição 1</a:t>
                </a:r>
              </a:p>
            </p:txBody>
          </p:sp>
          <p:sp>
            <p:nvSpPr>
              <p:cNvPr id="118789" name="Rectangle 5"/>
              <p:cNvSpPr>
                <a:spLocks noChangeArrowheads="1"/>
              </p:cNvSpPr>
              <p:nvPr/>
            </p:nvSpPr>
            <p:spPr bwMode="auto">
              <a:xfrm>
                <a:off x="8260350" y="4599730"/>
                <a:ext cx="1654175" cy="36933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pt-BR" dirty="0"/>
                  <a:t>SO</a:t>
                </a:r>
              </a:p>
            </p:txBody>
          </p:sp>
          <p:sp>
            <p:nvSpPr>
              <p:cNvPr id="118791" name="Rectangle 10"/>
              <p:cNvSpPr>
                <a:spLocks noChangeArrowheads="1"/>
              </p:cNvSpPr>
              <p:nvPr/>
            </p:nvSpPr>
            <p:spPr bwMode="auto">
              <a:xfrm>
                <a:off x="8260350" y="3294954"/>
                <a:ext cx="1654175" cy="92333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ctr"/>
                <a:endParaRPr lang="pt-BR"/>
              </a:p>
              <a:p>
                <a:pPr algn="ctr"/>
                <a:r>
                  <a:rPr lang="pt-BR" dirty="0"/>
                  <a:t>Partição 2</a:t>
                </a:r>
              </a:p>
              <a:p>
                <a:pPr algn="ctr"/>
                <a:endParaRPr lang="pt-BR"/>
              </a:p>
            </p:txBody>
          </p:sp>
          <p:sp>
            <p:nvSpPr>
              <p:cNvPr id="118792" name="Rectangle 11"/>
              <p:cNvSpPr>
                <a:spLocks noChangeArrowheads="1"/>
              </p:cNvSpPr>
              <p:nvPr/>
            </p:nvSpPr>
            <p:spPr bwMode="auto">
              <a:xfrm>
                <a:off x="8260350" y="1859602"/>
                <a:ext cx="1654175" cy="147732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endParaRPr lang="pt-BR" dirty="0"/>
              </a:p>
              <a:p>
                <a:pPr algn="ctr"/>
                <a:endParaRPr lang="pt-BR" dirty="0"/>
              </a:p>
              <a:p>
                <a:pPr algn="ctr"/>
                <a:r>
                  <a:rPr lang="pt-BR" dirty="0"/>
                  <a:t>Partição 3</a:t>
                </a:r>
              </a:p>
              <a:p>
                <a:pPr algn="ctr"/>
                <a:endParaRPr lang="pt-BR" dirty="0"/>
              </a:p>
              <a:p>
                <a:pPr algn="ctr"/>
                <a:endParaRPr lang="pt-BR" dirty="0"/>
              </a:p>
            </p:txBody>
          </p:sp>
          <p:sp>
            <p:nvSpPr>
              <p:cNvPr id="118793" name="Text Box 12"/>
              <p:cNvSpPr txBox="1">
                <a:spLocks noChangeArrowheads="1"/>
              </p:cNvSpPr>
              <p:nvPr/>
            </p:nvSpPr>
            <p:spPr bwMode="auto">
              <a:xfrm>
                <a:off x="9965325" y="2496307"/>
                <a:ext cx="716863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11 KB</a:t>
                </a:r>
              </a:p>
            </p:txBody>
          </p:sp>
          <p:sp>
            <p:nvSpPr>
              <p:cNvPr id="118794" name="Text Box 13"/>
              <p:cNvSpPr txBox="1">
                <a:spLocks noChangeArrowheads="1"/>
              </p:cNvSpPr>
              <p:nvPr/>
            </p:nvSpPr>
            <p:spPr bwMode="auto">
              <a:xfrm>
                <a:off x="10028822" y="3627759"/>
                <a:ext cx="599844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5 KB</a:t>
                </a:r>
              </a:p>
            </p:txBody>
          </p:sp>
          <p:sp>
            <p:nvSpPr>
              <p:cNvPr id="118795" name="Text Box 14"/>
              <p:cNvSpPr txBox="1">
                <a:spLocks noChangeArrowheads="1"/>
              </p:cNvSpPr>
              <p:nvPr/>
            </p:nvSpPr>
            <p:spPr bwMode="auto">
              <a:xfrm>
                <a:off x="10028822" y="4275459"/>
                <a:ext cx="599844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2 KB</a:t>
                </a:r>
              </a:p>
            </p:txBody>
          </p:sp>
        </p:grpSp>
        <p:grpSp>
          <p:nvGrpSpPr>
            <p:cNvPr id="2" name="Group 19"/>
            <p:cNvGrpSpPr>
              <a:grpSpLocks/>
            </p:cNvGrpSpPr>
            <p:nvPr/>
          </p:nvGrpSpPr>
          <p:grpSpPr bwMode="auto">
            <a:xfrm>
              <a:off x="2482373" y="4274637"/>
              <a:ext cx="1103699" cy="819149"/>
              <a:chOff x="543" y="3017"/>
              <a:chExt cx="326" cy="516"/>
            </a:xfrm>
          </p:grpSpPr>
          <p:sp>
            <p:nvSpPr>
              <p:cNvPr id="118827" name="Oval 15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164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18828" name="Text Box 16"/>
              <p:cNvSpPr txBox="1">
                <a:spLocks noChangeArrowheads="1"/>
              </p:cNvSpPr>
              <p:nvPr/>
            </p:nvSpPr>
            <p:spPr bwMode="auto">
              <a:xfrm>
                <a:off x="581" y="3063"/>
                <a:ext cx="98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b="1" dirty="0"/>
                  <a:t>D</a:t>
                </a:r>
              </a:p>
            </p:txBody>
          </p:sp>
          <p:sp>
            <p:nvSpPr>
              <p:cNvPr id="118829" name="Text Box 17"/>
              <p:cNvSpPr txBox="1">
                <a:spLocks noChangeArrowheads="1"/>
              </p:cNvSpPr>
              <p:nvPr/>
            </p:nvSpPr>
            <p:spPr bwMode="auto">
              <a:xfrm>
                <a:off x="550" y="3339"/>
                <a:ext cx="319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dirty="0"/>
                  <a:t>6 KB</a:t>
                </a:r>
              </a:p>
            </p:txBody>
          </p:sp>
        </p:grpSp>
        <p:grpSp>
          <p:nvGrpSpPr>
            <p:cNvPr id="3" name="Group 20"/>
            <p:cNvGrpSpPr>
              <a:grpSpLocks/>
            </p:cNvGrpSpPr>
            <p:nvPr/>
          </p:nvGrpSpPr>
          <p:grpSpPr bwMode="auto">
            <a:xfrm>
              <a:off x="4865213" y="4305080"/>
              <a:ext cx="1086771" cy="819149"/>
              <a:chOff x="543" y="3017"/>
              <a:chExt cx="321" cy="516"/>
            </a:xfrm>
          </p:grpSpPr>
          <p:sp>
            <p:nvSpPr>
              <p:cNvPr id="118824" name="Oval 21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164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18825" name="Text Box 22"/>
              <p:cNvSpPr txBox="1">
                <a:spLocks noChangeArrowheads="1"/>
              </p:cNvSpPr>
              <p:nvPr/>
            </p:nvSpPr>
            <p:spPr bwMode="auto">
              <a:xfrm>
                <a:off x="574" y="3063"/>
                <a:ext cx="96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b="1" dirty="0"/>
                  <a:t>A</a:t>
                </a:r>
              </a:p>
            </p:txBody>
          </p:sp>
          <p:sp>
            <p:nvSpPr>
              <p:cNvPr id="118826" name="Text Box 23"/>
              <p:cNvSpPr txBox="1">
                <a:spLocks noChangeArrowheads="1"/>
              </p:cNvSpPr>
              <p:nvPr/>
            </p:nvSpPr>
            <p:spPr bwMode="auto">
              <a:xfrm>
                <a:off x="545" y="3339"/>
                <a:ext cx="319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dirty="0"/>
                  <a:t>2 KB</a:t>
                </a:r>
              </a:p>
            </p:txBody>
          </p:sp>
        </p:grpSp>
        <p:grpSp>
          <p:nvGrpSpPr>
            <p:cNvPr id="4" name="Group 24"/>
            <p:cNvGrpSpPr>
              <a:grpSpLocks/>
            </p:cNvGrpSpPr>
            <p:nvPr/>
          </p:nvGrpSpPr>
          <p:grpSpPr bwMode="auto">
            <a:xfrm>
              <a:off x="4075162" y="4307974"/>
              <a:ext cx="1080000" cy="819149"/>
              <a:chOff x="542" y="3017"/>
              <a:chExt cx="319" cy="516"/>
            </a:xfrm>
          </p:grpSpPr>
          <p:sp>
            <p:nvSpPr>
              <p:cNvPr id="118821" name="Oval 25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164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18822" name="Text Box 26"/>
              <p:cNvSpPr txBox="1">
                <a:spLocks noChangeArrowheads="1"/>
              </p:cNvSpPr>
              <p:nvPr/>
            </p:nvSpPr>
            <p:spPr bwMode="auto">
              <a:xfrm>
                <a:off x="581" y="3063"/>
                <a:ext cx="93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b="1" dirty="0"/>
                  <a:t>B</a:t>
                </a:r>
              </a:p>
            </p:txBody>
          </p:sp>
          <p:sp>
            <p:nvSpPr>
              <p:cNvPr id="118823" name="Text Box 27"/>
              <p:cNvSpPr txBox="1">
                <a:spLocks noChangeArrowheads="1"/>
              </p:cNvSpPr>
              <p:nvPr/>
            </p:nvSpPr>
            <p:spPr bwMode="auto">
              <a:xfrm>
                <a:off x="542" y="3339"/>
                <a:ext cx="319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dirty="0"/>
                  <a:t>4 KB</a:t>
                </a:r>
              </a:p>
            </p:txBody>
          </p:sp>
        </p:grpSp>
        <p:grpSp>
          <p:nvGrpSpPr>
            <p:cNvPr id="5" name="Group 28"/>
            <p:cNvGrpSpPr>
              <a:grpSpLocks/>
            </p:cNvGrpSpPr>
            <p:nvPr/>
          </p:nvGrpSpPr>
          <p:grpSpPr bwMode="auto">
            <a:xfrm>
              <a:off x="3270732" y="4274637"/>
              <a:ext cx="1080000" cy="819149"/>
              <a:chOff x="540" y="3017"/>
              <a:chExt cx="319" cy="516"/>
            </a:xfrm>
          </p:grpSpPr>
          <p:sp>
            <p:nvSpPr>
              <p:cNvPr id="118818" name="Oval 29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164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18819" name="Text Box 30"/>
              <p:cNvSpPr txBox="1">
                <a:spLocks noChangeArrowheads="1"/>
              </p:cNvSpPr>
              <p:nvPr/>
            </p:nvSpPr>
            <p:spPr bwMode="auto">
              <a:xfrm>
                <a:off x="581" y="3063"/>
                <a:ext cx="91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b="1" dirty="0"/>
                  <a:t>C</a:t>
                </a:r>
              </a:p>
            </p:txBody>
          </p:sp>
          <p:sp>
            <p:nvSpPr>
              <p:cNvPr id="118820" name="Text Box 31"/>
              <p:cNvSpPr txBox="1">
                <a:spLocks noChangeArrowheads="1"/>
              </p:cNvSpPr>
              <p:nvPr/>
            </p:nvSpPr>
            <p:spPr bwMode="auto">
              <a:xfrm>
                <a:off x="540" y="3339"/>
                <a:ext cx="319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dirty="0"/>
                  <a:t>1 KB</a:t>
                </a:r>
              </a:p>
            </p:txBody>
          </p:sp>
        </p:grpSp>
        <p:grpSp>
          <p:nvGrpSpPr>
            <p:cNvPr id="6" name="Group 32"/>
            <p:cNvGrpSpPr>
              <a:grpSpLocks/>
            </p:cNvGrpSpPr>
            <p:nvPr/>
          </p:nvGrpSpPr>
          <p:grpSpPr bwMode="auto">
            <a:xfrm>
              <a:off x="1690213" y="4274637"/>
              <a:ext cx="1103699" cy="819149"/>
              <a:chOff x="543" y="3017"/>
              <a:chExt cx="326" cy="516"/>
            </a:xfrm>
          </p:grpSpPr>
          <p:sp>
            <p:nvSpPr>
              <p:cNvPr id="118815" name="Oval 33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164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18816" name="Text Box 34"/>
              <p:cNvSpPr txBox="1">
                <a:spLocks noChangeArrowheads="1"/>
              </p:cNvSpPr>
              <p:nvPr/>
            </p:nvSpPr>
            <p:spPr bwMode="auto">
              <a:xfrm>
                <a:off x="581" y="3063"/>
                <a:ext cx="88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b="1" dirty="0"/>
                  <a:t>E</a:t>
                </a:r>
              </a:p>
            </p:txBody>
          </p:sp>
          <p:sp>
            <p:nvSpPr>
              <p:cNvPr id="118817" name="Text Box 35"/>
              <p:cNvSpPr txBox="1">
                <a:spLocks noChangeArrowheads="1"/>
              </p:cNvSpPr>
              <p:nvPr/>
            </p:nvSpPr>
            <p:spPr bwMode="auto">
              <a:xfrm>
                <a:off x="550" y="3339"/>
                <a:ext cx="319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dirty="0"/>
                  <a:t>3 KB</a:t>
                </a:r>
              </a:p>
            </p:txBody>
          </p:sp>
        </p:grpSp>
        <p:sp>
          <p:nvSpPr>
            <p:cNvPr id="118801" name="Text Box 37"/>
            <p:cNvSpPr txBox="1">
              <a:spLocks noChangeArrowheads="1"/>
            </p:cNvSpPr>
            <p:nvPr/>
          </p:nvSpPr>
          <p:spPr bwMode="auto">
            <a:xfrm>
              <a:off x="2047779" y="3775070"/>
              <a:ext cx="3141245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b="1" dirty="0"/>
                <a:t>Programas a serem executados</a:t>
              </a:r>
            </a:p>
          </p:txBody>
        </p:sp>
        <p:sp>
          <p:nvSpPr>
            <p:cNvPr id="118810" name="Text Box 46"/>
            <p:cNvSpPr txBox="1">
              <a:spLocks noChangeArrowheads="1"/>
            </p:cNvSpPr>
            <p:nvPr/>
          </p:nvSpPr>
          <p:spPr bwMode="auto">
            <a:xfrm>
              <a:off x="2640729" y="1268760"/>
              <a:ext cx="2424125" cy="4154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100" b="1" dirty="0">
                  <a:latin typeface="Calibri"/>
                  <a:cs typeface="Calibri"/>
                </a:rPr>
                <a:t>Tabela de Partições</a:t>
              </a:r>
            </a:p>
          </p:txBody>
        </p:sp>
        <p:grpSp>
          <p:nvGrpSpPr>
            <p:cNvPr id="8" name="Agrupar 7"/>
            <p:cNvGrpSpPr/>
            <p:nvPr/>
          </p:nvGrpSpPr>
          <p:grpSpPr>
            <a:xfrm>
              <a:off x="1272307" y="1844824"/>
              <a:ext cx="4967288" cy="1459222"/>
              <a:chOff x="1272307" y="1821858"/>
              <a:chExt cx="4967288" cy="1459222"/>
            </a:xfrm>
          </p:grpSpPr>
          <p:sp>
            <p:nvSpPr>
              <p:cNvPr id="118802" name="Rectangle 38"/>
              <p:cNvSpPr>
                <a:spLocks noChangeArrowheads="1"/>
              </p:cNvSpPr>
              <p:nvPr/>
            </p:nvSpPr>
            <p:spPr bwMode="auto">
              <a:xfrm>
                <a:off x="1272307" y="1821858"/>
                <a:ext cx="1654175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pt-BR" b="1" dirty="0"/>
                  <a:t>Partição</a:t>
                </a:r>
              </a:p>
            </p:txBody>
          </p:sp>
          <p:sp>
            <p:nvSpPr>
              <p:cNvPr id="118803" name="Rectangle 39"/>
              <p:cNvSpPr>
                <a:spLocks noChangeArrowheads="1"/>
              </p:cNvSpPr>
              <p:nvPr/>
            </p:nvSpPr>
            <p:spPr bwMode="auto">
              <a:xfrm>
                <a:off x="2929657" y="1821858"/>
                <a:ext cx="1654175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pt-BR" b="1" dirty="0"/>
                  <a:t>Tamanho</a:t>
                </a:r>
              </a:p>
            </p:txBody>
          </p:sp>
          <p:sp>
            <p:nvSpPr>
              <p:cNvPr id="233512" name="Rectangle 40"/>
              <p:cNvSpPr>
                <a:spLocks noChangeArrowheads="1"/>
              </p:cNvSpPr>
              <p:nvPr/>
            </p:nvSpPr>
            <p:spPr bwMode="auto">
              <a:xfrm>
                <a:off x="1273895" y="2182220"/>
                <a:ext cx="165417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pt-BR" dirty="0"/>
                  <a:t>1</a:t>
                </a:r>
              </a:p>
            </p:txBody>
          </p:sp>
          <p:sp>
            <p:nvSpPr>
              <p:cNvPr id="233513" name="Rectangle 41"/>
              <p:cNvSpPr>
                <a:spLocks noChangeArrowheads="1"/>
              </p:cNvSpPr>
              <p:nvPr/>
            </p:nvSpPr>
            <p:spPr bwMode="auto">
              <a:xfrm>
                <a:off x="2917389" y="2182220"/>
                <a:ext cx="1692000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pt-BR" dirty="0"/>
                  <a:t>2 KB</a:t>
                </a:r>
              </a:p>
            </p:txBody>
          </p:sp>
          <p:sp>
            <p:nvSpPr>
              <p:cNvPr id="233514" name="Rectangle 42"/>
              <p:cNvSpPr>
                <a:spLocks noChangeArrowheads="1"/>
              </p:cNvSpPr>
              <p:nvPr/>
            </p:nvSpPr>
            <p:spPr bwMode="auto">
              <a:xfrm>
                <a:off x="1272307" y="2551385"/>
                <a:ext cx="165417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pt-BR" dirty="0"/>
                  <a:t>2</a:t>
                </a:r>
              </a:p>
            </p:txBody>
          </p:sp>
          <p:sp>
            <p:nvSpPr>
              <p:cNvPr id="233515" name="Rectangle 43"/>
              <p:cNvSpPr>
                <a:spLocks noChangeArrowheads="1"/>
              </p:cNvSpPr>
              <p:nvPr/>
            </p:nvSpPr>
            <p:spPr bwMode="auto">
              <a:xfrm>
                <a:off x="2929657" y="2551385"/>
                <a:ext cx="165417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pt-BR" dirty="0"/>
                  <a:t>5 KB</a:t>
                </a:r>
              </a:p>
            </p:txBody>
          </p:sp>
          <p:sp>
            <p:nvSpPr>
              <p:cNvPr id="233516" name="Rectangle 44"/>
              <p:cNvSpPr>
                <a:spLocks noChangeArrowheads="1"/>
              </p:cNvSpPr>
              <p:nvPr/>
            </p:nvSpPr>
            <p:spPr bwMode="auto">
              <a:xfrm>
                <a:off x="1273895" y="2911748"/>
                <a:ext cx="165417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pt-BR" dirty="0"/>
                  <a:t>3</a:t>
                </a:r>
              </a:p>
            </p:txBody>
          </p:sp>
          <p:sp>
            <p:nvSpPr>
              <p:cNvPr id="233517" name="Rectangle 45"/>
              <p:cNvSpPr>
                <a:spLocks noChangeArrowheads="1"/>
              </p:cNvSpPr>
              <p:nvPr/>
            </p:nvSpPr>
            <p:spPr bwMode="auto">
              <a:xfrm>
                <a:off x="2917389" y="2911748"/>
                <a:ext cx="1692000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pt-BR" dirty="0"/>
                  <a:t>11 KB</a:t>
                </a:r>
              </a:p>
            </p:txBody>
          </p:sp>
          <p:sp>
            <p:nvSpPr>
              <p:cNvPr id="118811" name="Rectangle 47"/>
              <p:cNvSpPr>
                <a:spLocks noChangeArrowheads="1"/>
              </p:cNvSpPr>
              <p:nvPr/>
            </p:nvSpPr>
            <p:spPr bwMode="auto">
              <a:xfrm>
                <a:off x="4583832" y="1821858"/>
                <a:ext cx="1654175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pt-BR" b="1" dirty="0"/>
                  <a:t>Livre</a:t>
                </a:r>
              </a:p>
            </p:txBody>
          </p:sp>
          <p:sp>
            <p:nvSpPr>
              <p:cNvPr id="233520" name="Rectangle 48"/>
              <p:cNvSpPr>
                <a:spLocks noChangeArrowheads="1"/>
              </p:cNvSpPr>
              <p:nvPr/>
            </p:nvSpPr>
            <p:spPr bwMode="auto">
              <a:xfrm>
                <a:off x="4585420" y="2182220"/>
                <a:ext cx="165417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pt-BR" dirty="0"/>
                  <a:t>Sim/Não</a:t>
                </a:r>
              </a:p>
            </p:txBody>
          </p:sp>
          <p:sp>
            <p:nvSpPr>
              <p:cNvPr id="233521" name="Rectangle 49"/>
              <p:cNvSpPr>
                <a:spLocks noChangeArrowheads="1"/>
              </p:cNvSpPr>
              <p:nvPr/>
            </p:nvSpPr>
            <p:spPr bwMode="auto">
              <a:xfrm>
                <a:off x="4583832" y="2551385"/>
                <a:ext cx="165417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pt-BR" dirty="0"/>
                  <a:t>Sim/Não</a:t>
                </a:r>
              </a:p>
            </p:txBody>
          </p:sp>
          <p:sp>
            <p:nvSpPr>
              <p:cNvPr id="233522" name="Rectangle 50"/>
              <p:cNvSpPr>
                <a:spLocks noChangeArrowheads="1"/>
              </p:cNvSpPr>
              <p:nvPr/>
            </p:nvSpPr>
            <p:spPr bwMode="auto">
              <a:xfrm>
                <a:off x="4585420" y="2911748"/>
                <a:ext cx="165417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pt-BR" dirty="0"/>
                  <a:t>Sim/Não</a:t>
                </a:r>
              </a:p>
            </p:txBody>
          </p:sp>
        </p:grpSp>
      </p:grpSp>
      <p:pic>
        <p:nvPicPr>
          <p:cNvPr id="10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81104E1D-4621-4E9A-81B9-E906F3BDE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49E8BF0-78BD-4DBE-AD7F-236AF5E27353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 </a:t>
            </a:r>
            <a:r>
              <a:rPr lang="pt-BR" sz="2400" i="1" dirty="0">
                <a:solidFill>
                  <a:srgbClr val="002060"/>
                </a:solidFill>
                <a:cs typeface="Calibri"/>
              </a:rPr>
              <a:t>Estática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4871DBC-CF6E-4CD0-A264-303B6D7688F8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814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 </a:t>
            </a:r>
            <a:r>
              <a:rPr lang="pt-BR" sz="2400" i="1" dirty="0">
                <a:solidFill>
                  <a:srgbClr val="002060"/>
                </a:solidFill>
                <a:cs typeface="Calibri"/>
              </a:rPr>
              <a:t>Estática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345722"/>
            <a:ext cx="11987840" cy="33255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Inicialmente, os programas só podiam ser carregados e executados em </a:t>
            </a:r>
            <a:r>
              <a:rPr lang="pt-BR" sz="2100" b="1" i="1" dirty="0">
                <a:ea typeface="+mn-lt"/>
                <a:cs typeface="+mn-lt"/>
              </a:rPr>
              <a:t>apenas</a:t>
            </a:r>
            <a:r>
              <a:rPr lang="pt-BR" sz="2100" dirty="0">
                <a:ea typeface="+mn-lt"/>
                <a:cs typeface="+mn-lt"/>
              </a:rPr>
              <a:t> uma partição específica, mesmo se outras estivessem </a:t>
            </a:r>
            <a:r>
              <a:rPr lang="pt-BR" sz="2100" b="1" i="1" dirty="0">
                <a:ea typeface="+mn-lt"/>
                <a:cs typeface="+mn-lt"/>
              </a:rPr>
              <a:t>disponíveis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Essa limitação se devia aos compiladores e montadores que geravam apenas código absoluto;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esse tipo de gerência de memória chamou-se </a:t>
            </a:r>
            <a:r>
              <a:rPr lang="pt-BR" sz="2100" b="1" i="1" dirty="0">
                <a:ea typeface="+mn-lt"/>
                <a:cs typeface="+mn-lt"/>
              </a:rPr>
              <a:t>alocação particionada estática absoluta</a:t>
            </a:r>
            <a:r>
              <a:rPr lang="pt-BR" sz="2100" i="1" dirty="0">
                <a:ea typeface="+mn-lt"/>
                <a:cs typeface="+mn-lt"/>
              </a:rPr>
              <a:t>.</a:t>
            </a:r>
            <a:r>
              <a:rPr lang="pt-BR" sz="2100" dirty="0">
                <a:ea typeface="+mn-lt"/>
                <a:cs typeface="+mn-lt"/>
              </a:rPr>
              <a:t> 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cs typeface="Calibri" panose="020F0502020204030204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pt-BR" sz="2100" dirty="0">
              <a:cs typeface="Calibri" panose="020F0502020204030204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18D659A-BD5B-46E5-8B91-F9DF25F097F1}"/>
              </a:ext>
            </a:extLst>
          </p:cNvPr>
          <p:cNvSpPr/>
          <p:nvPr/>
        </p:nvSpPr>
        <p:spPr>
          <a:xfrm>
            <a:off x="652268" y="4234980"/>
            <a:ext cx="10873208" cy="1569660"/>
          </a:xfrm>
          <a:prstGeom prst="rect">
            <a:avLst/>
          </a:prstGeom>
          <a:solidFill>
            <a:srgbClr val="ED7D31"/>
          </a:solidFill>
          <a:ln w="38100">
            <a:solidFill>
              <a:srgbClr val="002060"/>
            </a:solidFill>
            <a:prstDash val="sysDash"/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accent6">
                  <a:lumMod val="75000"/>
                </a:schemeClr>
              </a:buClr>
            </a:pPr>
            <a:r>
              <a:rPr lang="pt-BR" sz="2400" b="1" dirty="0">
                <a:latin typeface="Calibri"/>
                <a:cs typeface="Calibri"/>
              </a:rPr>
              <a:t>Código absoluto</a:t>
            </a:r>
            <a:r>
              <a:rPr lang="pt-BR" sz="2400" i="1" dirty="0">
                <a:latin typeface="Calibri"/>
                <a:cs typeface="Calibri"/>
              </a:rPr>
              <a:t>: </a:t>
            </a:r>
            <a:r>
              <a:rPr lang="pt-BR" sz="2400" dirty="0">
                <a:latin typeface="Calibri"/>
                <a:cs typeface="Calibri"/>
              </a:rPr>
              <a:t>todas as referências a endereços no programa são posições físicas na memória principal; </a:t>
            </a:r>
          </a:p>
          <a:p>
            <a:pPr marL="342900" indent="-342900" algn="just"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pt-BR" sz="2400" dirty="0">
                <a:ea typeface="+mn-lt"/>
                <a:cs typeface="+mn-lt"/>
              </a:rPr>
              <a:t>O programa só poderia ser carregado a partir do endereço de memória especificado no seu próprio código;</a:t>
            </a:r>
            <a:endParaRPr lang="pt-B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0123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E9E2CADC-34FC-4E27-85DE-2489D64677C1}"/>
              </a:ext>
            </a:extLst>
          </p:cNvPr>
          <p:cNvGrpSpPr/>
          <p:nvPr/>
        </p:nvGrpSpPr>
        <p:grpSpPr>
          <a:xfrm>
            <a:off x="3649257" y="2536259"/>
            <a:ext cx="4504639" cy="3764158"/>
            <a:chOff x="3289823" y="2406863"/>
            <a:chExt cx="4504639" cy="3764158"/>
          </a:xfrm>
        </p:grpSpPr>
        <p:sp>
          <p:nvSpPr>
            <p:cNvPr id="120836" name="Rectangle 4"/>
            <p:cNvSpPr>
              <a:spLocks noChangeArrowheads="1"/>
            </p:cNvSpPr>
            <p:nvPr/>
          </p:nvSpPr>
          <p:spPr bwMode="auto">
            <a:xfrm>
              <a:off x="5372624" y="5262376"/>
              <a:ext cx="1654175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pt-BR" dirty="0"/>
                <a:t>Partição 1</a:t>
              </a:r>
            </a:p>
          </p:txBody>
        </p:sp>
        <p:sp>
          <p:nvSpPr>
            <p:cNvPr id="120837" name="Rectangle 5"/>
            <p:cNvSpPr>
              <a:spLocks noChangeArrowheads="1"/>
            </p:cNvSpPr>
            <p:nvPr/>
          </p:nvSpPr>
          <p:spPr bwMode="auto">
            <a:xfrm>
              <a:off x="5372624" y="5801689"/>
              <a:ext cx="1654175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pt-BR" dirty="0"/>
                <a:t>SO</a:t>
              </a:r>
            </a:p>
          </p:txBody>
        </p:sp>
        <p:sp>
          <p:nvSpPr>
            <p:cNvPr id="120838" name="Text Box 6"/>
            <p:cNvSpPr txBox="1">
              <a:spLocks noChangeArrowheads="1"/>
            </p:cNvSpPr>
            <p:nvPr/>
          </p:nvSpPr>
          <p:spPr bwMode="auto">
            <a:xfrm>
              <a:off x="5211299" y="2406863"/>
              <a:ext cx="1976823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b="1" dirty="0">
                  <a:latin typeface="+mj-lt"/>
                </a:rPr>
                <a:t>Memória Principal</a:t>
              </a:r>
            </a:p>
          </p:txBody>
        </p:sp>
        <p:sp>
          <p:nvSpPr>
            <p:cNvPr id="120839" name="Rectangle 7"/>
            <p:cNvSpPr>
              <a:spLocks noChangeArrowheads="1"/>
            </p:cNvSpPr>
            <p:nvPr/>
          </p:nvSpPr>
          <p:spPr bwMode="auto">
            <a:xfrm>
              <a:off x="5372624" y="4337661"/>
              <a:ext cx="1654175" cy="92333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endParaRPr lang="pt-BR"/>
            </a:p>
            <a:p>
              <a:pPr algn="ctr"/>
              <a:r>
                <a:rPr lang="pt-BR" dirty="0"/>
                <a:t>Partição 2</a:t>
              </a:r>
            </a:p>
            <a:p>
              <a:pPr algn="ctr"/>
              <a:endParaRPr lang="pt-BR"/>
            </a:p>
          </p:txBody>
        </p:sp>
        <p:sp>
          <p:nvSpPr>
            <p:cNvPr id="120840" name="Rectangle 8"/>
            <p:cNvSpPr>
              <a:spLocks noChangeArrowheads="1"/>
            </p:cNvSpPr>
            <p:nvPr/>
          </p:nvSpPr>
          <p:spPr bwMode="auto">
            <a:xfrm>
              <a:off x="5372624" y="2914422"/>
              <a:ext cx="1654175" cy="14773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r>
                <a:rPr lang="pt-BR" dirty="0"/>
                <a:t>Partição 3</a:t>
              </a:r>
            </a:p>
            <a:p>
              <a:pPr algn="ctr"/>
              <a:endParaRPr lang="pt-BR" dirty="0"/>
            </a:p>
            <a:p>
              <a:pPr algn="ctr"/>
              <a:endParaRPr lang="pt-BR" dirty="0"/>
            </a:p>
          </p:txBody>
        </p:sp>
        <p:sp>
          <p:nvSpPr>
            <p:cNvPr id="120841" name="Text Box 9"/>
            <p:cNvSpPr txBox="1">
              <a:spLocks noChangeArrowheads="1"/>
            </p:cNvSpPr>
            <p:nvPr/>
          </p:nvSpPr>
          <p:spPr bwMode="auto">
            <a:xfrm>
              <a:off x="7077599" y="3412579"/>
              <a:ext cx="716863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dirty="0"/>
                <a:t>11 KB</a:t>
              </a:r>
            </a:p>
          </p:txBody>
        </p:sp>
        <p:sp>
          <p:nvSpPr>
            <p:cNvPr id="120842" name="Text Box 10"/>
            <p:cNvSpPr txBox="1">
              <a:spLocks noChangeArrowheads="1"/>
            </p:cNvSpPr>
            <p:nvPr/>
          </p:nvSpPr>
          <p:spPr bwMode="auto">
            <a:xfrm>
              <a:off x="7141096" y="4682579"/>
              <a:ext cx="599844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dirty="0"/>
                <a:t>5 KB</a:t>
              </a:r>
            </a:p>
          </p:txBody>
        </p:sp>
        <p:sp>
          <p:nvSpPr>
            <p:cNvPr id="120843" name="Text Box 11"/>
            <p:cNvSpPr txBox="1">
              <a:spLocks noChangeArrowheads="1"/>
            </p:cNvSpPr>
            <p:nvPr/>
          </p:nvSpPr>
          <p:spPr bwMode="auto">
            <a:xfrm>
              <a:off x="7141096" y="5357989"/>
              <a:ext cx="599844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dirty="0"/>
                <a:t>2 KB</a:t>
              </a:r>
            </a:p>
          </p:txBody>
        </p:sp>
        <p:grpSp>
          <p:nvGrpSpPr>
            <p:cNvPr id="2" name="Group 12"/>
            <p:cNvGrpSpPr>
              <a:grpSpLocks/>
            </p:cNvGrpSpPr>
            <p:nvPr/>
          </p:nvGrpSpPr>
          <p:grpSpPr bwMode="auto">
            <a:xfrm>
              <a:off x="4220096" y="3404647"/>
              <a:ext cx="538162" cy="819151"/>
              <a:chOff x="521" y="3017"/>
              <a:chExt cx="339" cy="516"/>
            </a:xfrm>
          </p:grpSpPr>
          <p:sp>
            <p:nvSpPr>
              <p:cNvPr id="120866" name="Oval 13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317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20867" name="Text Box 14"/>
              <p:cNvSpPr txBox="1">
                <a:spLocks noChangeArrowheads="1"/>
              </p:cNvSpPr>
              <p:nvPr/>
            </p:nvSpPr>
            <p:spPr bwMode="auto">
              <a:xfrm>
                <a:off x="593" y="3063"/>
                <a:ext cx="206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D</a:t>
                </a:r>
              </a:p>
            </p:txBody>
          </p:sp>
          <p:sp>
            <p:nvSpPr>
              <p:cNvPr id="120868" name="Text Box 15"/>
              <p:cNvSpPr txBox="1">
                <a:spLocks noChangeArrowheads="1"/>
              </p:cNvSpPr>
              <p:nvPr/>
            </p:nvSpPr>
            <p:spPr bwMode="auto">
              <a:xfrm>
                <a:off x="521" y="3339"/>
                <a:ext cx="319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dirty="0"/>
                  <a:t>6 KB</a:t>
                </a:r>
              </a:p>
            </p:txBody>
          </p:sp>
        </p:grp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4226446" y="5349330"/>
              <a:ext cx="538162" cy="819149"/>
              <a:chOff x="521" y="3017"/>
              <a:chExt cx="339" cy="516"/>
            </a:xfrm>
          </p:grpSpPr>
          <p:sp>
            <p:nvSpPr>
              <p:cNvPr id="120863" name="Oval 17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317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20864" name="Text Box 18"/>
              <p:cNvSpPr txBox="1">
                <a:spLocks noChangeArrowheads="1"/>
              </p:cNvSpPr>
              <p:nvPr/>
            </p:nvSpPr>
            <p:spPr bwMode="auto">
              <a:xfrm>
                <a:off x="597" y="3063"/>
                <a:ext cx="200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A</a:t>
                </a:r>
              </a:p>
            </p:txBody>
          </p:sp>
          <p:sp>
            <p:nvSpPr>
              <p:cNvPr id="120865" name="Text Box 19"/>
              <p:cNvSpPr txBox="1">
                <a:spLocks noChangeArrowheads="1"/>
              </p:cNvSpPr>
              <p:nvPr/>
            </p:nvSpPr>
            <p:spPr bwMode="auto">
              <a:xfrm>
                <a:off x="521" y="3339"/>
                <a:ext cx="319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dirty="0"/>
                  <a:t>2 KB</a:t>
                </a:r>
              </a:p>
            </p:txBody>
          </p:sp>
        </p:grpSp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4226446" y="4573047"/>
              <a:ext cx="538162" cy="819151"/>
              <a:chOff x="521" y="3017"/>
              <a:chExt cx="339" cy="516"/>
            </a:xfrm>
          </p:grpSpPr>
          <p:sp>
            <p:nvSpPr>
              <p:cNvPr id="120860" name="Oval 21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317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20861" name="Text Box 22"/>
              <p:cNvSpPr txBox="1">
                <a:spLocks noChangeArrowheads="1"/>
              </p:cNvSpPr>
              <p:nvPr/>
            </p:nvSpPr>
            <p:spPr bwMode="auto">
              <a:xfrm>
                <a:off x="597" y="3063"/>
                <a:ext cx="195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B</a:t>
                </a:r>
              </a:p>
            </p:txBody>
          </p:sp>
          <p:sp>
            <p:nvSpPr>
              <p:cNvPr id="120862" name="Text Box 23"/>
              <p:cNvSpPr txBox="1">
                <a:spLocks noChangeArrowheads="1"/>
              </p:cNvSpPr>
              <p:nvPr/>
            </p:nvSpPr>
            <p:spPr bwMode="auto">
              <a:xfrm>
                <a:off x="521" y="3339"/>
                <a:ext cx="319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dirty="0"/>
                  <a:t>4 KB</a:t>
                </a:r>
              </a:p>
            </p:txBody>
          </p:sp>
        </p:grpSp>
        <p:grpSp>
          <p:nvGrpSpPr>
            <p:cNvPr id="5" name="Group 24"/>
            <p:cNvGrpSpPr>
              <a:grpSpLocks/>
            </p:cNvGrpSpPr>
            <p:nvPr/>
          </p:nvGrpSpPr>
          <p:grpSpPr bwMode="auto">
            <a:xfrm>
              <a:off x="3289823" y="5349330"/>
              <a:ext cx="538163" cy="819149"/>
              <a:chOff x="521" y="3017"/>
              <a:chExt cx="339" cy="516"/>
            </a:xfrm>
          </p:grpSpPr>
          <p:sp>
            <p:nvSpPr>
              <p:cNvPr id="120857" name="Oval 25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317" cy="327"/>
              </a:xfrm>
              <a:prstGeom prst="ellipse">
                <a:avLst/>
              </a:prstGeom>
              <a:solidFill>
                <a:srgbClr val="00B0F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20858" name="Text Box 26"/>
              <p:cNvSpPr txBox="1">
                <a:spLocks noChangeArrowheads="1"/>
              </p:cNvSpPr>
              <p:nvPr/>
            </p:nvSpPr>
            <p:spPr bwMode="auto">
              <a:xfrm>
                <a:off x="593" y="3063"/>
                <a:ext cx="194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C</a:t>
                </a:r>
              </a:p>
            </p:txBody>
          </p:sp>
          <p:sp>
            <p:nvSpPr>
              <p:cNvPr id="120859" name="Text Box 27"/>
              <p:cNvSpPr txBox="1">
                <a:spLocks noChangeArrowheads="1"/>
              </p:cNvSpPr>
              <p:nvPr/>
            </p:nvSpPr>
            <p:spPr bwMode="auto">
              <a:xfrm>
                <a:off x="521" y="3339"/>
                <a:ext cx="324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b="1" dirty="0"/>
                  <a:t>1 KB</a:t>
                </a:r>
              </a:p>
            </p:txBody>
          </p:sp>
        </p:grpSp>
        <p:grpSp>
          <p:nvGrpSpPr>
            <p:cNvPr id="6" name="Group 28"/>
            <p:cNvGrpSpPr>
              <a:grpSpLocks/>
            </p:cNvGrpSpPr>
            <p:nvPr/>
          </p:nvGrpSpPr>
          <p:grpSpPr bwMode="auto">
            <a:xfrm>
              <a:off x="3289823" y="4573047"/>
              <a:ext cx="538163" cy="819151"/>
              <a:chOff x="521" y="3017"/>
              <a:chExt cx="339" cy="516"/>
            </a:xfrm>
          </p:grpSpPr>
          <p:sp>
            <p:nvSpPr>
              <p:cNvPr id="120854" name="Oval 29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317" cy="327"/>
              </a:xfrm>
              <a:prstGeom prst="ellipse">
                <a:avLst/>
              </a:prstGeom>
              <a:solidFill>
                <a:srgbClr val="00B0F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120855" name="Text Box 30"/>
              <p:cNvSpPr txBox="1">
                <a:spLocks noChangeArrowheads="1"/>
              </p:cNvSpPr>
              <p:nvPr/>
            </p:nvSpPr>
            <p:spPr bwMode="auto">
              <a:xfrm>
                <a:off x="597" y="3063"/>
                <a:ext cx="187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E</a:t>
                </a:r>
              </a:p>
            </p:txBody>
          </p:sp>
          <p:sp>
            <p:nvSpPr>
              <p:cNvPr id="120856" name="Text Box 31"/>
              <p:cNvSpPr txBox="1">
                <a:spLocks noChangeArrowheads="1"/>
              </p:cNvSpPr>
              <p:nvPr/>
            </p:nvSpPr>
            <p:spPr bwMode="auto">
              <a:xfrm>
                <a:off x="521" y="3339"/>
                <a:ext cx="324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b="1" dirty="0"/>
                  <a:t>3 KB</a:t>
                </a:r>
              </a:p>
            </p:txBody>
          </p:sp>
        </p:grpSp>
        <p:sp>
          <p:nvSpPr>
            <p:cNvPr id="120849" name="Line 42"/>
            <p:cNvSpPr>
              <a:spLocks noChangeShapeType="1"/>
            </p:cNvSpPr>
            <p:nvPr/>
          </p:nvSpPr>
          <p:spPr bwMode="auto">
            <a:xfrm>
              <a:off x="4796361" y="5589042"/>
              <a:ext cx="5762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20850" name="Line 43"/>
            <p:cNvSpPr>
              <a:spLocks noChangeShapeType="1"/>
            </p:cNvSpPr>
            <p:nvPr/>
          </p:nvSpPr>
          <p:spPr bwMode="auto">
            <a:xfrm>
              <a:off x="4796361" y="4868317"/>
              <a:ext cx="5762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20851" name="Line 44"/>
            <p:cNvSpPr>
              <a:spLocks noChangeShapeType="1"/>
            </p:cNvSpPr>
            <p:nvPr/>
          </p:nvSpPr>
          <p:spPr bwMode="auto">
            <a:xfrm>
              <a:off x="4796361" y="3644354"/>
              <a:ext cx="5762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20852" name="Line 45"/>
            <p:cNvSpPr>
              <a:spLocks noChangeShapeType="1"/>
            </p:cNvSpPr>
            <p:nvPr/>
          </p:nvSpPr>
          <p:spPr bwMode="auto">
            <a:xfrm>
              <a:off x="3859736" y="4868317"/>
              <a:ext cx="360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20853" name="Line 46"/>
            <p:cNvSpPr>
              <a:spLocks noChangeShapeType="1"/>
            </p:cNvSpPr>
            <p:nvPr/>
          </p:nvSpPr>
          <p:spPr bwMode="auto">
            <a:xfrm>
              <a:off x="3859736" y="5589042"/>
              <a:ext cx="360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pt-BR"/>
            </a:p>
          </p:txBody>
        </p:sp>
      </p:grpSp>
      <p:pic>
        <p:nvPicPr>
          <p:cNvPr id="7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9059C451-C742-4788-88B6-1834F9ADD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9B0BE26-899F-4A89-AE90-FF09B77C2238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 </a:t>
            </a:r>
            <a:r>
              <a:rPr lang="pt-BR" sz="2400" i="1" dirty="0">
                <a:solidFill>
                  <a:srgbClr val="002060"/>
                </a:solidFill>
                <a:cs typeface="Calibri"/>
              </a:rPr>
              <a:t>Estática Absoluta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1B5E542-2EC6-4D4C-B333-5F3ED765F0BF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1BD871C-199B-42BC-93B2-A4237CCD080E}"/>
              </a:ext>
            </a:extLst>
          </p:cNvPr>
          <p:cNvSpPr txBox="1"/>
          <p:nvPr/>
        </p:nvSpPr>
        <p:spPr>
          <a:xfrm>
            <a:off x="123646" y="1460740"/>
            <a:ext cx="1198784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200" b="1">
                <a:latin typeface="Calibri"/>
                <a:cs typeface="Calibri"/>
              </a:rPr>
              <a:t>Ex: </a:t>
            </a:r>
            <a:r>
              <a:rPr lang="pt-BR" sz="2200">
                <a:latin typeface="Calibri"/>
                <a:cs typeface="Calibri"/>
              </a:rPr>
              <a:t>Se os programas </a:t>
            </a:r>
            <a:r>
              <a:rPr lang="pt-BR" sz="2200" b="1">
                <a:latin typeface="Calibri"/>
                <a:cs typeface="Calibri"/>
              </a:rPr>
              <a:t>A</a:t>
            </a:r>
            <a:r>
              <a:rPr lang="pt-BR" sz="2200">
                <a:latin typeface="Calibri"/>
                <a:cs typeface="Calibri"/>
              </a:rPr>
              <a:t> e </a:t>
            </a:r>
            <a:r>
              <a:rPr lang="pt-BR" sz="2200" b="1">
                <a:latin typeface="Calibri"/>
                <a:cs typeface="Calibri"/>
              </a:rPr>
              <a:t>B</a:t>
            </a:r>
            <a:r>
              <a:rPr lang="pt-BR" sz="2200">
                <a:latin typeface="Calibri"/>
                <a:cs typeface="Calibri"/>
              </a:rPr>
              <a:t> estivessem sendo executados e a terceira partição estivesse livre, os programas </a:t>
            </a:r>
            <a:r>
              <a:rPr lang="pt-BR" sz="2200" b="1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lang="pt-BR" sz="2200">
                <a:latin typeface="Calibri"/>
                <a:cs typeface="Calibri"/>
              </a:rPr>
              <a:t> e </a:t>
            </a:r>
            <a:r>
              <a:rPr lang="pt-BR" sz="2200" b="1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lang="pt-BR" sz="2200">
                <a:latin typeface="Calibri"/>
                <a:cs typeface="Calibri"/>
              </a:rPr>
              <a:t> </a:t>
            </a:r>
            <a:r>
              <a:rPr lang="pt-BR" sz="2200" b="1">
                <a:latin typeface="Calibri"/>
                <a:cs typeface="Calibri"/>
              </a:rPr>
              <a:t>não</a:t>
            </a:r>
            <a:r>
              <a:rPr lang="pt-BR" sz="2200">
                <a:latin typeface="Calibri"/>
                <a:cs typeface="Calibri"/>
              </a:rPr>
              <a:t> poderiam ser processados.</a:t>
            </a:r>
          </a:p>
        </p:txBody>
      </p:sp>
    </p:spTree>
    <p:extLst>
      <p:ext uri="{BB962C8B-B14F-4D97-AF65-F5344CB8AC3E}">
        <p14:creationId xmlns:p14="http://schemas.microsoft.com/office/powerpoint/2010/main" val="2908171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 </a:t>
            </a:r>
            <a:r>
              <a:rPr lang="pt-BR" sz="2400" i="1" dirty="0">
                <a:solidFill>
                  <a:srgbClr val="002060"/>
                </a:solidFill>
                <a:cs typeface="Calibri"/>
              </a:rPr>
              <a:t>Estática Realocável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345722"/>
            <a:ext cx="11987840" cy="27269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Com a evolução dos compiladores e montadores o código gerado deixou de ser absoluto e passou a ser </a:t>
            </a:r>
            <a:r>
              <a:rPr lang="pt-BR" sz="2100" b="1" i="1" dirty="0">
                <a:ea typeface="+mn-lt"/>
                <a:cs typeface="+mn-lt"/>
              </a:rPr>
              <a:t>realocável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Funcionamento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Quando o programa é carregado, o </a:t>
            </a:r>
            <a:r>
              <a:rPr lang="pt-BR" sz="2100" i="1" dirty="0" err="1">
                <a:ea typeface="+mn-lt"/>
                <a:cs typeface="+mn-lt"/>
              </a:rPr>
              <a:t>loader</a:t>
            </a:r>
            <a:r>
              <a:rPr lang="pt-BR" sz="2100" dirty="0">
                <a:ea typeface="+mn-lt"/>
                <a:cs typeface="+mn-lt"/>
              </a:rPr>
              <a:t> calcula todos os endereços a partir da posição inicial onde o programa foi alocado;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Caso os programas A e B terminassem, o programa E poderia ser executado em qualquer uma das duas partições;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Esse tipo de gerência de memória é denominado </a:t>
            </a:r>
            <a:r>
              <a:rPr lang="pt-BR" sz="2100" b="1" i="1" dirty="0">
                <a:ea typeface="+mn-lt"/>
                <a:cs typeface="+mn-lt"/>
              </a:rPr>
              <a:t>alocação particionada estática realocável</a:t>
            </a:r>
            <a:r>
              <a:rPr lang="pt-BR" sz="2100" i="1" dirty="0">
                <a:ea typeface="+mn-lt"/>
                <a:cs typeface="+mn-lt"/>
              </a:rPr>
              <a:t>.</a:t>
            </a:r>
            <a:r>
              <a:rPr lang="pt-BR" sz="2100" dirty="0">
                <a:ea typeface="+mn-lt"/>
                <a:cs typeface="+mn-lt"/>
              </a:rPr>
              <a:t> </a:t>
            </a:r>
            <a:endParaRPr lang="en-US" sz="2100" dirty="0">
              <a:ea typeface="+mn-lt"/>
              <a:cs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424A033-DF01-4941-9D1E-5942E7CC9431}"/>
              </a:ext>
            </a:extLst>
          </p:cNvPr>
          <p:cNvSpPr/>
          <p:nvPr/>
        </p:nvSpPr>
        <p:spPr>
          <a:xfrm>
            <a:off x="652511" y="4495273"/>
            <a:ext cx="10873208" cy="1569660"/>
          </a:xfrm>
          <a:prstGeom prst="rect">
            <a:avLst/>
          </a:prstGeom>
          <a:solidFill>
            <a:srgbClr val="ED7D31"/>
          </a:solidFill>
          <a:ln w="38100">
            <a:solidFill>
              <a:srgbClr val="002060"/>
            </a:solidFill>
            <a:prstDash val="sysDash"/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accent6">
                  <a:lumMod val="75000"/>
                </a:schemeClr>
              </a:buClr>
            </a:pPr>
            <a:r>
              <a:rPr lang="pt-BR" sz="2400" b="1" dirty="0">
                <a:latin typeface="Calibri"/>
                <a:cs typeface="Calibri"/>
              </a:rPr>
              <a:t>Código realocável: Todas as referências a endereços no programa são relativas ao início do código, e não a endereços físicos de memória;</a:t>
            </a:r>
            <a:endParaRPr lang="pt-BR" dirty="0"/>
          </a:p>
          <a:p>
            <a:pPr marL="800100" lvl="1" indent="-342900" algn="just"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pt-BR" sz="2400" b="1" dirty="0">
                <a:latin typeface="Calibri"/>
                <a:cs typeface="Calibri"/>
              </a:rPr>
              <a:t> Os programas podem ser executados a partir de qualquer partição;</a:t>
            </a:r>
          </a:p>
          <a:p>
            <a:pPr marL="800100" lvl="1" indent="-342900"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endParaRPr lang="pt-BR" sz="24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1809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/>
          <p:cNvGrpSpPr/>
          <p:nvPr/>
        </p:nvGrpSpPr>
        <p:grpSpPr>
          <a:xfrm>
            <a:off x="3071664" y="2518241"/>
            <a:ext cx="5120641" cy="3575055"/>
            <a:chOff x="3071664" y="2518241"/>
            <a:chExt cx="5120641" cy="3575055"/>
          </a:xfrm>
        </p:grpSpPr>
        <p:sp>
          <p:nvSpPr>
            <p:cNvPr id="122884" name="Rectangle 4"/>
            <p:cNvSpPr>
              <a:spLocks noChangeArrowheads="1"/>
            </p:cNvSpPr>
            <p:nvPr/>
          </p:nvSpPr>
          <p:spPr bwMode="auto">
            <a:xfrm>
              <a:off x="5770467" y="5339789"/>
              <a:ext cx="165417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pt-BR" dirty="0"/>
                <a:t>Programa C</a:t>
              </a:r>
            </a:p>
          </p:txBody>
        </p:sp>
        <p:sp>
          <p:nvSpPr>
            <p:cNvPr id="122885" name="Rectangle 5"/>
            <p:cNvSpPr>
              <a:spLocks noChangeArrowheads="1"/>
            </p:cNvSpPr>
            <p:nvPr/>
          </p:nvSpPr>
          <p:spPr bwMode="auto">
            <a:xfrm>
              <a:off x="5770467" y="5723964"/>
              <a:ext cx="1654175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pt-BR" dirty="0"/>
                <a:t>SO</a:t>
              </a:r>
            </a:p>
          </p:txBody>
        </p:sp>
        <p:sp>
          <p:nvSpPr>
            <p:cNvPr id="122886" name="Text Box 6"/>
            <p:cNvSpPr txBox="1">
              <a:spLocks noChangeArrowheads="1"/>
            </p:cNvSpPr>
            <p:nvPr/>
          </p:nvSpPr>
          <p:spPr bwMode="auto">
            <a:xfrm>
              <a:off x="5631345" y="2518241"/>
              <a:ext cx="1976823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b="1" dirty="0">
                  <a:latin typeface="+mj-lt"/>
                </a:rPr>
                <a:t>Memória Principal</a:t>
              </a:r>
            </a:p>
          </p:txBody>
        </p:sp>
        <p:sp>
          <p:nvSpPr>
            <p:cNvPr id="122887" name="Rectangle 7"/>
            <p:cNvSpPr>
              <a:spLocks noChangeArrowheads="1"/>
            </p:cNvSpPr>
            <p:nvPr/>
          </p:nvSpPr>
          <p:spPr bwMode="auto">
            <a:xfrm>
              <a:off x="5770467" y="4420930"/>
              <a:ext cx="1654175" cy="9233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endParaRPr lang="pt-BR" dirty="0"/>
            </a:p>
            <a:p>
              <a:pPr algn="ctr"/>
              <a:r>
                <a:rPr lang="pt-BR" dirty="0"/>
                <a:t>Programa B</a:t>
              </a:r>
            </a:p>
            <a:p>
              <a:pPr algn="ctr"/>
              <a:endParaRPr lang="pt-BR" dirty="0"/>
            </a:p>
          </p:txBody>
        </p:sp>
        <p:sp>
          <p:nvSpPr>
            <p:cNvPr id="122888" name="Rectangle 8"/>
            <p:cNvSpPr>
              <a:spLocks noChangeArrowheads="1"/>
            </p:cNvSpPr>
            <p:nvPr/>
          </p:nvSpPr>
          <p:spPr bwMode="auto">
            <a:xfrm>
              <a:off x="5770467" y="2997691"/>
              <a:ext cx="1654175" cy="14773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r>
                <a:rPr lang="pt-BR" dirty="0"/>
                <a:t>Programa A</a:t>
              </a:r>
            </a:p>
            <a:p>
              <a:pPr algn="ctr"/>
              <a:endParaRPr lang="pt-BR" dirty="0"/>
            </a:p>
            <a:p>
              <a:pPr algn="ctr"/>
              <a:endParaRPr lang="pt-BR" dirty="0"/>
            </a:p>
          </p:txBody>
        </p:sp>
        <p:sp>
          <p:nvSpPr>
            <p:cNvPr id="122889" name="Text Box 9"/>
            <p:cNvSpPr txBox="1">
              <a:spLocks noChangeArrowheads="1"/>
            </p:cNvSpPr>
            <p:nvPr/>
          </p:nvSpPr>
          <p:spPr bwMode="auto">
            <a:xfrm>
              <a:off x="7475442" y="3495848"/>
              <a:ext cx="716863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dirty="0"/>
                <a:t>11 KB</a:t>
              </a:r>
            </a:p>
          </p:txBody>
        </p:sp>
        <p:sp>
          <p:nvSpPr>
            <p:cNvPr id="122890" name="Text Box 10"/>
            <p:cNvSpPr txBox="1">
              <a:spLocks noChangeArrowheads="1"/>
            </p:cNvSpPr>
            <p:nvPr/>
          </p:nvSpPr>
          <p:spPr bwMode="auto">
            <a:xfrm>
              <a:off x="7538939" y="4765848"/>
              <a:ext cx="599844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dirty="0"/>
                <a:t>8 KB</a:t>
              </a:r>
            </a:p>
          </p:txBody>
        </p:sp>
        <p:sp>
          <p:nvSpPr>
            <p:cNvPr id="122891" name="Text Box 11"/>
            <p:cNvSpPr txBox="1">
              <a:spLocks noChangeArrowheads="1"/>
            </p:cNvSpPr>
            <p:nvPr/>
          </p:nvSpPr>
          <p:spPr bwMode="auto">
            <a:xfrm>
              <a:off x="7538939" y="5358128"/>
              <a:ext cx="599844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dirty="0"/>
                <a:t>2 KB</a:t>
              </a:r>
            </a:p>
          </p:txBody>
        </p:sp>
        <p:grpSp>
          <p:nvGrpSpPr>
            <p:cNvPr id="2" name="Group 12"/>
            <p:cNvGrpSpPr>
              <a:grpSpLocks/>
            </p:cNvGrpSpPr>
            <p:nvPr/>
          </p:nvGrpSpPr>
          <p:grpSpPr bwMode="auto">
            <a:xfrm>
              <a:off x="4151787" y="4017477"/>
              <a:ext cx="538163" cy="819149"/>
              <a:chOff x="521" y="3017"/>
              <a:chExt cx="339" cy="516"/>
            </a:xfrm>
          </p:grpSpPr>
          <p:sp>
            <p:nvSpPr>
              <p:cNvPr id="122915" name="Oval 13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317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22916" name="Text Box 14"/>
              <p:cNvSpPr txBox="1">
                <a:spLocks noChangeArrowheads="1"/>
              </p:cNvSpPr>
              <p:nvPr/>
            </p:nvSpPr>
            <p:spPr bwMode="auto">
              <a:xfrm>
                <a:off x="593" y="3063"/>
                <a:ext cx="187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E</a:t>
                </a:r>
              </a:p>
            </p:txBody>
          </p:sp>
          <p:sp>
            <p:nvSpPr>
              <p:cNvPr id="122917" name="Text Box 15"/>
              <p:cNvSpPr txBox="1">
                <a:spLocks noChangeArrowheads="1"/>
              </p:cNvSpPr>
              <p:nvPr/>
            </p:nvSpPr>
            <p:spPr bwMode="auto">
              <a:xfrm>
                <a:off x="521" y="3339"/>
                <a:ext cx="324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b="1" dirty="0"/>
                  <a:t>6 KB</a:t>
                </a:r>
              </a:p>
            </p:txBody>
          </p:sp>
        </p:grpSp>
        <p:sp>
          <p:nvSpPr>
            <p:cNvPr id="122900" name="Line 45"/>
            <p:cNvSpPr>
              <a:spLocks noChangeShapeType="1"/>
            </p:cNvSpPr>
            <p:nvPr/>
          </p:nvSpPr>
          <p:spPr bwMode="auto">
            <a:xfrm flipV="1">
              <a:off x="3328493" y="4291542"/>
              <a:ext cx="864096" cy="1657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pt-BR"/>
            </a:p>
          </p:txBody>
        </p:sp>
        <p:sp>
          <p:nvSpPr>
            <p:cNvPr id="122902" name="AutoShape 50"/>
            <p:cNvSpPr>
              <a:spLocks noChangeArrowheads="1"/>
            </p:cNvSpPr>
            <p:nvPr/>
          </p:nvSpPr>
          <p:spPr bwMode="auto">
            <a:xfrm rot="20346442">
              <a:off x="4809828" y="3585913"/>
              <a:ext cx="828000" cy="46800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836700921 h 21600"/>
                <a:gd name="T4" fmla="*/ 2147483647 w 21600"/>
                <a:gd name="T5" fmla="*/ 1673397572 h 21600"/>
                <a:gd name="T6" fmla="*/ 2147483647 w 21600"/>
                <a:gd name="T7" fmla="*/ 836700921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39" name="AutoShape 50"/>
            <p:cNvSpPr>
              <a:spLocks noChangeArrowheads="1"/>
            </p:cNvSpPr>
            <p:nvPr/>
          </p:nvSpPr>
          <p:spPr bwMode="auto">
            <a:xfrm rot="1196636">
              <a:off x="4902101" y="4626139"/>
              <a:ext cx="828000" cy="46800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836700921 h 21600"/>
                <a:gd name="T4" fmla="*/ 2147483647 w 21600"/>
                <a:gd name="T5" fmla="*/ 1673397572 h 21600"/>
                <a:gd name="T6" fmla="*/ 2147483647 w 21600"/>
                <a:gd name="T7" fmla="*/ 836700921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>
              <a:spAutoFit/>
            </a:bodyPr>
            <a:lstStyle/>
            <a:p>
              <a:endParaRPr lang="pt-BR"/>
            </a:p>
          </p:txBody>
        </p:sp>
        <p:grpSp>
          <p:nvGrpSpPr>
            <p:cNvPr id="6" name="Group 28"/>
            <p:cNvGrpSpPr>
              <a:grpSpLocks/>
            </p:cNvGrpSpPr>
            <p:nvPr/>
          </p:nvGrpSpPr>
          <p:grpSpPr bwMode="auto">
            <a:xfrm>
              <a:off x="3071664" y="4023432"/>
              <a:ext cx="554038" cy="819149"/>
              <a:chOff x="521" y="3017"/>
              <a:chExt cx="349" cy="516"/>
            </a:xfrm>
          </p:grpSpPr>
          <p:sp>
            <p:nvSpPr>
              <p:cNvPr id="122903" name="Oval 29"/>
              <p:cNvSpPr>
                <a:spLocks noChangeArrowheads="1"/>
              </p:cNvSpPr>
              <p:nvPr/>
            </p:nvSpPr>
            <p:spPr bwMode="auto">
              <a:xfrm>
                <a:off x="543" y="3017"/>
                <a:ext cx="327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22904" name="Text Box 30"/>
              <p:cNvSpPr txBox="1">
                <a:spLocks noChangeArrowheads="1"/>
              </p:cNvSpPr>
              <p:nvPr/>
            </p:nvSpPr>
            <p:spPr bwMode="auto">
              <a:xfrm>
                <a:off x="597" y="3063"/>
                <a:ext cx="206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D</a:t>
                </a:r>
              </a:p>
            </p:txBody>
          </p:sp>
          <p:sp>
            <p:nvSpPr>
              <p:cNvPr id="122905" name="Text Box 31"/>
              <p:cNvSpPr txBox="1">
                <a:spLocks noChangeArrowheads="1"/>
              </p:cNvSpPr>
              <p:nvPr/>
            </p:nvSpPr>
            <p:spPr bwMode="auto">
              <a:xfrm>
                <a:off x="521" y="3339"/>
                <a:ext cx="324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400" b="1" dirty="0"/>
                  <a:t>3 KB</a:t>
                </a:r>
              </a:p>
            </p:txBody>
          </p:sp>
        </p:grpSp>
      </p:grp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A9DA51EB-4C51-44B5-9C55-841F99462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BD05D32-0107-4082-97CA-7F41A9A37BFD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 </a:t>
            </a:r>
            <a:r>
              <a:rPr lang="pt-BR" sz="2400" i="1" dirty="0">
                <a:solidFill>
                  <a:srgbClr val="002060"/>
                </a:solidFill>
                <a:cs typeface="Calibri"/>
              </a:rPr>
              <a:t>Estática Realocável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EDC688D-198A-419B-80E0-0C41B845D6DD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4C18F10-45D0-478E-86D8-70A816F7E401}"/>
              </a:ext>
            </a:extLst>
          </p:cNvPr>
          <p:cNvSpPr txBox="1"/>
          <p:nvPr/>
        </p:nvSpPr>
        <p:spPr>
          <a:xfrm>
            <a:off x="109269" y="1503872"/>
            <a:ext cx="1198784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b="1" dirty="0" err="1">
                <a:latin typeface="Calibri"/>
                <a:cs typeface="Calibri"/>
              </a:rPr>
              <a:t>Ex</a:t>
            </a:r>
            <a:r>
              <a:rPr lang="pt-BR" sz="2200" b="1" dirty="0">
                <a:latin typeface="Calibri"/>
                <a:cs typeface="Calibri"/>
              </a:rPr>
              <a:t>: </a:t>
            </a:r>
            <a:r>
              <a:rPr lang="pt-BR" sz="2200" dirty="0">
                <a:latin typeface="Calibri"/>
                <a:cs typeface="Calibri"/>
              </a:rPr>
              <a:t>Caso os programas </a:t>
            </a:r>
            <a:r>
              <a:rPr lang="pt-BR" sz="2200" b="1" dirty="0">
                <a:latin typeface="Calibri"/>
                <a:cs typeface="Calibri"/>
              </a:rPr>
              <a:t>A</a:t>
            </a:r>
            <a:r>
              <a:rPr lang="pt-BR" sz="2200" dirty="0">
                <a:latin typeface="Calibri"/>
                <a:cs typeface="Calibri"/>
              </a:rPr>
              <a:t> e </a:t>
            </a:r>
            <a:r>
              <a:rPr lang="pt-BR" sz="2200" b="1" dirty="0">
                <a:latin typeface="Calibri"/>
                <a:cs typeface="Calibri"/>
              </a:rPr>
              <a:t>B</a:t>
            </a:r>
            <a:r>
              <a:rPr lang="pt-BR" sz="2200" dirty="0">
                <a:latin typeface="Calibri"/>
                <a:cs typeface="Calibri"/>
              </a:rPr>
              <a:t> terminassem, o programa </a:t>
            </a:r>
            <a:r>
              <a:rPr lang="pt-BR" sz="2200" b="1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lang="pt-BR" sz="2200" dirty="0">
                <a:latin typeface="Calibri"/>
                <a:cs typeface="Calibri"/>
              </a:rPr>
              <a:t> poderia ser executado em qualquer uma das partições.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957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</a:t>
            </a:r>
            <a:endParaRPr lang="pt-BR" sz="2400" i="1" dirty="0">
              <a:solidFill>
                <a:srgbClr val="002060"/>
              </a:solidFill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604515"/>
            <a:ext cx="11987840" cy="14609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Fragmentação Interna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Um processo, não importando quão pequeno seja, ocupa uma partição inteira;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Esse tipo de problema é conhecido como </a:t>
            </a:r>
            <a:r>
              <a:rPr lang="pt-BR" sz="2100" i="1" dirty="0">
                <a:ea typeface="+mn-lt"/>
                <a:cs typeface="+mn-lt"/>
              </a:rPr>
              <a:t>fragmentação interna</a:t>
            </a:r>
            <a:r>
              <a:rPr lang="pt-BR" sz="21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5837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</a:t>
            </a:r>
            <a:endParaRPr lang="pt-BR" sz="2400" i="1" dirty="0">
              <a:solidFill>
                <a:srgbClr val="002060"/>
              </a:solidFill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518251"/>
            <a:ext cx="11987840" cy="6740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 err="1">
                <a:ea typeface="+mn-lt"/>
                <a:cs typeface="+mn-lt"/>
              </a:rPr>
              <a:t>Ex</a:t>
            </a:r>
            <a:r>
              <a:rPr lang="pt-BR" sz="2100" b="1" dirty="0">
                <a:ea typeface="+mn-lt"/>
                <a:cs typeface="+mn-lt"/>
              </a:rPr>
              <a:t>:</a:t>
            </a:r>
            <a:r>
              <a:rPr lang="pt-BR" sz="2100" dirty="0">
                <a:ea typeface="+mn-lt"/>
                <a:cs typeface="+mn-lt"/>
              </a:rPr>
              <a:t> Os programas </a:t>
            </a:r>
            <a:r>
              <a:rPr lang="pt-BR" sz="2100" b="1" dirty="0">
                <a:ea typeface="+mn-lt"/>
                <a:cs typeface="+mn-lt"/>
              </a:rPr>
              <a:t>C</a:t>
            </a:r>
            <a:r>
              <a:rPr lang="pt-BR" sz="2100" dirty="0">
                <a:ea typeface="+mn-lt"/>
                <a:cs typeface="+mn-lt"/>
              </a:rPr>
              <a:t>, </a:t>
            </a:r>
            <a:r>
              <a:rPr lang="pt-BR" sz="2100" b="1" dirty="0">
                <a:ea typeface="+mn-lt"/>
                <a:cs typeface="+mn-lt"/>
              </a:rPr>
              <a:t>A</a:t>
            </a:r>
            <a:r>
              <a:rPr lang="pt-BR" sz="2100" dirty="0">
                <a:ea typeface="+mn-lt"/>
                <a:cs typeface="+mn-lt"/>
              </a:rPr>
              <a:t> e </a:t>
            </a:r>
            <a:r>
              <a:rPr lang="pt-BR" sz="2100" b="1" dirty="0" err="1">
                <a:ea typeface="+mn-lt"/>
                <a:cs typeface="+mn-lt"/>
              </a:rPr>
              <a:t>E</a:t>
            </a:r>
            <a:r>
              <a:rPr lang="pt-BR" sz="2100" dirty="0">
                <a:ea typeface="+mn-lt"/>
                <a:cs typeface="+mn-lt"/>
              </a:rPr>
              <a:t> não ocupam integralmente o espaço das partições onde estão alocados, deixando 1 Kb, 3 Kb e 5 Kb de áreas livres, respectivamente;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8AC1B542-E45B-425D-AEA7-71178AE112FE}"/>
              </a:ext>
            </a:extLst>
          </p:cNvPr>
          <p:cNvGrpSpPr/>
          <p:nvPr/>
        </p:nvGrpSpPr>
        <p:grpSpPr>
          <a:xfrm>
            <a:off x="2058937" y="2391406"/>
            <a:ext cx="7849252" cy="4198660"/>
            <a:chOff x="2044560" y="1988840"/>
            <a:chExt cx="7849252" cy="419866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2098C1A3-04F1-419E-A59E-DF90BD27D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228" y="5120981"/>
              <a:ext cx="1655763" cy="669925"/>
            </a:xfrm>
            <a:prstGeom prst="rect">
              <a:avLst/>
            </a:prstGeom>
            <a:solidFill>
              <a:srgbClr val="FF0000"/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  <a:p>
              <a:endParaRPr lang="pt-BR"/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B43FF8E1-C6D0-4794-A96C-DDC0A103C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228" y="5818168"/>
              <a:ext cx="1655763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/>
                <a:t>SO</a:t>
              </a: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D7463873-EC49-4E02-9BF7-96CF27427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7748" y="1988840"/>
              <a:ext cx="1976823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latin typeface="Calibri"/>
                  <a:cs typeface="Calibri"/>
                </a:rPr>
                <a:t>Memória Principal</a:t>
              </a: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B537F2F2-2D6A-4BBE-8629-8DBC12D8F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228" y="3901778"/>
              <a:ext cx="1655763" cy="1219200"/>
            </a:xfrm>
            <a:prstGeom prst="rect">
              <a:avLst/>
            </a:prstGeom>
            <a:solidFill>
              <a:srgbClr val="FF0000"/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DCFB23BA-109F-4639-BC04-F949CCA7D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228" y="2438106"/>
              <a:ext cx="1655763" cy="1493837"/>
            </a:xfrm>
            <a:prstGeom prst="rect">
              <a:avLst/>
            </a:prstGeom>
            <a:solidFill>
              <a:srgbClr val="FF0000"/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>
                <a:solidFill>
                  <a:schemeClr val="bg1"/>
                </a:solidFill>
              </a:endParaRPr>
            </a:p>
            <a:p>
              <a:endParaRPr lang="pt-BR">
                <a:solidFill>
                  <a:schemeClr val="bg1"/>
                </a:solidFill>
              </a:endParaRPr>
            </a:p>
            <a:p>
              <a:endParaRPr lang="pt-BR">
                <a:solidFill>
                  <a:schemeClr val="bg1"/>
                </a:solidFill>
              </a:endParaRPr>
            </a:p>
            <a:p>
              <a:endParaRPr lang="pt-BR">
                <a:solidFill>
                  <a:schemeClr val="bg1"/>
                </a:solidFill>
              </a:endParaRPr>
            </a:p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DD67A05A-38CB-4901-91A0-F89B96C9A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228" y="3018130"/>
              <a:ext cx="1655763" cy="10464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200" dirty="0"/>
            </a:p>
            <a:p>
              <a:pPr algn="ctr"/>
              <a:endParaRPr lang="pt-BR" sz="1200" dirty="0"/>
            </a:p>
            <a:p>
              <a:pPr algn="ctr"/>
              <a:r>
                <a:rPr lang="pt-BR" sz="1400" dirty="0"/>
                <a:t>Programa E</a:t>
              </a:r>
            </a:p>
            <a:p>
              <a:pPr algn="ctr"/>
              <a:endParaRPr lang="pt-BR" sz="1200" dirty="0"/>
            </a:p>
            <a:p>
              <a:pPr algn="ctr"/>
              <a:endParaRPr lang="pt-BR" sz="1200" dirty="0"/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833664FA-2330-4E62-ADC8-1C0524E31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228" y="5534623"/>
              <a:ext cx="1655763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400" dirty="0"/>
                <a:t>Programa C</a:t>
              </a:r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889E252B-FD0F-49A4-92E2-40907E84D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228" y="4540330"/>
              <a:ext cx="1655763" cy="6771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200" dirty="0"/>
            </a:p>
            <a:p>
              <a:pPr algn="ctr"/>
              <a:r>
                <a:rPr lang="pt-BR" sz="1400" dirty="0"/>
                <a:t>Programa A</a:t>
              </a:r>
            </a:p>
            <a:p>
              <a:pPr algn="ctr"/>
              <a:endParaRPr lang="pt-BR" sz="1200" dirty="0"/>
            </a:p>
          </p:txBody>
        </p:sp>
        <p:sp>
          <p:nvSpPr>
            <p:cNvPr id="15" name="AutoShape 16">
              <a:extLst>
                <a:ext uri="{FF2B5EF4-FFF2-40B4-BE49-F238E27FC236}">
                  <a16:creationId xmlns:a16="http://schemas.microsoft.com/office/drawing/2014/main" id="{AA5F764E-3639-4786-AFA6-E4D6AB346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2328" y="2420888"/>
              <a:ext cx="142875" cy="1584000"/>
            </a:xfrm>
            <a:prstGeom prst="leftBrace">
              <a:avLst>
                <a:gd name="adj1" fmla="val 8407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" name="AutoShape 17">
              <a:extLst>
                <a:ext uri="{FF2B5EF4-FFF2-40B4-BE49-F238E27FC236}">
                  <a16:creationId xmlns:a16="http://schemas.microsoft.com/office/drawing/2014/main" id="{E4D3575D-3716-4BCC-9025-C3D6F4D09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2328" y="4107643"/>
              <a:ext cx="142875" cy="1080000"/>
            </a:xfrm>
            <a:prstGeom prst="leftBrace">
              <a:avLst>
                <a:gd name="adj1" fmla="val 67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" name="AutoShape 18">
              <a:extLst>
                <a:ext uri="{FF2B5EF4-FFF2-40B4-BE49-F238E27FC236}">
                  <a16:creationId xmlns:a16="http://schemas.microsoft.com/office/drawing/2014/main" id="{A9871087-E935-4357-82C3-F88F4F521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2328" y="5248038"/>
              <a:ext cx="142875" cy="576000"/>
            </a:xfrm>
            <a:prstGeom prst="leftBrace">
              <a:avLst>
                <a:gd name="adj1" fmla="val 3777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B606712B-D2ED-40F7-89FA-98C5290BF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3879" y="3033677"/>
              <a:ext cx="1117165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/>
                <a:t>Partição 3</a:t>
              </a:r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FF37202A-CC7B-489F-BF99-C0958E9F4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3753" y="4471693"/>
              <a:ext cx="1117165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/>
                <a:t>Partição 2</a:t>
              </a: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0713F047-4778-4FFC-98D7-A56F7782E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4560" y="5377081"/>
              <a:ext cx="1117165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/>
                <a:t>Partição 1</a:t>
              </a:r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B0A97336-C871-4059-9C21-67DF1ED81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1175" y="2476203"/>
              <a:ext cx="1121204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/>
                <a:t>Área Livre</a:t>
              </a: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25D57E63-18F5-498A-94C7-5DBBC3517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1175" y="4065290"/>
              <a:ext cx="1121204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/>
                <a:t>Área Livre</a:t>
              </a:r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E842F0CF-3C32-4A2D-8702-3A017B4CF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0011" y="5192415"/>
              <a:ext cx="1121204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/>
                <a:t>Área Livre</a:t>
              </a:r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E3366B5B-E0B0-4A62-BCED-56E9D4D743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2400" y="2671465"/>
              <a:ext cx="431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1CC42D42-DA8E-4CC3-9D7E-8FB96E5A7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2400" y="4255790"/>
              <a:ext cx="431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2C3C49C2-F467-4516-9D19-7B158657A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2400" y="5387678"/>
              <a:ext cx="431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9BEA38BC-8159-40E9-B384-1C3647775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8891" y="4039890"/>
              <a:ext cx="2284921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/>
                <a:t>Fragmentação Interna</a:t>
              </a:r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2FF33B62-8047-4CB5-AA86-B85B51B574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16725" y="4471693"/>
              <a:ext cx="863600" cy="9366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E909A56F-F469-4F20-BE53-E20311824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16728" y="4255790"/>
              <a:ext cx="7921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E72AB207-9257-4D26-81F9-05587B3B2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3" y="2744490"/>
              <a:ext cx="936625" cy="1295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1" name="CaixaDeTexto 26">
              <a:extLst>
                <a:ext uri="{FF2B5EF4-FFF2-40B4-BE49-F238E27FC236}">
                  <a16:creationId xmlns:a16="http://schemas.microsoft.com/office/drawing/2014/main" id="{45D29FFF-7E30-4275-8C73-53DA41590614}"/>
                </a:ext>
              </a:extLst>
            </p:cNvPr>
            <p:cNvSpPr txBox="1"/>
            <p:nvPr/>
          </p:nvSpPr>
          <p:spPr>
            <a:xfrm>
              <a:off x="4029217" y="253817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solidFill>
                    <a:schemeClr val="bg1"/>
                  </a:solidFill>
                </a:rPr>
                <a:t>5 Kb</a:t>
              </a:r>
            </a:p>
          </p:txBody>
        </p:sp>
        <p:sp>
          <p:nvSpPr>
            <p:cNvPr id="32" name="CaixaDeTexto 27">
              <a:extLst>
                <a:ext uri="{FF2B5EF4-FFF2-40B4-BE49-F238E27FC236}">
                  <a16:creationId xmlns:a16="http://schemas.microsoft.com/office/drawing/2014/main" id="{B0787FF7-78D0-4371-852F-B128C5A8A04A}"/>
                </a:ext>
              </a:extLst>
            </p:cNvPr>
            <p:cNvSpPr txBox="1"/>
            <p:nvPr/>
          </p:nvSpPr>
          <p:spPr>
            <a:xfrm>
              <a:off x="4079779" y="413081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solidFill>
                    <a:schemeClr val="bg1"/>
                  </a:solidFill>
                </a:rPr>
                <a:t>3 Kb</a:t>
              </a:r>
            </a:p>
          </p:txBody>
        </p:sp>
        <p:sp>
          <p:nvSpPr>
            <p:cNvPr id="33" name="CaixaDeTexto 28">
              <a:extLst>
                <a:ext uri="{FF2B5EF4-FFF2-40B4-BE49-F238E27FC236}">
                  <a16:creationId xmlns:a16="http://schemas.microsoft.com/office/drawing/2014/main" id="{F2BF7E5E-2EAF-4366-817F-BBC1979197FA}"/>
                </a:ext>
              </a:extLst>
            </p:cNvPr>
            <p:cNvSpPr txBox="1"/>
            <p:nvPr/>
          </p:nvSpPr>
          <p:spPr>
            <a:xfrm>
              <a:off x="4088243" y="5219908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solidFill>
                    <a:schemeClr val="bg1"/>
                  </a:solidFill>
                </a:rPr>
                <a:t>1 Kb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0389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 </a:t>
            </a:r>
            <a:r>
              <a:rPr lang="pt-BR" sz="2400" i="1" dirty="0">
                <a:solidFill>
                  <a:srgbClr val="002060"/>
                </a:solidFill>
                <a:cs typeface="Calibri"/>
              </a:rPr>
              <a:t>Dinâmica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963949"/>
            <a:ext cx="11987840" cy="22477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i="1" dirty="0">
                <a:ea typeface="+mn-lt"/>
                <a:cs typeface="+mn-lt"/>
              </a:rPr>
              <a:t>Alocação particionada dinâmica, </a:t>
            </a:r>
            <a:r>
              <a:rPr lang="pt-BR" sz="2100" dirty="0">
                <a:ea typeface="+mn-lt"/>
                <a:cs typeface="+mn-lt"/>
              </a:rPr>
              <a:t>ou </a:t>
            </a:r>
            <a:r>
              <a:rPr lang="pt-BR" sz="2100" i="1" dirty="0">
                <a:ea typeface="+mn-lt"/>
                <a:cs typeface="+mn-lt"/>
              </a:rPr>
              <a:t>variável, </a:t>
            </a:r>
            <a:r>
              <a:rPr lang="pt-BR" sz="2100" dirty="0">
                <a:ea typeface="+mn-lt"/>
                <a:cs typeface="+mn-lt"/>
              </a:rPr>
              <a:t>foi eliminado o conceito de partições de tamanho fixo;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Cada programa utiliza o </a:t>
            </a:r>
            <a:r>
              <a:rPr lang="pt-BR" sz="2100" i="1" dirty="0">
                <a:ea typeface="+mn-lt"/>
                <a:cs typeface="+mn-lt"/>
              </a:rPr>
              <a:t>espaço necessário</a:t>
            </a:r>
            <a:r>
              <a:rPr lang="pt-BR" sz="2100" dirty="0">
                <a:ea typeface="+mn-lt"/>
                <a:cs typeface="+mn-lt"/>
              </a:rPr>
              <a:t>, tornando essa área sua partição;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Como os programas utilizam apenas o espaço de que necessitam o problema da </a:t>
            </a:r>
            <a:r>
              <a:rPr lang="pt-BR" sz="2100" i="1" dirty="0">
                <a:ea typeface="+mn-lt"/>
                <a:cs typeface="+mn-lt"/>
              </a:rPr>
              <a:t>fragmentação interna </a:t>
            </a:r>
            <a:r>
              <a:rPr lang="pt-BR" sz="2100" dirty="0">
                <a:ea typeface="+mn-lt"/>
                <a:cs typeface="+mn-lt"/>
              </a:rPr>
              <a:t>não ocorre. 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1192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 </a:t>
            </a:r>
            <a:r>
              <a:rPr lang="pt-BR" sz="2400" i="1" dirty="0">
                <a:solidFill>
                  <a:srgbClr val="002060"/>
                </a:solidFill>
                <a:cs typeface="Calibri"/>
              </a:rPr>
              <a:t>Dinâmica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FF4B8AF6-4668-464D-B047-3BDEA13B1B94}"/>
              </a:ext>
            </a:extLst>
          </p:cNvPr>
          <p:cNvGrpSpPr/>
          <p:nvPr/>
        </p:nvGrpSpPr>
        <p:grpSpPr>
          <a:xfrm>
            <a:off x="1307112" y="1711056"/>
            <a:ext cx="8729646" cy="4211186"/>
            <a:chOff x="1335867" y="1337245"/>
            <a:chExt cx="8729646" cy="4211186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DD7E4957-7312-4B08-A8E3-8613345D7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3993" y="1779984"/>
              <a:ext cx="1655762" cy="34163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37CFDEB4-D1F2-4B5E-8990-7EAF5EEA4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830" y="5179099"/>
              <a:ext cx="1660103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/>
                <a:t>SO</a:t>
              </a:r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7BA4BB99-872A-49C1-BA51-E26F41D9A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3251" y="1337245"/>
              <a:ext cx="1976823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latin typeface="+mj-lt"/>
                </a:rPr>
                <a:t>Memória Principal</a:t>
              </a:r>
            </a:p>
          </p:txBody>
        </p:sp>
        <p:sp>
          <p:nvSpPr>
            <p:cNvPr id="11" name="AutoShape 12">
              <a:extLst>
                <a:ext uri="{FF2B5EF4-FFF2-40B4-BE49-F238E27FC236}">
                  <a16:creationId xmlns:a16="http://schemas.microsoft.com/office/drawing/2014/main" id="{28003513-3B3D-4B72-A2E7-D96855A7D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093" y="1812598"/>
              <a:ext cx="146050" cy="3348000"/>
            </a:xfrm>
            <a:prstGeom prst="leftBrace">
              <a:avLst>
                <a:gd name="adj1" fmla="val 18904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63FA8FD0-CAFC-4EC6-A509-5E9FF7F3F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5867" y="3327341"/>
              <a:ext cx="1121204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/>
                <a:t>Área Livre</a:t>
              </a:r>
            </a:p>
          </p:txBody>
        </p:sp>
        <p:sp>
          <p:nvSpPr>
            <p:cNvPr id="13" name="Rectangle 29">
              <a:extLst>
                <a:ext uri="{FF2B5EF4-FFF2-40B4-BE49-F238E27FC236}">
                  <a16:creationId xmlns:a16="http://schemas.microsoft.com/office/drawing/2014/main" id="{D7F3F9F0-913E-4BEA-8476-9BCA1979B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1133" y="1779984"/>
              <a:ext cx="1655763" cy="34163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</p:txBody>
        </p:sp>
        <p:sp>
          <p:nvSpPr>
            <p:cNvPr id="14" name="Rectangle 30">
              <a:extLst>
                <a:ext uri="{FF2B5EF4-FFF2-40B4-BE49-F238E27FC236}">
                  <a16:creationId xmlns:a16="http://schemas.microsoft.com/office/drawing/2014/main" id="{EAEFB397-0602-4977-BDF0-24E90A848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4308" y="5165244"/>
              <a:ext cx="1655763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/>
                <a:t>SO</a:t>
              </a:r>
            </a:p>
          </p:txBody>
        </p:sp>
        <p:sp>
          <p:nvSpPr>
            <p:cNvPr id="15" name="Rectangle 35">
              <a:extLst>
                <a:ext uri="{FF2B5EF4-FFF2-40B4-BE49-F238E27FC236}">
                  <a16:creationId xmlns:a16="http://schemas.microsoft.com/office/drawing/2014/main" id="{FA9D7253-60E9-48D6-AE2E-A4994764B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2718" y="4800480"/>
              <a:ext cx="165735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" name="Text Box 36">
              <a:extLst>
                <a:ext uri="{FF2B5EF4-FFF2-40B4-BE49-F238E27FC236}">
                  <a16:creationId xmlns:a16="http://schemas.microsoft.com/office/drawing/2014/main" id="{64178565-4215-43D0-87F5-DBF822DD2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7680" y="4840687"/>
              <a:ext cx="914802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Programa A</a:t>
              </a:r>
            </a:p>
          </p:txBody>
        </p:sp>
        <p:grpSp>
          <p:nvGrpSpPr>
            <p:cNvPr id="17" name="Group 47">
              <a:extLst>
                <a:ext uri="{FF2B5EF4-FFF2-40B4-BE49-F238E27FC236}">
                  <a16:creationId xmlns:a16="http://schemas.microsoft.com/office/drawing/2014/main" id="{84C8B258-54C5-4459-AC17-74488C7431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72718" y="4261252"/>
              <a:ext cx="1657350" cy="369888"/>
              <a:chOff x="7872718" y="4261252"/>
              <a:chExt cx="1044" cy="233"/>
            </a:xfrm>
            <a:solidFill>
              <a:schemeClr val="bg1">
                <a:lumMod val="85000"/>
              </a:schemeClr>
            </a:solidFill>
          </p:grpSpPr>
          <p:sp>
            <p:nvSpPr>
              <p:cNvPr id="34" name="Rectangle 37">
                <a:extLst>
                  <a:ext uri="{FF2B5EF4-FFF2-40B4-BE49-F238E27FC236}">
                    <a16:creationId xmlns:a16="http://schemas.microsoft.com/office/drawing/2014/main" id="{F4C7549B-26E9-4035-98C0-D7EA78B7D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72718" y="4261252"/>
                <a:ext cx="1044" cy="233"/>
              </a:xfrm>
              <a:prstGeom prst="rect">
                <a:avLst/>
              </a:prstGeom>
              <a:grpFill/>
              <a:ln w="31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35" name="Text Box 38">
                <a:extLst>
                  <a:ext uri="{FF2B5EF4-FFF2-40B4-BE49-F238E27FC236}">
                    <a16:creationId xmlns:a16="http://schemas.microsoft.com/office/drawing/2014/main" id="{4398379F-4C79-4C0B-B300-55C1A872D0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72929" y="4261278"/>
                <a:ext cx="572" cy="174"/>
              </a:xfrm>
              <a:prstGeom prst="rect">
                <a:avLst/>
              </a:prstGeom>
              <a:grp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B</a:t>
                </a:r>
              </a:p>
            </p:txBody>
          </p:sp>
        </p:grpSp>
        <p:grpSp>
          <p:nvGrpSpPr>
            <p:cNvPr id="18" name="Group 51">
              <a:extLst>
                <a:ext uri="{FF2B5EF4-FFF2-40B4-BE49-F238E27FC236}">
                  <a16:creationId xmlns:a16="http://schemas.microsoft.com/office/drawing/2014/main" id="{21F43B9D-DE55-4710-B7FE-EBA23F247C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72718" y="2497538"/>
              <a:ext cx="1657350" cy="369888"/>
              <a:chOff x="7872718" y="2497538"/>
              <a:chExt cx="1044" cy="233"/>
            </a:xfrm>
            <a:solidFill>
              <a:schemeClr val="bg1">
                <a:lumMod val="85000"/>
              </a:schemeClr>
            </a:solidFill>
          </p:grpSpPr>
          <p:sp>
            <p:nvSpPr>
              <p:cNvPr id="32" name="Rectangle 39">
                <a:extLst>
                  <a:ext uri="{FF2B5EF4-FFF2-40B4-BE49-F238E27FC236}">
                    <a16:creationId xmlns:a16="http://schemas.microsoft.com/office/drawing/2014/main" id="{13B26947-7373-4766-A597-890E35CFC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72718" y="2497538"/>
                <a:ext cx="1044" cy="233"/>
              </a:xfrm>
              <a:prstGeom prst="rect">
                <a:avLst/>
              </a:prstGeom>
              <a:grpFill/>
              <a:ln w="31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33" name="Text Box 40">
                <a:extLst>
                  <a:ext uri="{FF2B5EF4-FFF2-40B4-BE49-F238E27FC236}">
                    <a16:creationId xmlns:a16="http://schemas.microsoft.com/office/drawing/2014/main" id="{87FE3F00-6730-499D-ABED-88C7CD31F5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72929" y="2497563"/>
                <a:ext cx="567" cy="174"/>
              </a:xfrm>
              <a:prstGeom prst="rect">
                <a:avLst/>
              </a:prstGeom>
              <a:grp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E</a:t>
                </a:r>
              </a:p>
            </p:txBody>
          </p:sp>
        </p:grp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id="{6459B375-4198-4B6B-80C7-E0A04069D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2718" y="3216155"/>
              <a:ext cx="165735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" name="Text Box 42">
              <a:extLst>
                <a:ext uri="{FF2B5EF4-FFF2-40B4-BE49-F238E27FC236}">
                  <a16:creationId xmlns:a16="http://schemas.microsoft.com/office/drawing/2014/main" id="{8B5F9F15-99AF-4973-9870-97E837A3D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9271" y="3256362"/>
              <a:ext cx="919611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Programa D</a:t>
              </a:r>
            </a:p>
          </p:txBody>
        </p:sp>
        <p:sp>
          <p:nvSpPr>
            <p:cNvPr id="21" name="Rectangle 44">
              <a:extLst>
                <a:ext uri="{FF2B5EF4-FFF2-40B4-BE49-F238E27FC236}">
                  <a16:creationId xmlns:a16="http://schemas.microsoft.com/office/drawing/2014/main" id="{3DF835BE-5AEE-411D-A132-9BA5CDCE7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2718" y="3792418"/>
              <a:ext cx="165735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Text Box 45">
              <a:extLst>
                <a:ext uri="{FF2B5EF4-FFF2-40B4-BE49-F238E27FC236}">
                  <a16:creationId xmlns:a16="http://schemas.microsoft.com/office/drawing/2014/main" id="{93F1E9CF-7562-4C11-8B6B-5B3120088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9271" y="3832624"/>
              <a:ext cx="90678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Programa C</a:t>
              </a:r>
            </a:p>
          </p:txBody>
        </p:sp>
        <p:sp>
          <p:nvSpPr>
            <p:cNvPr id="23" name="Text Box 52">
              <a:extLst>
                <a:ext uri="{FF2B5EF4-FFF2-40B4-BE49-F238E27FC236}">
                  <a16:creationId xmlns:a16="http://schemas.microsoft.com/office/drawing/2014/main" id="{E1F119CC-F4EE-4A10-A69B-A67371E93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6908" y="3356992"/>
              <a:ext cx="728084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/>
                <a:t>18 KB</a:t>
              </a:r>
            </a:p>
          </p:txBody>
        </p:sp>
        <p:sp>
          <p:nvSpPr>
            <p:cNvPr id="24" name="Text Box 53">
              <a:extLst>
                <a:ext uri="{FF2B5EF4-FFF2-40B4-BE49-F238E27FC236}">
                  <a16:creationId xmlns:a16="http://schemas.microsoft.com/office/drawing/2014/main" id="{C5DA0748-B321-4487-9357-3C31F53B0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8643" y="3832624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1 KB</a:t>
              </a:r>
            </a:p>
          </p:txBody>
        </p:sp>
        <p:sp>
          <p:nvSpPr>
            <p:cNvPr id="25" name="Text Box 54">
              <a:extLst>
                <a:ext uri="{FF2B5EF4-FFF2-40B4-BE49-F238E27FC236}">
                  <a16:creationId xmlns:a16="http://schemas.microsoft.com/office/drawing/2014/main" id="{049820DE-BBFE-4CF7-A783-C601B3E7FD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8643" y="3257949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6 KB</a:t>
              </a:r>
            </a:p>
          </p:txBody>
        </p:sp>
        <p:sp>
          <p:nvSpPr>
            <p:cNvPr id="26" name="Text Box 55">
              <a:extLst>
                <a:ext uri="{FF2B5EF4-FFF2-40B4-BE49-F238E27FC236}">
                  <a16:creationId xmlns:a16="http://schemas.microsoft.com/office/drawing/2014/main" id="{19B10614-02FE-47EE-9724-FCB0F0277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8643" y="2537224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3 KB</a:t>
              </a:r>
            </a:p>
          </p:txBody>
        </p:sp>
        <p:sp>
          <p:nvSpPr>
            <p:cNvPr id="27" name="Text Box 56">
              <a:extLst>
                <a:ext uri="{FF2B5EF4-FFF2-40B4-BE49-F238E27FC236}">
                  <a16:creationId xmlns:a16="http://schemas.microsoft.com/office/drawing/2014/main" id="{F76151D3-81F0-4B6D-B266-6C0BAF9EBE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8643" y="1960962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2 KB</a:t>
              </a:r>
            </a:p>
          </p:txBody>
        </p:sp>
        <p:sp>
          <p:nvSpPr>
            <p:cNvPr id="28" name="Text Box 57">
              <a:extLst>
                <a:ext uri="{FF2B5EF4-FFF2-40B4-BE49-F238E27FC236}">
                  <a16:creationId xmlns:a16="http://schemas.microsoft.com/office/drawing/2014/main" id="{53D86349-707E-4D81-9B52-D44234315B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8643" y="4319987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4 KB</a:t>
              </a:r>
            </a:p>
          </p:txBody>
        </p:sp>
        <p:sp>
          <p:nvSpPr>
            <p:cNvPr id="29" name="Text Box 58">
              <a:extLst>
                <a:ext uri="{FF2B5EF4-FFF2-40B4-BE49-F238E27FC236}">
                  <a16:creationId xmlns:a16="http://schemas.microsoft.com/office/drawing/2014/main" id="{E4C3B2FC-2E8E-4633-B9CC-7F99230F1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8643" y="4824812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2 KB</a:t>
              </a:r>
            </a:p>
          </p:txBody>
        </p:sp>
        <p:sp>
          <p:nvSpPr>
            <p:cNvPr id="30" name="Text Box 60">
              <a:extLst>
                <a:ext uri="{FF2B5EF4-FFF2-40B4-BE49-F238E27FC236}">
                  <a16:creationId xmlns:a16="http://schemas.microsoft.com/office/drawing/2014/main" id="{0AC7A374-46B6-4D96-A56C-136DD0709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7371" y="1938737"/>
              <a:ext cx="824008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b="1" dirty="0"/>
                <a:t>Área Livre</a:t>
              </a:r>
            </a:p>
          </p:txBody>
        </p:sp>
        <p:sp>
          <p:nvSpPr>
            <p:cNvPr id="31" name="Text Box 61">
              <a:extLst>
                <a:ext uri="{FF2B5EF4-FFF2-40B4-BE49-F238E27FC236}">
                  <a16:creationId xmlns:a16="http://schemas.microsoft.com/office/drawing/2014/main" id="{94BEAABD-EEAC-447B-8D92-22826EF68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2184" y="1340768"/>
              <a:ext cx="1976823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latin typeface="+mj-lt"/>
                </a:rPr>
                <a:t>Memória Principal</a:t>
              </a:r>
            </a:p>
          </p:txBody>
        </p:sp>
      </p:grpSp>
      <p:sp>
        <p:nvSpPr>
          <p:cNvPr id="7" name="AutoShape 59">
            <a:extLst>
              <a:ext uri="{FF2B5EF4-FFF2-40B4-BE49-F238E27FC236}">
                <a16:creationId xmlns:a16="http://schemas.microsoft.com/office/drawing/2014/main" id="{F25F24AA-F677-47B6-90A2-E92CE7AF8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079" y="3433618"/>
            <a:ext cx="1781389" cy="733663"/>
          </a:xfrm>
          <a:prstGeom prst="rightArrow">
            <a:avLst>
              <a:gd name="adj1" fmla="val 50000"/>
              <a:gd name="adj2" fmla="val 68733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903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 </a:t>
            </a:r>
            <a:r>
              <a:rPr lang="pt-BR" sz="2400" i="1" dirty="0">
                <a:solidFill>
                  <a:srgbClr val="002060"/>
                </a:solidFill>
                <a:cs typeface="Calibri"/>
              </a:rPr>
              <a:t>Dinâmica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762666"/>
            <a:ext cx="11987840" cy="2093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princípio, o problema da fragmentação interna está resolvido, porém nesse caso existe um OUTRO problema;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Quando os programas terminam eles deixam espaços cada vez menores na memória, não permitindo o ingresso de novos programas;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Isto acontece porque os programas necessitam de endereços contíguos na memória principal;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A este tipo de problema dá-se o nome de </a:t>
            </a:r>
            <a:r>
              <a:rPr lang="pt-BR" sz="2100" i="1" dirty="0">
                <a:ea typeface="+mn-lt"/>
                <a:cs typeface="+mn-lt"/>
              </a:rPr>
              <a:t>fragmentação externa</a:t>
            </a:r>
            <a:r>
              <a:rPr lang="pt-BR" sz="2100" dirty="0">
                <a:ea typeface="+mn-lt"/>
                <a:cs typeface="+mn-lt"/>
              </a:rPr>
              <a:t>.</a:t>
            </a:r>
            <a:endParaRPr lang="en-US" sz="2100" dirty="0">
              <a:ea typeface="+mn-lt"/>
              <a:cs typeface="+mn-lt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657EA08-7539-4CBC-92DA-CB3CD9966AAE}"/>
              </a:ext>
            </a:extLst>
          </p:cNvPr>
          <p:cNvSpPr/>
          <p:nvPr/>
        </p:nvSpPr>
        <p:spPr>
          <a:xfrm>
            <a:off x="1555711" y="4724538"/>
            <a:ext cx="9077223" cy="1477328"/>
          </a:xfrm>
          <a:prstGeom prst="rect">
            <a:avLst/>
          </a:prstGeom>
          <a:solidFill>
            <a:srgbClr val="ED7D31"/>
          </a:solidFill>
          <a:ln w="57150">
            <a:solidFill>
              <a:srgbClr val="002060"/>
            </a:solidFill>
            <a:prstDash val="sysDot"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accent6">
                  <a:lumMod val="75000"/>
                </a:schemeClr>
              </a:buClr>
            </a:pPr>
            <a:endParaRPr lang="pt-BR" sz="3000" b="1" dirty="0"/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pt-BR" sz="3000" b="1" dirty="0"/>
              <a:t>Pode haver memória disponível, mas </a:t>
            </a:r>
            <a:r>
              <a:rPr lang="pt-BR" sz="3000" b="1" i="1" dirty="0"/>
              <a:t>não contígua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endParaRPr lang="pt-BR" sz="3000" b="1" dirty="0"/>
          </a:p>
        </p:txBody>
      </p:sp>
    </p:spTree>
    <p:extLst>
      <p:ext uri="{BB962C8B-B14F-4D97-AF65-F5344CB8AC3E}">
        <p14:creationId xmlns:p14="http://schemas.microsoft.com/office/powerpoint/2010/main" val="1304779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 </a:t>
            </a:r>
            <a:r>
              <a:rPr lang="pt-BR" sz="2400" i="1" dirty="0">
                <a:solidFill>
                  <a:srgbClr val="002060"/>
                </a:solidFill>
                <a:cs typeface="Calibri"/>
              </a:rPr>
              <a:t>Dinâmica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7685B85-83C3-4529-9ECB-D037BC24F56E}"/>
              </a:ext>
            </a:extLst>
          </p:cNvPr>
          <p:cNvGrpSpPr/>
          <p:nvPr/>
        </p:nvGrpSpPr>
        <p:grpSpPr>
          <a:xfrm>
            <a:off x="2208213" y="1628800"/>
            <a:ext cx="4264560" cy="4200247"/>
            <a:chOff x="2208213" y="1628800"/>
            <a:chExt cx="4264560" cy="4200247"/>
          </a:xfrm>
        </p:grpSpPr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6590C33E-A136-4C7B-9451-46FF84ACB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378" y="2060600"/>
              <a:ext cx="1655763" cy="34163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FF5CE452-491B-450F-B6BB-DA88D863C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409" y="5459715"/>
              <a:ext cx="1655763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b="1" dirty="0"/>
                <a:t>SO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0CB0A81D-6C4A-4F6F-8243-7B4F17EEB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6118" y="5093593"/>
              <a:ext cx="80733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Área Livre</a:t>
              </a:r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ADDEA8CC-3948-459B-BC02-07A373E2BC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1963" y="4541876"/>
              <a:ext cx="1657350" cy="468314"/>
              <a:chOff x="4271963" y="4541876"/>
              <a:chExt cx="1044" cy="295"/>
            </a:xfrm>
            <a:solidFill>
              <a:schemeClr val="bg1">
                <a:lumMod val="85000"/>
              </a:schemeClr>
            </a:solidFill>
          </p:grpSpPr>
          <p:sp>
            <p:nvSpPr>
              <p:cNvPr id="34" name="Rectangle 14">
                <a:extLst>
                  <a:ext uri="{FF2B5EF4-FFF2-40B4-BE49-F238E27FC236}">
                    <a16:creationId xmlns:a16="http://schemas.microsoft.com/office/drawing/2014/main" id="{5ABAFD48-267C-4802-9CD2-D17880809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1963" y="4541876"/>
                <a:ext cx="1044" cy="295"/>
              </a:xfrm>
              <a:prstGeom prst="rect">
                <a:avLst/>
              </a:prstGeom>
              <a:grp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35" name="Text Box 15">
                <a:extLst>
                  <a:ext uri="{FF2B5EF4-FFF2-40B4-BE49-F238E27FC236}">
                    <a16:creationId xmlns:a16="http://schemas.microsoft.com/office/drawing/2014/main" id="{10C5FFAB-FFD8-4CE6-A0A2-666FC3B407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174" y="4541938"/>
                <a:ext cx="572" cy="174"/>
              </a:xfrm>
              <a:prstGeom prst="rect">
                <a:avLst/>
              </a:prstGeom>
              <a:grp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B</a:t>
                </a: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2CDB0B7F-E47B-4649-B231-2E9AA913E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5613" y="2721902"/>
              <a:ext cx="1657350" cy="368848"/>
              <a:chOff x="4265613" y="2721902"/>
              <a:chExt cx="1044" cy="195"/>
            </a:xfrm>
            <a:solidFill>
              <a:schemeClr val="bg1">
                <a:lumMod val="85000"/>
              </a:schemeClr>
            </a:solidFill>
          </p:grpSpPr>
          <p:sp>
            <p:nvSpPr>
              <p:cNvPr id="32" name="Rectangle 17">
                <a:extLst>
                  <a:ext uri="{FF2B5EF4-FFF2-40B4-BE49-F238E27FC236}">
                    <a16:creationId xmlns:a16="http://schemas.microsoft.com/office/drawing/2014/main" id="{668B3F9E-5AAF-4F4D-89E4-2D184A5065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5613" y="2721902"/>
                <a:ext cx="1044" cy="195"/>
              </a:xfrm>
              <a:prstGeom prst="rect">
                <a:avLst/>
              </a:prstGeom>
              <a:grp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33" name="Text Box 18">
                <a:extLst>
                  <a:ext uri="{FF2B5EF4-FFF2-40B4-BE49-F238E27FC236}">
                    <a16:creationId xmlns:a16="http://schemas.microsoft.com/office/drawing/2014/main" id="{2A9A9915-1928-4A93-9E0D-62CEE4B7EB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5828" y="2721929"/>
                <a:ext cx="567" cy="146"/>
              </a:xfrm>
              <a:prstGeom prst="rect">
                <a:avLst/>
              </a:prstGeom>
              <a:grp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E</a:t>
                </a:r>
              </a:p>
            </p:txBody>
          </p:sp>
        </p:grp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F5AD9B5A-11C2-436F-8580-2940F9AF7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1963" y="3496771"/>
              <a:ext cx="1657350" cy="64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B41E12C1-5933-4006-93CE-660A7D9A0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4465" y="3686500"/>
              <a:ext cx="919611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Programa D</a:t>
              </a:r>
            </a:p>
          </p:txBody>
        </p:sp>
        <p:sp>
          <p:nvSpPr>
            <p:cNvPr id="19" name="Text Box 22">
              <a:extLst>
                <a:ext uri="{FF2B5EF4-FFF2-40B4-BE49-F238E27FC236}">
                  <a16:creationId xmlns:a16="http://schemas.microsoft.com/office/drawing/2014/main" id="{21278D19-97B7-4608-967F-C6750717C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7026" y="4204411"/>
              <a:ext cx="80733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Área Livre</a:t>
              </a:r>
            </a:p>
          </p:txBody>
        </p:sp>
        <p:sp>
          <p:nvSpPr>
            <p:cNvPr id="20" name="Text Box 24">
              <a:extLst>
                <a:ext uri="{FF2B5EF4-FFF2-40B4-BE49-F238E27FC236}">
                  <a16:creationId xmlns:a16="http://schemas.microsoft.com/office/drawing/2014/main" id="{F64D94AE-82C2-4751-8E2D-22DCB141A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4154805"/>
              <a:ext cx="514885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b="1" dirty="0">
                  <a:solidFill>
                    <a:srgbClr val="FF0000"/>
                  </a:solidFill>
                </a:rPr>
                <a:t>1 KB</a:t>
              </a:r>
            </a:p>
          </p:txBody>
        </p:sp>
        <p:sp>
          <p:nvSpPr>
            <p:cNvPr id="21" name="Text Box 26">
              <a:extLst>
                <a:ext uri="{FF2B5EF4-FFF2-40B4-BE49-F238E27FC236}">
                  <a16:creationId xmlns:a16="http://schemas.microsoft.com/office/drawing/2014/main" id="{E0C2C575-EF4E-4126-B1ED-C3E3FE8FB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3093513"/>
              <a:ext cx="514885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b="1" dirty="0">
                  <a:solidFill>
                    <a:srgbClr val="FF0000"/>
                  </a:solidFill>
                </a:rPr>
                <a:t>2 KB</a:t>
              </a:r>
            </a:p>
          </p:txBody>
        </p:sp>
        <p:sp>
          <p:nvSpPr>
            <p:cNvPr id="22" name="Text Box 27">
              <a:extLst>
                <a:ext uri="{FF2B5EF4-FFF2-40B4-BE49-F238E27FC236}">
                  <a16:creationId xmlns:a16="http://schemas.microsoft.com/office/drawing/2014/main" id="{D7C1D4D6-DFBA-429B-BBDA-DB622AD90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2241578"/>
              <a:ext cx="514885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b="1" dirty="0">
                  <a:solidFill>
                    <a:srgbClr val="FF0000"/>
                  </a:solidFill>
                </a:rPr>
                <a:t>3 KB</a:t>
              </a:r>
            </a:p>
          </p:txBody>
        </p:sp>
        <p:sp>
          <p:nvSpPr>
            <p:cNvPr id="23" name="Text Box 29">
              <a:extLst>
                <a:ext uri="{FF2B5EF4-FFF2-40B4-BE49-F238E27FC236}">
                  <a16:creationId xmlns:a16="http://schemas.microsoft.com/office/drawing/2014/main" id="{8975BCA2-C07A-4C29-81FC-83933824D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5063863"/>
              <a:ext cx="514885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b="1" dirty="0">
                  <a:solidFill>
                    <a:srgbClr val="FF0000"/>
                  </a:solidFill>
                </a:rPr>
                <a:t>2 KB</a:t>
              </a:r>
            </a:p>
          </p:txBody>
        </p:sp>
        <p:sp>
          <p:nvSpPr>
            <p:cNvPr id="24" name="Text Box 31">
              <a:extLst>
                <a:ext uri="{FF2B5EF4-FFF2-40B4-BE49-F238E27FC236}">
                  <a16:creationId xmlns:a16="http://schemas.microsoft.com/office/drawing/2014/main" id="{1F289145-80D0-4EA7-B9DA-AD7CAAD01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616" y="2219353"/>
              <a:ext cx="80733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Área Livre</a:t>
              </a:r>
            </a:p>
          </p:txBody>
        </p:sp>
        <p:sp>
          <p:nvSpPr>
            <p:cNvPr id="25" name="Text Box 32">
              <a:extLst>
                <a:ext uri="{FF2B5EF4-FFF2-40B4-BE49-F238E27FC236}">
                  <a16:creationId xmlns:a16="http://schemas.microsoft.com/office/drawing/2014/main" id="{2E1A6792-9E84-48B6-93C2-A3354F7C6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3007" y="1628800"/>
              <a:ext cx="1976823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latin typeface="+mj-lt"/>
                </a:rPr>
                <a:t>Memória Principal</a:t>
              </a:r>
            </a:p>
          </p:txBody>
        </p:sp>
        <p:grpSp>
          <p:nvGrpSpPr>
            <p:cNvPr id="26" name="Group 33">
              <a:extLst>
                <a:ext uri="{FF2B5EF4-FFF2-40B4-BE49-F238E27FC236}">
                  <a16:creationId xmlns:a16="http://schemas.microsoft.com/office/drawing/2014/main" id="{8106AA6B-A57A-41E2-AECD-FBD0C7D878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213" y="3457604"/>
              <a:ext cx="679449" cy="927101"/>
              <a:chOff x="2208213" y="3457604"/>
              <a:chExt cx="428" cy="584"/>
            </a:xfrm>
          </p:grpSpPr>
          <p:sp>
            <p:nvSpPr>
              <p:cNvPr id="29" name="Oval 34">
                <a:extLst>
                  <a:ext uri="{FF2B5EF4-FFF2-40B4-BE49-F238E27FC236}">
                    <a16:creationId xmlns:a16="http://schemas.microsoft.com/office/drawing/2014/main" id="{20119250-4C62-4E0F-8FA5-3BBF234E6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235" y="3457604"/>
                <a:ext cx="327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30" name="Text Box 35">
                <a:extLst>
                  <a:ext uri="{FF2B5EF4-FFF2-40B4-BE49-F238E27FC236}">
                    <a16:creationId xmlns:a16="http://schemas.microsoft.com/office/drawing/2014/main" id="{AF476477-21AD-4D04-903F-C4AC3731D0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311" y="3457650"/>
                <a:ext cx="183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/>
                  <a:t>F</a:t>
                </a:r>
              </a:p>
            </p:txBody>
          </p:sp>
          <p:sp>
            <p:nvSpPr>
              <p:cNvPr id="31" name="Text Box 36">
                <a:extLst>
                  <a:ext uri="{FF2B5EF4-FFF2-40B4-BE49-F238E27FC236}">
                    <a16:creationId xmlns:a16="http://schemas.microsoft.com/office/drawing/2014/main" id="{38A981FE-6771-456E-9468-5DDD0229D0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213" y="3457926"/>
                <a:ext cx="428" cy="26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100" b="1" dirty="0"/>
                  <a:t>4 KB</a:t>
                </a:r>
              </a:p>
            </p:txBody>
          </p:sp>
        </p:grpSp>
        <p:sp>
          <p:nvSpPr>
            <p:cNvPr id="27" name="Line 37">
              <a:extLst>
                <a:ext uri="{FF2B5EF4-FFF2-40B4-BE49-F238E27FC236}">
                  <a16:creationId xmlns:a16="http://schemas.microsoft.com/office/drawing/2014/main" id="{511CC070-B30F-4FEC-958F-8FA100E1F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7350" y="3754462"/>
              <a:ext cx="863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8" name="Text Box 38">
              <a:extLst>
                <a:ext uri="{FF2B5EF4-FFF2-40B4-BE49-F238E27FC236}">
                  <a16:creationId xmlns:a16="http://schemas.microsoft.com/office/drawing/2014/main" id="{DE42185B-7448-4331-A15F-316A06F28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589" y="3404350"/>
              <a:ext cx="385042" cy="6463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600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sp>
        <p:nvSpPr>
          <p:cNvPr id="8" name="Text Box 39">
            <a:extLst>
              <a:ext uri="{FF2B5EF4-FFF2-40B4-BE49-F238E27FC236}">
                <a16:creationId xmlns:a16="http://schemas.microsoft.com/office/drawing/2014/main" id="{37EA3A27-5E53-4806-8238-E8973E3CC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2184" y="3681437"/>
            <a:ext cx="256442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/>
              <a:t>Fragmentação Externa</a:t>
            </a:r>
          </a:p>
        </p:txBody>
      </p:sp>
      <p:sp>
        <p:nvSpPr>
          <p:cNvPr id="9" name="Line 40">
            <a:extLst>
              <a:ext uri="{FF2B5EF4-FFF2-40B4-BE49-F238E27FC236}">
                <a16:creationId xmlns:a16="http://schemas.microsoft.com/office/drawing/2014/main" id="{DD9FFC75-B829-449E-BA23-DCC5A1BC28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0825" y="2386037"/>
            <a:ext cx="10795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/>
          </a:p>
        </p:txBody>
      </p:sp>
      <p:sp>
        <p:nvSpPr>
          <p:cNvPr id="10" name="Line 41">
            <a:extLst>
              <a:ext uri="{FF2B5EF4-FFF2-40B4-BE49-F238E27FC236}">
                <a16:creationId xmlns:a16="http://schemas.microsoft.com/office/drawing/2014/main" id="{7366F786-A07C-4FF8-9034-67045F1015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0828" y="3897340"/>
            <a:ext cx="10080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/>
          </a:p>
        </p:txBody>
      </p:sp>
      <p:sp>
        <p:nvSpPr>
          <p:cNvPr id="11" name="Line 42">
            <a:extLst>
              <a:ext uri="{FF2B5EF4-FFF2-40B4-BE49-F238E27FC236}">
                <a16:creationId xmlns:a16="http://schemas.microsoft.com/office/drawing/2014/main" id="{B4901F0B-87F8-4028-8F94-717FB50666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0825" y="4113237"/>
            <a:ext cx="1079500" cy="1081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111829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 </a:t>
            </a:r>
            <a:r>
              <a:rPr lang="pt-BR" sz="2400" i="1" dirty="0">
                <a:solidFill>
                  <a:srgbClr val="002060"/>
                </a:solidFill>
                <a:cs typeface="Calibri"/>
              </a:rPr>
              <a:t>Dinâmica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66137" y="1230704"/>
            <a:ext cx="11987840" cy="725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 err="1">
                <a:ea typeface="+mn-lt"/>
                <a:cs typeface="+mn-lt"/>
              </a:rPr>
              <a:t>Ex</a:t>
            </a:r>
            <a:r>
              <a:rPr lang="pt-BR" sz="2100" b="1" dirty="0">
                <a:ea typeface="+mn-lt"/>
                <a:cs typeface="+mn-lt"/>
              </a:rPr>
              <a:t>:</a:t>
            </a:r>
            <a:r>
              <a:rPr lang="pt-BR" sz="2100" dirty="0">
                <a:ea typeface="+mn-lt"/>
                <a:cs typeface="+mn-lt"/>
              </a:rPr>
              <a:t> Possível solução para a fragmentação externa</a:t>
            </a:r>
            <a:endParaRPr lang="en-US" sz="2100" dirty="0">
              <a:ea typeface="+mn-lt"/>
              <a:cs typeface="+mn-lt"/>
            </a:endParaRPr>
          </a:p>
          <a:p>
            <a:pPr marL="469265" lvl="1" algn="just">
              <a:lnSpc>
                <a:spcPct val="90000"/>
              </a:lnSpc>
              <a:spcBef>
                <a:spcPts val="375"/>
              </a:spcBef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A72DAE4-4912-4A3B-9C98-5C82DCA1869C}"/>
              </a:ext>
            </a:extLst>
          </p:cNvPr>
          <p:cNvSpPr/>
          <p:nvPr/>
        </p:nvSpPr>
        <p:spPr>
          <a:xfrm>
            <a:off x="1796564" y="6177972"/>
            <a:ext cx="8593164" cy="4770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265" lvl="1" algn="ctr">
              <a:buClr>
                <a:schemeClr val="accent6">
                  <a:lumMod val="75000"/>
                </a:schemeClr>
              </a:buClr>
            </a:pPr>
            <a:r>
              <a:rPr lang="pt-BR" sz="2500" b="1" dirty="0"/>
              <a:t>Reunir espaços adjacentes de memória</a:t>
            </a:r>
            <a:endParaRPr lang="pt-BR"/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846F66DC-74CE-4837-AC7B-77C94340CF61}"/>
              </a:ext>
            </a:extLst>
          </p:cNvPr>
          <p:cNvGrpSpPr/>
          <p:nvPr/>
        </p:nvGrpSpPr>
        <p:grpSpPr>
          <a:xfrm>
            <a:off x="709777" y="1815463"/>
            <a:ext cx="9868348" cy="4224994"/>
            <a:chOff x="709777" y="1815463"/>
            <a:chExt cx="9868348" cy="4224994"/>
          </a:xfrm>
        </p:grpSpPr>
        <p:sp>
          <p:nvSpPr>
            <p:cNvPr id="6" name="Text Box 52">
              <a:extLst>
                <a:ext uri="{FF2B5EF4-FFF2-40B4-BE49-F238E27FC236}">
                  <a16:creationId xmlns:a16="http://schemas.microsoft.com/office/drawing/2014/main" id="{D6AA253E-3C21-40E6-B497-C78A4522A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1123" y="3039599"/>
              <a:ext cx="2377446" cy="44627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2300" b="1" dirty="0"/>
                <a:t>Desfragmentando</a:t>
              </a: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54068962-7943-4D79-8064-B6216F69CE90}"/>
                </a:ext>
              </a:extLst>
            </p:cNvPr>
            <p:cNvGrpSpPr/>
            <p:nvPr/>
          </p:nvGrpSpPr>
          <p:grpSpPr>
            <a:xfrm>
              <a:off x="709777" y="1840210"/>
              <a:ext cx="4264560" cy="4200247"/>
              <a:chOff x="695400" y="1509531"/>
              <a:chExt cx="4264560" cy="4200247"/>
            </a:xfrm>
          </p:grpSpPr>
          <p:sp>
            <p:nvSpPr>
              <p:cNvPr id="25" name="Rectangle 9">
                <a:extLst>
                  <a:ext uri="{FF2B5EF4-FFF2-40B4-BE49-F238E27FC236}">
                    <a16:creationId xmlns:a16="http://schemas.microsoft.com/office/drawing/2014/main" id="{C3196A5A-FBA5-49D3-BFD5-4DE870B2C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7565" y="1941331"/>
                <a:ext cx="1655763" cy="34163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  <a:p>
                <a:endParaRPr lang="pt-BR"/>
              </a:p>
              <a:p>
                <a:endParaRPr lang="pt-BR"/>
              </a:p>
              <a:p>
                <a:endParaRPr lang="pt-BR"/>
              </a:p>
              <a:p>
                <a:endParaRPr lang="pt-BR"/>
              </a:p>
              <a:p>
                <a:endParaRPr lang="pt-BR"/>
              </a:p>
              <a:p>
                <a:endParaRPr lang="pt-BR"/>
              </a:p>
              <a:p>
                <a:endParaRPr lang="pt-BR"/>
              </a:p>
              <a:p>
                <a:endParaRPr lang="pt-BR"/>
              </a:p>
              <a:p>
                <a:endParaRPr lang="pt-BR"/>
              </a:p>
              <a:p>
                <a:endParaRPr lang="pt-BR"/>
              </a:p>
              <a:p>
                <a:endParaRPr lang="pt-BR"/>
              </a:p>
            </p:txBody>
          </p:sp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0AFE06E8-5342-49DF-9BAC-D4157060B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596" y="5340446"/>
                <a:ext cx="1655763" cy="36933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pt-BR" b="1" dirty="0"/>
                  <a:t>SO</a:t>
                </a:r>
              </a:p>
            </p:txBody>
          </p:sp>
          <p:sp>
            <p:nvSpPr>
              <p:cNvPr id="27" name="Text Box 12">
                <a:extLst>
                  <a:ext uri="{FF2B5EF4-FFF2-40B4-BE49-F238E27FC236}">
                    <a16:creationId xmlns:a16="http://schemas.microsoft.com/office/drawing/2014/main" id="{6CDC58E4-8EFF-46BE-89F0-C8E02D6B9F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83305" y="4974324"/>
                <a:ext cx="807337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Área Livre</a:t>
                </a:r>
              </a:p>
            </p:txBody>
          </p:sp>
          <p:grpSp>
            <p:nvGrpSpPr>
              <p:cNvPr id="28" name="Group 13">
                <a:extLst>
                  <a:ext uri="{FF2B5EF4-FFF2-40B4-BE49-F238E27FC236}">
                    <a16:creationId xmlns:a16="http://schemas.microsoft.com/office/drawing/2014/main" id="{8605A2B4-C4C7-461B-A0D4-312629F66D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9150" y="4422607"/>
                <a:ext cx="1657350" cy="468314"/>
                <a:chOff x="2759150" y="4422607"/>
                <a:chExt cx="1044" cy="295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47" name="Rectangle 14">
                  <a:extLst>
                    <a:ext uri="{FF2B5EF4-FFF2-40B4-BE49-F238E27FC236}">
                      <a16:creationId xmlns:a16="http://schemas.microsoft.com/office/drawing/2014/main" id="{3525C31C-D662-49EF-AB30-447AFC047D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9150" y="4422607"/>
                  <a:ext cx="1044" cy="295"/>
                </a:xfrm>
                <a:prstGeom prst="rect">
                  <a:avLst/>
                </a:prstGeom>
                <a:grpFill/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8" name="Text Box 15">
                  <a:extLst>
                    <a:ext uri="{FF2B5EF4-FFF2-40B4-BE49-F238E27FC236}">
                      <a16:creationId xmlns:a16="http://schemas.microsoft.com/office/drawing/2014/main" id="{A7FD5B51-292A-49BB-A186-F2333D6329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9361" y="4422669"/>
                  <a:ext cx="572" cy="174"/>
                </a:xfrm>
                <a:prstGeom prst="rect">
                  <a:avLst/>
                </a:prstGeom>
                <a:grp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pt-BR" sz="1200" dirty="0"/>
                    <a:t>Programa B</a:t>
                  </a:r>
                </a:p>
              </p:txBody>
            </p:sp>
          </p:grpSp>
          <p:grpSp>
            <p:nvGrpSpPr>
              <p:cNvPr id="29" name="Group 16">
                <a:extLst>
                  <a:ext uri="{FF2B5EF4-FFF2-40B4-BE49-F238E27FC236}">
                    <a16:creationId xmlns:a16="http://schemas.microsoft.com/office/drawing/2014/main" id="{58B2FA53-D9BB-41C7-9C95-DD60D520CE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9150" y="2602633"/>
                <a:ext cx="1657350" cy="368848"/>
                <a:chOff x="2759150" y="2602633"/>
                <a:chExt cx="1044" cy="195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45" name="Rectangle 17">
                  <a:extLst>
                    <a:ext uri="{FF2B5EF4-FFF2-40B4-BE49-F238E27FC236}">
                      <a16:creationId xmlns:a16="http://schemas.microsoft.com/office/drawing/2014/main" id="{F18BF45A-F509-4542-AF99-B9A820CF64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9150" y="2602633"/>
                  <a:ext cx="1044" cy="195"/>
                </a:xfrm>
                <a:prstGeom prst="rect">
                  <a:avLst/>
                </a:prstGeom>
                <a:grpFill/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6" name="Text Box 18">
                  <a:extLst>
                    <a:ext uri="{FF2B5EF4-FFF2-40B4-BE49-F238E27FC236}">
                      <a16:creationId xmlns:a16="http://schemas.microsoft.com/office/drawing/2014/main" id="{2F991311-07D7-4FF0-A33D-FD40E32D07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9361" y="2602660"/>
                  <a:ext cx="567" cy="146"/>
                </a:xfrm>
                <a:prstGeom prst="rect">
                  <a:avLst/>
                </a:prstGeom>
                <a:grp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pt-BR" sz="1200" dirty="0"/>
                    <a:t>Programa E</a:t>
                  </a:r>
                </a:p>
              </p:txBody>
            </p:sp>
          </p:grpSp>
          <p:sp>
            <p:nvSpPr>
              <p:cNvPr id="30" name="Rectangle 19">
                <a:extLst>
                  <a:ext uri="{FF2B5EF4-FFF2-40B4-BE49-F238E27FC236}">
                    <a16:creationId xmlns:a16="http://schemas.microsoft.com/office/drawing/2014/main" id="{C2306FF6-37C0-4515-A725-505CF3CFE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150" y="3377502"/>
                <a:ext cx="1657350" cy="64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31" name="Text Box 20">
                <a:extLst>
                  <a:ext uri="{FF2B5EF4-FFF2-40B4-BE49-F238E27FC236}">
                    <a16:creationId xmlns:a16="http://schemas.microsoft.com/office/drawing/2014/main" id="{CDBA6366-BCC8-4D1C-8818-7C84EE76BB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1652" y="3567231"/>
                <a:ext cx="919611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D</a:t>
                </a:r>
              </a:p>
            </p:txBody>
          </p:sp>
          <p:sp>
            <p:nvSpPr>
              <p:cNvPr id="32" name="Text Box 22">
                <a:extLst>
                  <a:ext uri="{FF2B5EF4-FFF2-40B4-BE49-F238E27FC236}">
                    <a16:creationId xmlns:a16="http://schemas.microsoft.com/office/drawing/2014/main" id="{3EB90D33-DB58-4D54-BB85-7B58FF784A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74213" y="4085142"/>
                <a:ext cx="807337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Área Livre</a:t>
                </a:r>
              </a:p>
            </p:txBody>
          </p:sp>
          <p:sp>
            <p:nvSpPr>
              <p:cNvPr id="33" name="Text Box 24">
                <a:extLst>
                  <a:ext uri="{FF2B5EF4-FFF2-40B4-BE49-F238E27FC236}">
                    <a16:creationId xmlns:a16="http://schemas.microsoft.com/office/drawing/2014/main" id="{92760280-EC5E-4078-BC9A-A2CCE6DA29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5075" y="4035536"/>
                <a:ext cx="514885" cy="3077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pt-BR" sz="1400" b="1" dirty="0">
                    <a:solidFill>
                      <a:srgbClr val="FF0000"/>
                    </a:solidFill>
                  </a:rPr>
                  <a:t>2 KB</a:t>
                </a:r>
              </a:p>
            </p:txBody>
          </p:sp>
          <p:sp>
            <p:nvSpPr>
              <p:cNvPr id="34" name="Text Box 26">
                <a:extLst>
                  <a:ext uri="{FF2B5EF4-FFF2-40B4-BE49-F238E27FC236}">
                    <a16:creationId xmlns:a16="http://schemas.microsoft.com/office/drawing/2014/main" id="{C25EA7A4-BF04-4631-B3D7-D2A10654A5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5075" y="2974244"/>
                <a:ext cx="514885" cy="3077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pt-BR" sz="1400" b="1" dirty="0">
                    <a:solidFill>
                      <a:srgbClr val="FF0000"/>
                    </a:solidFill>
                  </a:rPr>
                  <a:t>2 KB</a:t>
                </a:r>
              </a:p>
            </p:txBody>
          </p:sp>
          <p:sp>
            <p:nvSpPr>
              <p:cNvPr id="35" name="Text Box 27">
                <a:extLst>
                  <a:ext uri="{FF2B5EF4-FFF2-40B4-BE49-F238E27FC236}">
                    <a16:creationId xmlns:a16="http://schemas.microsoft.com/office/drawing/2014/main" id="{68C3BC86-3C99-4F3D-9C93-00AED97771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5075" y="2122309"/>
                <a:ext cx="514885" cy="3077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pt-BR" sz="1400" b="1" dirty="0">
                    <a:solidFill>
                      <a:srgbClr val="FF0000"/>
                    </a:solidFill>
                  </a:rPr>
                  <a:t>3 KB</a:t>
                </a:r>
              </a:p>
            </p:txBody>
          </p:sp>
          <p:sp>
            <p:nvSpPr>
              <p:cNvPr id="36" name="Text Box 29">
                <a:extLst>
                  <a:ext uri="{FF2B5EF4-FFF2-40B4-BE49-F238E27FC236}">
                    <a16:creationId xmlns:a16="http://schemas.microsoft.com/office/drawing/2014/main" id="{0646AF57-21FC-40E5-8776-26475DBFA9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5075" y="4944594"/>
                <a:ext cx="514885" cy="3077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pt-BR" sz="1400" b="1" dirty="0">
                    <a:solidFill>
                      <a:srgbClr val="FF0000"/>
                    </a:solidFill>
                  </a:rPr>
                  <a:t>2 KB</a:t>
                </a:r>
              </a:p>
            </p:txBody>
          </p:sp>
          <p:sp>
            <p:nvSpPr>
              <p:cNvPr id="37" name="Text Box 31">
                <a:extLst>
                  <a:ext uri="{FF2B5EF4-FFF2-40B4-BE49-F238E27FC236}">
                    <a16:creationId xmlns:a16="http://schemas.microsoft.com/office/drawing/2014/main" id="{C6862272-DBB6-46CD-B390-2309FF4F48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3803" y="2100084"/>
                <a:ext cx="807337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Área Livre</a:t>
                </a:r>
              </a:p>
            </p:txBody>
          </p:sp>
          <p:sp>
            <p:nvSpPr>
              <p:cNvPr id="38" name="Text Box 32">
                <a:extLst>
                  <a:ext uri="{FF2B5EF4-FFF2-40B4-BE49-F238E27FC236}">
                    <a16:creationId xmlns:a16="http://schemas.microsoft.com/office/drawing/2014/main" id="{2CF94346-3DC4-48F4-B3C8-F570214371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0194" y="1509531"/>
                <a:ext cx="1976823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>
                    <a:latin typeface="+mj-lt"/>
                  </a:rPr>
                  <a:t>Memória Principal</a:t>
                </a:r>
              </a:p>
            </p:txBody>
          </p:sp>
          <p:grpSp>
            <p:nvGrpSpPr>
              <p:cNvPr id="39" name="Group 33">
                <a:extLst>
                  <a:ext uri="{FF2B5EF4-FFF2-40B4-BE49-F238E27FC236}">
                    <a16:creationId xmlns:a16="http://schemas.microsoft.com/office/drawing/2014/main" id="{C71BAC88-2C2C-4058-A412-C21DFB88EA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5400" y="3338335"/>
                <a:ext cx="679449" cy="927101"/>
                <a:chOff x="695400" y="3338335"/>
                <a:chExt cx="428" cy="584"/>
              </a:xfrm>
            </p:grpSpPr>
            <p:sp>
              <p:nvSpPr>
                <p:cNvPr id="42" name="Oval 34">
                  <a:extLst>
                    <a:ext uri="{FF2B5EF4-FFF2-40B4-BE49-F238E27FC236}">
                      <a16:creationId xmlns:a16="http://schemas.microsoft.com/office/drawing/2014/main" id="{06222AF9-A7FC-4769-AA08-06066FC72C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95422" y="3338335"/>
                  <a:ext cx="327" cy="327"/>
                </a:xfrm>
                <a:prstGeom prst="ellipse">
                  <a:avLst/>
                </a:prstGeom>
                <a:solidFill>
                  <a:srgbClr val="FFCC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3" name="Text Box 35">
                  <a:extLst>
                    <a:ext uri="{FF2B5EF4-FFF2-40B4-BE49-F238E27FC236}">
                      <a16:creationId xmlns:a16="http://schemas.microsoft.com/office/drawing/2014/main" id="{5C887A8D-5FDB-4D58-A9B6-FEBA80FE26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5498" y="3338381"/>
                  <a:ext cx="183" cy="23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pt-BR" b="1" dirty="0"/>
                    <a:t>F</a:t>
                  </a:r>
                </a:p>
              </p:txBody>
            </p:sp>
            <p:sp>
              <p:nvSpPr>
                <p:cNvPr id="44" name="Text Box 36">
                  <a:extLst>
                    <a:ext uri="{FF2B5EF4-FFF2-40B4-BE49-F238E27FC236}">
                      <a16:creationId xmlns:a16="http://schemas.microsoft.com/office/drawing/2014/main" id="{77945352-76CA-4BC7-92E1-E75C84C747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5400" y="3338657"/>
                  <a:ext cx="428" cy="262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pt-BR" sz="2100" b="1" dirty="0"/>
                    <a:t>4 KB</a:t>
                  </a:r>
                </a:p>
              </p:txBody>
            </p:sp>
          </p:grpSp>
          <p:sp>
            <p:nvSpPr>
              <p:cNvPr id="40" name="Line 37">
                <a:extLst>
                  <a:ext uri="{FF2B5EF4-FFF2-40B4-BE49-F238E27FC236}">
                    <a16:creationId xmlns:a16="http://schemas.microsoft.com/office/drawing/2014/main" id="{01F748BA-4018-4C76-8A89-AC129C25B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4537" y="3635193"/>
                <a:ext cx="8636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41" name="Text Box 38">
                <a:extLst>
                  <a:ext uri="{FF2B5EF4-FFF2-40B4-BE49-F238E27FC236}">
                    <a16:creationId xmlns:a16="http://schemas.microsoft.com/office/drawing/2014/main" id="{85F42EAF-73F0-4C31-9516-6CD862296B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5776" y="3285081"/>
                <a:ext cx="385042" cy="6463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3600" dirty="0">
                    <a:solidFill>
                      <a:srgbClr val="FF0000"/>
                    </a:solidFill>
                  </a:rPr>
                  <a:t>x</a:t>
                </a:r>
              </a:p>
            </p:txBody>
          </p:sp>
        </p:grp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20EA0FF9-022A-488D-A509-020D79A9D8F0}"/>
                </a:ext>
              </a:extLst>
            </p:cNvPr>
            <p:cNvGrpSpPr/>
            <p:nvPr/>
          </p:nvGrpSpPr>
          <p:grpSpPr>
            <a:xfrm>
              <a:off x="8219560" y="1815463"/>
              <a:ext cx="2358565" cy="4200247"/>
              <a:chOff x="8205183" y="1484784"/>
              <a:chExt cx="2358565" cy="4200247"/>
            </a:xfrm>
          </p:grpSpPr>
          <p:sp>
            <p:nvSpPr>
              <p:cNvPr id="11" name="Rectangle 31">
                <a:extLst>
                  <a:ext uri="{FF2B5EF4-FFF2-40B4-BE49-F238E27FC236}">
                    <a16:creationId xmlns:a16="http://schemas.microsoft.com/office/drawing/2014/main" id="{9D06F8D3-D1B5-4950-A4F7-726E3F95C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6116" y="1916584"/>
                <a:ext cx="1655763" cy="34163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</p:txBody>
          </p:sp>
          <p:sp>
            <p:nvSpPr>
              <p:cNvPr id="12" name="Rectangle 32">
                <a:extLst>
                  <a:ext uri="{FF2B5EF4-FFF2-40B4-BE49-F238E27FC236}">
                    <a16:creationId xmlns:a16="http://schemas.microsoft.com/office/drawing/2014/main" id="{2B5F52B8-255F-4615-940D-BE1ED82DE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2466" y="5315699"/>
                <a:ext cx="1655763" cy="36933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pt-BR" dirty="0"/>
                  <a:t>SO</a:t>
                </a:r>
              </a:p>
            </p:txBody>
          </p:sp>
          <p:grpSp>
            <p:nvGrpSpPr>
              <p:cNvPr id="13" name="Group 33">
                <a:extLst>
                  <a:ext uri="{FF2B5EF4-FFF2-40B4-BE49-F238E27FC236}">
                    <a16:creationId xmlns:a16="http://schemas.microsoft.com/office/drawing/2014/main" id="{BDA7E90B-DC4C-4AAE-AFFC-047C7F701A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2939" y="4356596"/>
                <a:ext cx="1657350" cy="369888"/>
                <a:chOff x="8362939" y="4356596"/>
                <a:chExt cx="1044" cy="233"/>
              </a:xfrm>
            </p:grpSpPr>
            <p:sp>
              <p:nvSpPr>
                <p:cNvPr id="23" name="Rectangle 34">
                  <a:extLst>
                    <a:ext uri="{FF2B5EF4-FFF2-40B4-BE49-F238E27FC236}">
                      <a16:creationId xmlns:a16="http://schemas.microsoft.com/office/drawing/2014/main" id="{AAEA1653-C1C7-476D-8B9C-DA51DD183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2939" y="4356596"/>
                  <a:ext cx="1044" cy="23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 dirty="0"/>
                </a:p>
              </p:txBody>
            </p:sp>
            <p:sp>
              <p:nvSpPr>
                <p:cNvPr id="24" name="Text Box 35">
                  <a:extLst>
                    <a:ext uri="{FF2B5EF4-FFF2-40B4-BE49-F238E27FC236}">
                      <a16:creationId xmlns:a16="http://schemas.microsoft.com/office/drawing/2014/main" id="{526F6D0C-3288-4C7D-AA04-F4FFE16748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63153" y="4356622"/>
                  <a:ext cx="572" cy="174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pt-BR" sz="1200" dirty="0"/>
                    <a:t>Programa B</a:t>
                  </a:r>
                </a:p>
              </p:txBody>
            </p:sp>
          </p:grpSp>
          <p:grpSp>
            <p:nvGrpSpPr>
              <p:cNvPr id="14" name="Group 36">
                <a:extLst>
                  <a:ext uri="{FF2B5EF4-FFF2-40B4-BE49-F238E27FC236}">
                    <a16:creationId xmlns:a16="http://schemas.microsoft.com/office/drawing/2014/main" id="{0064207A-A6F6-4017-A48B-C0A510D48A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74055" y="3026745"/>
                <a:ext cx="1657351" cy="369888"/>
                <a:chOff x="8374055" y="3026745"/>
                <a:chExt cx="1044" cy="233"/>
              </a:xfrm>
            </p:grpSpPr>
            <p:sp>
              <p:nvSpPr>
                <p:cNvPr id="21" name="Rectangle 37">
                  <a:extLst>
                    <a:ext uri="{FF2B5EF4-FFF2-40B4-BE49-F238E27FC236}">
                      <a16:creationId xmlns:a16="http://schemas.microsoft.com/office/drawing/2014/main" id="{755FB30C-9BD5-4168-A415-BBB84A486C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74055" y="3026745"/>
                  <a:ext cx="1044" cy="23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22" name="Text Box 38">
                  <a:extLst>
                    <a:ext uri="{FF2B5EF4-FFF2-40B4-BE49-F238E27FC236}">
                      <a16:creationId xmlns:a16="http://schemas.microsoft.com/office/drawing/2014/main" id="{113C31C1-02B4-4FDF-9D59-A831DAF6A0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74266" y="3026770"/>
                  <a:ext cx="567" cy="174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pt-BR" sz="1200" dirty="0"/>
                    <a:t>Programa E</a:t>
                  </a:r>
                </a:p>
              </p:txBody>
            </p:sp>
          </p:grpSp>
          <p:sp>
            <p:nvSpPr>
              <p:cNvPr id="15" name="Text Box 42">
                <a:extLst>
                  <a:ext uri="{FF2B5EF4-FFF2-40B4-BE49-F238E27FC236}">
                    <a16:creationId xmlns:a16="http://schemas.microsoft.com/office/drawing/2014/main" id="{A070B207-DB5F-43A2-ABEF-CF4DCF7CCE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48863" y="4820435"/>
                <a:ext cx="514885" cy="3077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pt-BR" sz="1400" b="1" dirty="0">
                    <a:solidFill>
                      <a:srgbClr val="FF0000"/>
                    </a:solidFill>
                  </a:rPr>
                  <a:t>4 KB</a:t>
                </a:r>
              </a:p>
            </p:txBody>
          </p:sp>
          <p:sp>
            <p:nvSpPr>
              <p:cNvPr id="16" name="Text Box 46">
                <a:extLst>
                  <a:ext uri="{FF2B5EF4-FFF2-40B4-BE49-F238E27FC236}">
                    <a16:creationId xmlns:a16="http://schemas.microsoft.com/office/drawing/2014/main" id="{463AD6B1-C394-4FEC-A843-AA545AAC7F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17055" y="2431921"/>
                <a:ext cx="807337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Área Livre</a:t>
                </a:r>
              </a:p>
            </p:txBody>
          </p:sp>
          <p:sp>
            <p:nvSpPr>
              <p:cNvPr id="17" name="Text Box 47">
                <a:extLst>
                  <a:ext uri="{FF2B5EF4-FFF2-40B4-BE49-F238E27FC236}">
                    <a16:creationId xmlns:a16="http://schemas.microsoft.com/office/drawing/2014/main" id="{EDC7F571-F76B-4FE4-BC46-F350DDBD18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05183" y="1484784"/>
                <a:ext cx="1976823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>
                    <a:latin typeface="+mj-lt"/>
                  </a:rPr>
                  <a:t>Memória Principal</a:t>
                </a:r>
              </a:p>
            </p:txBody>
          </p:sp>
          <p:sp>
            <p:nvSpPr>
              <p:cNvPr id="18" name="Text Box 51">
                <a:extLst>
                  <a:ext uri="{FF2B5EF4-FFF2-40B4-BE49-F238E27FC236}">
                    <a16:creationId xmlns:a16="http://schemas.microsoft.com/office/drawing/2014/main" id="{E51231A4-B815-40E8-863F-798BFAC932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48863" y="2276872"/>
                <a:ext cx="514885" cy="3077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pt-BR" sz="1400" b="1" dirty="0">
                    <a:solidFill>
                      <a:srgbClr val="FF0000"/>
                    </a:solidFill>
                  </a:rPr>
                  <a:t>5 KB</a:t>
                </a:r>
              </a:p>
            </p:txBody>
          </p:sp>
          <p:sp>
            <p:nvSpPr>
              <p:cNvPr id="19" name="Rectangle 19">
                <a:extLst>
                  <a:ext uri="{FF2B5EF4-FFF2-40B4-BE49-F238E27FC236}">
                    <a16:creationId xmlns:a16="http://schemas.microsoft.com/office/drawing/2014/main" id="{C9249D92-8EA2-450E-8E7B-AE8DC870B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2466" y="3431430"/>
                <a:ext cx="1656000" cy="88706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0" name="Text Box 20">
                <a:extLst>
                  <a:ext uri="{FF2B5EF4-FFF2-40B4-BE49-F238E27FC236}">
                    <a16:creationId xmlns:a16="http://schemas.microsoft.com/office/drawing/2014/main" id="{C07A2CBE-F31E-4C42-8D64-DCC63F84A0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12268" y="3742432"/>
                <a:ext cx="974119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D</a:t>
                </a:r>
              </a:p>
            </p:txBody>
          </p:sp>
        </p:grpSp>
        <p:sp>
          <p:nvSpPr>
            <p:cNvPr id="10" name="AutoShape 59">
              <a:extLst>
                <a:ext uri="{FF2B5EF4-FFF2-40B4-BE49-F238E27FC236}">
                  <a16:creationId xmlns:a16="http://schemas.microsoft.com/office/drawing/2014/main" id="{B2684A0F-B3E9-402F-BB56-7E3052BDA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3099" y="3588690"/>
              <a:ext cx="2068631" cy="733663"/>
            </a:xfrm>
            <a:prstGeom prst="rightArrow">
              <a:avLst>
                <a:gd name="adj1" fmla="val 50000"/>
                <a:gd name="adj2" fmla="val 68733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12682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Alocação Particionada </a:t>
            </a:r>
            <a:r>
              <a:rPr lang="pt-BR" sz="2400" i="1" dirty="0">
                <a:solidFill>
                  <a:srgbClr val="002060"/>
                </a:solidFill>
                <a:cs typeface="Calibri"/>
              </a:rPr>
              <a:t>Dinâmica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604515"/>
            <a:ext cx="11987840" cy="3992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Existem duas soluções para o problema da fragmentação externa da memória principal:</a:t>
            </a:r>
            <a:endParaRPr lang="en-US" sz="2100" dirty="0">
              <a:ea typeface="+mn-lt"/>
              <a:cs typeface="+mn-lt"/>
            </a:endParaRPr>
          </a:p>
          <a:p>
            <a:pPr marL="926465" lvl="1" indent="-457200" algn="just">
              <a:lnSpc>
                <a:spcPct val="90000"/>
              </a:lnSpc>
              <a:spcBef>
                <a:spcPts val="375"/>
              </a:spcBef>
              <a:buAutoNum type="arabicPeriod"/>
            </a:pPr>
            <a:r>
              <a:rPr lang="pt-BR" sz="2100" dirty="0">
                <a:ea typeface="+mn-lt"/>
                <a:cs typeface="+mn-lt"/>
              </a:rPr>
              <a:t>Conforme os programas terminam apenas os espaços livres adjacentes são reunidos, produzindo áreas livres de tamanho maior;</a:t>
            </a:r>
            <a:endParaRPr lang="en-US" sz="2100" dirty="0">
              <a:ea typeface="+mn-lt"/>
              <a:cs typeface="+mn-lt"/>
            </a:endParaRPr>
          </a:p>
          <a:p>
            <a:pPr marL="926465" lvl="1" indent="-457200" algn="just">
              <a:lnSpc>
                <a:spcPct val="90000"/>
              </a:lnSpc>
              <a:spcBef>
                <a:spcPts val="375"/>
              </a:spcBef>
              <a:buAutoNum type="arabicPeriod"/>
            </a:pPr>
            <a:r>
              <a:rPr lang="pt-BR" sz="2100" dirty="0">
                <a:ea typeface="+mn-lt"/>
                <a:cs typeface="+mn-lt"/>
              </a:rPr>
              <a:t>Relocar  todas as partições ocupadas, eliminando todos os espaços entre elas e criando uma única área livre contígua;</a:t>
            </a:r>
            <a:endParaRPr lang="en-US" sz="2100" dirty="0">
              <a:ea typeface="+mn-lt"/>
              <a:cs typeface="+mn-lt"/>
            </a:endParaRPr>
          </a:p>
          <a:p>
            <a:pPr marL="926465" lvl="1" indent="-457200" algn="just">
              <a:lnSpc>
                <a:spcPct val="90000"/>
              </a:lnSpc>
              <a:spcBef>
                <a:spcPts val="375"/>
              </a:spcBef>
              <a:buFontTx/>
              <a:buAutoNum type="arabicPeriod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É necessário que o sistema tenha a capacidade de mover os diversos programas na memória principal, ou seja, realizar </a:t>
            </a:r>
            <a:r>
              <a:rPr lang="pt-BR" sz="2100" i="1" dirty="0">
                <a:ea typeface="+mn-lt"/>
                <a:cs typeface="+mn-lt"/>
              </a:rPr>
              <a:t>relocação dinâmica;</a:t>
            </a:r>
            <a:endParaRPr lang="en-US" sz="2100" i="1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Esse mecanismo de compactação, também conhecido como </a:t>
            </a:r>
            <a:r>
              <a:rPr lang="pt-BR" sz="2100" i="1" dirty="0">
                <a:ea typeface="+mn-lt"/>
                <a:cs typeface="+mn-lt"/>
              </a:rPr>
              <a:t>alocação particionada dinâmica com realocação </a:t>
            </a:r>
            <a:r>
              <a:rPr lang="pt-BR" sz="2100" dirty="0">
                <a:ea typeface="+mn-lt"/>
                <a:cs typeface="+mn-lt"/>
              </a:rPr>
              <a:t>(</a:t>
            </a:r>
            <a:r>
              <a:rPr lang="pt-BR" sz="2100" i="1" dirty="0">
                <a:ea typeface="+mn-lt"/>
                <a:cs typeface="+mn-lt"/>
              </a:rPr>
              <a:t>desfragmentação</a:t>
            </a:r>
            <a:r>
              <a:rPr lang="pt-BR" sz="2100" dirty="0">
                <a:ea typeface="+mn-lt"/>
                <a:cs typeface="+mn-lt"/>
              </a:rPr>
              <a:t>)</a:t>
            </a:r>
            <a:r>
              <a:rPr lang="pt-BR" sz="2100" i="1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Reduz em muito o problema da fragmentação, porém a complexidade do seu algoritmo e o consumo de recursos do sistema, como processador e área em disco, podem torná-lo inviável.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099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ea typeface="+mn-lt"/>
                <a:cs typeface="+mn-lt"/>
              </a:rPr>
              <a:t>Estratégias de Alocação de Partição</a:t>
            </a:r>
            <a:endParaRPr lang="pt-BR" sz="2400" dirty="0" err="1">
              <a:ea typeface="+mn-lt"/>
              <a:cs typeface="+mn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762666"/>
            <a:ext cx="11987840" cy="39072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Os sistemas operacionais implementam, basicamente, três estratégias para determinar em qual área livre um programa será carregado para execução;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i="1" dirty="0">
                <a:ea typeface="+mn-lt"/>
                <a:cs typeface="+mn-lt"/>
              </a:rPr>
              <a:t>Best-</a:t>
            </a:r>
            <a:r>
              <a:rPr lang="pt-BR" sz="2100" i="1" dirty="0" err="1">
                <a:ea typeface="+mn-lt"/>
                <a:cs typeface="+mn-lt"/>
              </a:rPr>
              <a:t>fit</a:t>
            </a:r>
            <a:r>
              <a:rPr lang="pt-BR" sz="2100" i="1" dirty="0">
                <a:ea typeface="+mn-lt"/>
                <a:cs typeface="+mn-lt"/>
              </a:rPr>
              <a:t>, </a:t>
            </a:r>
            <a:r>
              <a:rPr lang="pt-BR" sz="2100" i="1" dirty="0" err="1">
                <a:ea typeface="+mn-lt"/>
                <a:cs typeface="+mn-lt"/>
              </a:rPr>
              <a:t>worst-fit</a:t>
            </a:r>
            <a:r>
              <a:rPr lang="pt-BR" sz="2100" i="1" dirty="0">
                <a:ea typeface="+mn-lt"/>
                <a:cs typeface="+mn-lt"/>
              </a:rPr>
              <a:t> e </a:t>
            </a:r>
            <a:r>
              <a:rPr lang="pt-BR" sz="2100" i="1" dirty="0" err="1">
                <a:ea typeface="+mn-lt"/>
                <a:cs typeface="+mn-lt"/>
              </a:rPr>
              <a:t>first-fit</a:t>
            </a:r>
            <a:r>
              <a:rPr lang="pt-BR" sz="2100" i="1" dirty="0">
                <a:ea typeface="+mn-lt"/>
                <a:cs typeface="+mn-lt"/>
              </a:rPr>
              <a:t>;</a:t>
            </a:r>
            <a:endParaRPr lang="en-US" sz="2100" i="1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Essas estratégias tentam evitar ou diminuir o problema da </a:t>
            </a:r>
            <a:r>
              <a:rPr lang="pt-BR" sz="2100" i="1" dirty="0">
                <a:ea typeface="+mn-lt"/>
                <a:cs typeface="+mn-lt"/>
              </a:rPr>
              <a:t>fragmentação externa</a:t>
            </a:r>
            <a:r>
              <a:rPr lang="pt-BR" sz="2100" dirty="0">
                <a:ea typeface="+mn-lt"/>
                <a:cs typeface="+mn-lt"/>
              </a:rPr>
              <a:t>; 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melhor estratégia a ser adotada por um sistema depende de uma série de fatores;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mais importante é o tamanho dos programas processados no ambiente;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Independentemente do algoritmo utilizado, o sistema possui uma lista de áreas livres, com o endereço e tamanho de cada área.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1719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ea typeface="+mn-lt"/>
                <a:cs typeface="+mn-lt"/>
              </a:rPr>
              <a:t>Estratégias de Alocação de Partição</a:t>
            </a:r>
            <a:endParaRPr lang="pt-BR" sz="2400" dirty="0" err="1">
              <a:ea typeface="+mn-lt"/>
              <a:cs typeface="+mn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762666"/>
            <a:ext cx="11987840" cy="3069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b="1" i="1" dirty="0">
                <a:ea typeface="+mn-lt"/>
                <a:cs typeface="+mn-lt"/>
              </a:rPr>
              <a:t>Best-</a:t>
            </a:r>
            <a:r>
              <a:rPr lang="pt-BR" sz="2200" b="1" i="1" dirty="0" err="1">
                <a:ea typeface="+mn-lt"/>
                <a:cs typeface="+mn-lt"/>
              </a:rPr>
              <a:t>fit</a:t>
            </a:r>
            <a:endParaRPr lang="pt-BR" sz="2200" i="1" dirty="0" err="1">
              <a:cs typeface="Calibri" panose="020F0502020204030204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É escolhida a </a:t>
            </a:r>
            <a:r>
              <a:rPr lang="pt-BR" sz="2100" i="1" dirty="0">
                <a:ea typeface="+mn-lt"/>
                <a:cs typeface="+mn-lt"/>
              </a:rPr>
              <a:t>partição </a:t>
            </a:r>
            <a:r>
              <a:rPr lang="pt-BR" sz="2100" dirty="0">
                <a:ea typeface="+mn-lt"/>
                <a:cs typeface="+mn-lt"/>
              </a:rPr>
              <a:t>onde o programa deixa o </a:t>
            </a:r>
            <a:r>
              <a:rPr lang="pt-BR" sz="2100" b="1" i="1" dirty="0">
                <a:ea typeface="+mn-lt"/>
                <a:cs typeface="+mn-lt"/>
              </a:rPr>
              <a:t>menor</a:t>
            </a:r>
            <a:r>
              <a:rPr lang="pt-BR" sz="2100" dirty="0">
                <a:ea typeface="+mn-lt"/>
                <a:cs typeface="+mn-lt"/>
              </a:rPr>
              <a:t> espaço sem utilização;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Nesse algoritmo, a </a:t>
            </a:r>
            <a:r>
              <a:rPr lang="pt-BR" sz="2100" i="1" dirty="0">
                <a:ea typeface="+mn-lt"/>
                <a:cs typeface="+mn-lt"/>
              </a:rPr>
              <a:t>lista de áreas livres </a:t>
            </a:r>
            <a:r>
              <a:rPr lang="pt-BR" sz="2100" dirty="0">
                <a:ea typeface="+mn-lt"/>
                <a:cs typeface="+mn-lt"/>
              </a:rPr>
              <a:t>está </a:t>
            </a:r>
            <a:r>
              <a:rPr lang="pt-BR" sz="2100" i="1" dirty="0">
                <a:ea typeface="+mn-lt"/>
                <a:cs typeface="+mn-lt"/>
              </a:rPr>
              <a:t>ordenada</a:t>
            </a:r>
            <a:r>
              <a:rPr lang="pt-BR" sz="2100" dirty="0">
                <a:ea typeface="+mn-lt"/>
                <a:cs typeface="+mn-lt"/>
              </a:rPr>
              <a:t> por tamanho, diminuindo o tempo de busca por uma área desocupada;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Desvantagem</a:t>
            </a:r>
            <a:r>
              <a:rPr lang="pt-BR" sz="2100" dirty="0">
                <a:ea typeface="+mn-lt"/>
                <a:cs typeface="+mn-lt"/>
              </a:rPr>
              <a:t> 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Como é alocada a partição que deixa a menor área livre, a tendência é que cada vez mais a memória fique com pequenas áreas não-contíguas, aumentando o problema da fragmentação. 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03283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ea typeface="+mn-lt"/>
                <a:cs typeface="+mn-lt"/>
              </a:rPr>
              <a:t>Estratégias de Alocação de Partição</a:t>
            </a:r>
            <a:endParaRPr lang="pt-BR" sz="2400" dirty="0" err="1">
              <a:ea typeface="+mn-lt"/>
              <a:cs typeface="+mn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360100"/>
            <a:ext cx="11987840" cy="397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b="1" i="1" dirty="0">
                <a:ea typeface="+mn-lt"/>
                <a:cs typeface="+mn-lt"/>
              </a:rPr>
              <a:t>Best-</a:t>
            </a:r>
            <a:r>
              <a:rPr lang="pt-BR" sz="2200" b="1" i="1" dirty="0" err="1">
                <a:ea typeface="+mn-lt"/>
                <a:cs typeface="+mn-lt"/>
              </a:rPr>
              <a:t>fit</a:t>
            </a:r>
            <a:r>
              <a:rPr lang="pt-BR" sz="2200" b="1" dirty="0">
                <a:ea typeface="+mn-lt"/>
                <a:cs typeface="+mn-lt"/>
              </a:rPr>
              <a:t> - Exemplo</a:t>
            </a:r>
            <a:endParaRPr lang="pt-BR" sz="2200" dirty="0">
              <a:cs typeface="Calibri" panose="020F0502020204030204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BE586A61-AAF2-4230-AAAD-8BB6B6D9D41C}"/>
              </a:ext>
            </a:extLst>
          </p:cNvPr>
          <p:cNvGrpSpPr/>
          <p:nvPr/>
        </p:nvGrpSpPr>
        <p:grpSpPr>
          <a:xfrm>
            <a:off x="917439" y="1930603"/>
            <a:ext cx="9743941" cy="4464496"/>
            <a:chOff x="960571" y="1556792"/>
            <a:chExt cx="9743941" cy="4464496"/>
          </a:xfrm>
        </p:grpSpPr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077B8227-5C2C-4A1A-A89A-72303E7B12C0}"/>
                </a:ext>
              </a:extLst>
            </p:cNvPr>
            <p:cNvGrpSpPr/>
            <p:nvPr/>
          </p:nvGrpSpPr>
          <p:grpSpPr>
            <a:xfrm>
              <a:off x="960571" y="1556792"/>
              <a:ext cx="9743941" cy="4464496"/>
              <a:chOff x="960571" y="1556792"/>
              <a:chExt cx="9743941" cy="4464496"/>
            </a:xfrm>
          </p:grpSpPr>
          <p:pic>
            <p:nvPicPr>
              <p:cNvPr id="23" name="Picture 2">
                <a:extLst>
                  <a:ext uri="{FF2B5EF4-FFF2-40B4-BE49-F238E27FC236}">
                    <a16:creationId xmlns:a16="http://schemas.microsoft.com/office/drawing/2014/main" id="{57A7278A-9FFD-4E11-A33A-548D968F3F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960571" y="1556792"/>
                <a:ext cx="9664898" cy="44644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4" name="Text Box 6">
                <a:extLst>
                  <a:ext uri="{FF2B5EF4-FFF2-40B4-BE49-F238E27FC236}">
                    <a16:creationId xmlns:a16="http://schemas.microsoft.com/office/drawing/2014/main" id="{310BC136-12F1-44DB-BE4D-C265F00BA0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4135" y="1636068"/>
                <a:ext cx="1976823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>
                    <a:latin typeface="Calibri"/>
                    <a:cs typeface="Calibri"/>
                  </a:rPr>
                  <a:t>Memória Principal</a:t>
                </a:r>
              </a:p>
            </p:txBody>
          </p:sp>
          <p:sp>
            <p:nvSpPr>
              <p:cNvPr id="25" name="Text Box 6">
                <a:extLst>
                  <a:ext uri="{FF2B5EF4-FFF2-40B4-BE49-F238E27FC236}">
                    <a16:creationId xmlns:a16="http://schemas.microsoft.com/office/drawing/2014/main" id="{E445A673-D4CB-45DB-A946-6583156832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5056" y="2852936"/>
                <a:ext cx="614271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dirty="0">
                    <a:latin typeface="Calibri"/>
                    <a:cs typeface="Calibri"/>
                  </a:rPr>
                  <a:t>4 KB</a:t>
                </a:r>
              </a:p>
            </p:txBody>
          </p:sp>
          <p:sp>
            <p:nvSpPr>
              <p:cNvPr id="26" name="Text Box 6">
                <a:extLst>
                  <a:ext uri="{FF2B5EF4-FFF2-40B4-BE49-F238E27FC236}">
                    <a16:creationId xmlns:a16="http://schemas.microsoft.com/office/drawing/2014/main" id="{4A7D838A-843E-4D71-B07B-856E7B8F16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0704" y="4005064"/>
                <a:ext cx="614271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dirty="0">
                    <a:latin typeface="Calibri"/>
                    <a:cs typeface="Calibri"/>
                  </a:rPr>
                  <a:t>5 KB</a:t>
                </a:r>
              </a:p>
            </p:txBody>
          </p:sp>
          <p:sp>
            <p:nvSpPr>
              <p:cNvPr id="27" name="Text Box 6">
                <a:extLst>
                  <a:ext uri="{FF2B5EF4-FFF2-40B4-BE49-F238E27FC236}">
                    <a16:creationId xmlns:a16="http://schemas.microsoft.com/office/drawing/2014/main" id="{8B1AA644-2CE3-4DF3-8DF3-34083A9423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7755" y="5301208"/>
                <a:ext cx="614271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dirty="0">
                    <a:solidFill>
                      <a:srgbClr val="996600"/>
                    </a:solidFill>
                    <a:latin typeface="Calibri"/>
                    <a:cs typeface="Calibri"/>
                  </a:rPr>
                  <a:t>3 KB</a:t>
                </a:r>
              </a:p>
            </p:txBody>
          </p:sp>
          <p:sp>
            <p:nvSpPr>
              <p:cNvPr id="28" name="Text Box 6">
                <a:extLst>
                  <a:ext uri="{FF2B5EF4-FFF2-40B4-BE49-F238E27FC236}">
                    <a16:creationId xmlns:a16="http://schemas.microsoft.com/office/drawing/2014/main" id="{979DA6D3-C8A4-4EA5-B5DE-E924CCA89B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0611" y="4189730"/>
                <a:ext cx="614271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dirty="0">
                    <a:latin typeface="Calibri"/>
                    <a:cs typeface="Calibri"/>
                  </a:rPr>
                  <a:t>1 KB</a:t>
                </a:r>
              </a:p>
            </p:txBody>
          </p:sp>
          <p:sp>
            <p:nvSpPr>
              <p:cNvPr id="29" name="Text Box 6">
                <a:extLst>
                  <a:ext uri="{FF2B5EF4-FFF2-40B4-BE49-F238E27FC236}">
                    <a16:creationId xmlns:a16="http://schemas.microsoft.com/office/drawing/2014/main" id="{B57C3AAA-E568-4699-BEE3-0C8E76AE5A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3447" y="5373216"/>
                <a:ext cx="611065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dirty="0">
                    <a:solidFill>
                      <a:srgbClr val="996600"/>
                    </a:solidFill>
                    <a:latin typeface="Calibri"/>
                    <a:cs typeface="Calibri"/>
                  </a:rPr>
                  <a:t>2 KB</a:t>
                </a:r>
              </a:p>
            </p:txBody>
          </p:sp>
        </p:grp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1978ECA3-64C5-4870-ABD5-124223DCEAC8}"/>
                </a:ext>
              </a:extLst>
            </p:cNvPr>
            <p:cNvSpPr/>
            <p:nvPr/>
          </p:nvSpPr>
          <p:spPr>
            <a:xfrm>
              <a:off x="5857115" y="2276872"/>
              <a:ext cx="1944216" cy="2952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22" name="Seta: para Baixo 21">
              <a:extLst>
                <a:ext uri="{FF2B5EF4-FFF2-40B4-BE49-F238E27FC236}">
                  <a16:creationId xmlns:a16="http://schemas.microsoft.com/office/drawing/2014/main" id="{7B340A3F-5B10-4B99-BF54-D94A38150019}"/>
                </a:ext>
              </a:extLst>
            </p:cNvPr>
            <p:cNvSpPr/>
            <p:nvPr/>
          </p:nvSpPr>
          <p:spPr>
            <a:xfrm rot="18410094">
              <a:off x="6598685" y="3166084"/>
              <a:ext cx="261016" cy="2629149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dirty="0"/>
            </a:p>
          </p:txBody>
        </p:sp>
      </p:grpSp>
      <p:sp>
        <p:nvSpPr>
          <p:cNvPr id="7" name="Text Box 6">
            <a:extLst>
              <a:ext uri="{FF2B5EF4-FFF2-40B4-BE49-F238E27FC236}">
                <a16:creationId xmlns:a16="http://schemas.microsoft.com/office/drawing/2014/main" id="{6549264E-4DE9-409E-B7EC-25BA0EA9A53A}"/>
              </a:ext>
            </a:extLst>
          </p:cNvPr>
          <p:cNvSpPr txBox="1">
            <a:spLocks noChangeArrowheads="1"/>
          </p:cNvSpPr>
          <p:nvPr/>
        </p:nvSpPr>
        <p:spPr bwMode="auto">
          <a:xfrm rot="2148400">
            <a:off x="6333716" y="4355008"/>
            <a:ext cx="860172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Calibri"/>
                <a:cs typeface="Calibri"/>
              </a:rPr>
              <a:t>Best-</a:t>
            </a:r>
            <a:r>
              <a:rPr lang="pt-BR" dirty="0" err="1">
                <a:latin typeface="Calibri"/>
                <a:cs typeface="Calibri"/>
              </a:rPr>
              <a:t>fit</a:t>
            </a:r>
            <a:endParaRPr lang="pt-BR" dirty="0">
              <a:latin typeface="Calibri"/>
              <a:cs typeface="Calibri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3C34C5D-9785-4368-AC91-B6E43D2BCF6D}"/>
              </a:ext>
            </a:extLst>
          </p:cNvPr>
          <p:cNvGrpSpPr/>
          <p:nvPr/>
        </p:nvGrpSpPr>
        <p:grpSpPr>
          <a:xfrm>
            <a:off x="922558" y="1930603"/>
            <a:ext cx="9743941" cy="4464496"/>
            <a:chOff x="965690" y="1556792"/>
            <a:chExt cx="9743941" cy="4464496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F64C6565-8235-4ACF-8B4F-ED3E33F37043}"/>
                </a:ext>
              </a:extLst>
            </p:cNvPr>
            <p:cNvGrpSpPr/>
            <p:nvPr/>
          </p:nvGrpSpPr>
          <p:grpSpPr>
            <a:xfrm>
              <a:off x="965690" y="1556792"/>
              <a:ext cx="9743941" cy="4464496"/>
              <a:chOff x="965690" y="1556792"/>
              <a:chExt cx="9743941" cy="4464496"/>
            </a:xfrm>
          </p:grpSpPr>
          <p:pic>
            <p:nvPicPr>
              <p:cNvPr id="13" name="Picture 2">
                <a:extLst>
                  <a:ext uri="{FF2B5EF4-FFF2-40B4-BE49-F238E27FC236}">
                    <a16:creationId xmlns:a16="http://schemas.microsoft.com/office/drawing/2014/main" id="{3A284693-8EBB-4EA0-B4A7-1057106835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965690" y="1556792"/>
                <a:ext cx="9664898" cy="44644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" name="Text Box 6">
                <a:extLst>
                  <a:ext uri="{FF2B5EF4-FFF2-40B4-BE49-F238E27FC236}">
                    <a16:creationId xmlns:a16="http://schemas.microsoft.com/office/drawing/2014/main" id="{D2EF33AE-05A6-4F07-92E1-45D5D7FE95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9254" y="1636068"/>
                <a:ext cx="1976823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>
                    <a:latin typeface="Calibri"/>
                    <a:cs typeface="Calibri"/>
                  </a:rPr>
                  <a:t>Memória Principal</a:t>
                </a:r>
              </a:p>
            </p:txBody>
          </p:sp>
          <p:sp>
            <p:nvSpPr>
              <p:cNvPr id="15" name="Text Box 6">
                <a:extLst>
                  <a:ext uri="{FF2B5EF4-FFF2-40B4-BE49-F238E27FC236}">
                    <a16:creationId xmlns:a16="http://schemas.microsoft.com/office/drawing/2014/main" id="{0216C17D-5857-47B7-9784-506C7EE93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0175" y="2852936"/>
                <a:ext cx="614271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dirty="0">
                    <a:latin typeface="Calibri"/>
                    <a:cs typeface="Calibri"/>
                  </a:rPr>
                  <a:t>4 KB</a:t>
                </a:r>
              </a:p>
            </p:txBody>
          </p:sp>
          <p:sp>
            <p:nvSpPr>
              <p:cNvPr id="16" name="Text Box 6">
                <a:extLst>
                  <a:ext uri="{FF2B5EF4-FFF2-40B4-BE49-F238E27FC236}">
                    <a16:creationId xmlns:a16="http://schemas.microsoft.com/office/drawing/2014/main" id="{93CDA760-A2D2-4B02-93C1-D82DB6D9CD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5823" y="4005064"/>
                <a:ext cx="614271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dirty="0">
                    <a:latin typeface="Calibri"/>
                    <a:cs typeface="Calibri"/>
                  </a:rPr>
                  <a:t>5 KB</a:t>
                </a:r>
              </a:p>
            </p:txBody>
          </p:sp>
          <p:sp>
            <p:nvSpPr>
              <p:cNvPr id="17" name="Text Box 6">
                <a:extLst>
                  <a:ext uri="{FF2B5EF4-FFF2-40B4-BE49-F238E27FC236}">
                    <a16:creationId xmlns:a16="http://schemas.microsoft.com/office/drawing/2014/main" id="{14F5E276-DB1C-4762-BCC8-16849C971B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2874" y="5301208"/>
                <a:ext cx="614271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dirty="0">
                    <a:solidFill>
                      <a:srgbClr val="996600"/>
                    </a:solidFill>
                    <a:latin typeface="Calibri"/>
                    <a:cs typeface="Calibri"/>
                  </a:rPr>
                  <a:t>3 KB</a:t>
                </a:r>
              </a:p>
            </p:txBody>
          </p:sp>
          <p:sp>
            <p:nvSpPr>
              <p:cNvPr id="18" name="Text Box 6">
                <a:extLst>
                  <a:ext uri="{FF2B5EF4-FFF2-40B4-BE49-F238E27FC236}">
                    <a16:creationId xmlns:a16="http://schemas.microsoft.com/office/drawing/2014/main" id="{C5ABFF3B-EE56-4FBB-8D78-CB1EF9E4F7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5730" y="4189730"/>
                <a:ext cx="614271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dirty="0">
                    <a:latin typeface="Calibri"/>
                    <a:cs typeface="Calibri"/>
                  </a:rPr>
                  <a:t>1 KB</a:t>
                </a:r>
              </a:p>
            </p:txBody>
          </p:sp>
          <p:sp>
            <p:nvSpPr>
              <p:cNvPr id="19" name="Text Box 6">
                <a:extLst>
                  <a:ext uri="{FF2B5EF4-FFF2-40B4-BE49-F238E27FC236}">
                    <a16:creationId xmlns:a16="http://schemas.microsoft.com/office/drawing/2014/main" id="{3B506CED-D012-4437-8D48-6D58536ED9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8566" y="5373216"/>
                <a:ext cx="611065" cy="3693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dirty="0">
                    <a:solidFill>
                      <a:srgbClr val="996600"/>
                    </a:solidFill>
                    <a:latin typeface="Calibri"/>
                    <a:cs typeface="Calibri"/>
                  </a:rPr>
                  <a:t>2 KB</a:t>
                </a:r>
              </a:p>
            </p:txBody>
          </p:sp>
        </p:grp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749990FF-7C01-45EB-8557-38DB9E577A9A}"/>
                </a:ext>
              </a:extLst>
            </p:cNvPr>
            <p:cNvSpPr/>
            <p:nvPr/>
          </p:nvSpPr>
          <p:spPr>
            <a:xfrm>
              <a:off x="5862234" y="2276872"/>
              <a:ext cx="1944216" cy="2952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12" name="Seta: para Baixo 11">
              <a:extLst>
                <a:ext uri="{FF2B5EF4-FFF2-40B4-BE49-F238E27FC236}">
                  <a16:creationId xmlns:a16="http://schemas.microsoft.com/office/drawing/2014/main" id="{C515D354-ED49-4068-8A13-60B5A143C6BE}"/>
                </a:ext>
              </a:extLst>
            </p:cNvPr>
            <p:cNvSpPr/>
            <p:nvPr/>
          </p:nvSpPr>
          <p:spPr>
            <a:xfrm rot="18410094">
              <a:off x="6603804" y="3166084"/>
              <a:ext cx="261016" cy="2629149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dirty="0"/>
            </a:p>
          </p:txBody>
        </p:sp>
      </p:grpSp>
      <p:sp>
        <p:nvSpPr>
          <p:cNvPr id="9" name="Text Box 6">
            <a:extLst>
              <a:ext uri="{FF2B5EF4-FFF2-40B4-BE49-F238E27FC236}">
                <a16:creationId xmlns:a16="http://schemas.microsoft.com/office/drawing/2014/main" id="{648EA296-FCA0-4016-964B-11C68C48D3C2}"/>
              </a:ext>
            </a:extLst>
          </p:cNvPr>
          <p:cNvSpPr txBox="1">
            <a:spLocks noChangeArrowheads="1"/>
          </p:cNvSpPr>
          <p:nvPr/>
        </p:nvSpPr>
        <p:spPr bwMode="auto">
          <a:xfrm rot="2148400">
            <a:off x="6338835" y="4355008"/>
            <a:ext cx="860172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Calibri"/>
                <a:cs typeface="Calibri"/>
              </a:rPr>
              <a:t>Best-</a:t>
            </a:r>
            <a:r>
              <a:rPr lang="pt-BR" dirty="0" err="1">
                <a:latin typeface="Calibri"/>
                <a:cs typeface="Calibri"/>
              </a:rPr>
              <a:t>fit</a:t>
            </a: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4132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ea typeface="+mn-lt"/>
                <a:cs typeface="+mn-lt"/>
              </a:rPr>
              <a:t>Estratégias de Alocação de Partição</a:t>
            </a:r>
            <a:endParaRPr lang="pt-BR" sz="2400" dirty="0" err="1">
              <a:ea typeface="+mn-lt"/>
              <a:cs typeface="+mn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360100"/>
            <a:ext cx="11987840" cy="13721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 </a:t>
            </a:r>
            <a:r>
              <a:rPr lang="pt-BR" sz="2100" b="1" i="1" dirty="0" err="1">
                <a:ea typeface="+mn-lt"/>
                <a:cs typeface="+mn-lt"/>
              </a:rPr>
              <a:t>Worst</a:t>
            </a:r>
            <a:r>
              <a:rPr lang="pt-BR" sz="2100" b="1" dirty="0" err="1">
                <a:ea typeface="+mn-lt"/>
                <a:cs typeface="+mn-lt"/>
              </a:rPr>
              <a:t>-</a:t>
            </a:r>
            <a:r>
              <a:rPr lang="pt-BR" sz="2100" b="1" i="1" dirty="0" err="1">
                <a:ea typeface="+mn-lt"/>
                <a:cs typeface="+mn-lt"/>
              </a:rPr>
              <a:t>fit</a:t>
            </a:r>
            <a:r>
              <a:rPr lang="pt-BR" sz="2100" b="1" dirty="0">
                <a:ea typeface="+mn-lt"/>
                <a:cs typeface="+mn-lt"/>
              </a:rPr>
              <a:t> 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É escolhida a partição onde o programa deixa o </a:t>
            </a:r>
            <a:r>
              <a:rPr lang="pt-BR" sz="2100" b="1" i="1" dirty="0">
                <a:ea typeface="+mn-lt"/>
                <a:cs typeface="+mn-lt"/>
              </a:rPr>
              <a:t>maior</a:t>
            </a:r>
            <a:r>
              <a:rPr lang="pt-BR" sz="2100" dirty="0">
                <a:ea typeface="+mn-lt"/>
                <a:cs typeface="+mn-lt"/>
              </a:rPr>
              <a:t> espaço sem utilização;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Espaços livres maiores são deixados permitindo que um maior número de programas utilize a memória, </a:t>
            </a:r>
            <a:r>
              <a:rPr lang="pt-BR" sz="2100" b="1" i="1" dirty="0">
                <a:ea typeface="+mn-lt"/>
                <a:cs typeface="+mn-lt"/>
              </a:rPr>
              <a:t>diminuindo</a:t>
            </a:r>
            <a:r>
              <a:rPr lang="pt-BR" sz="2100" dirty="0">
                <a:ea typeface="+mn-lt"/>
                <a:cs typeface="+mn-lt"/>
              </a:rPr>
              <a:t> o problema da fragmentação.</a:t>
            </a:r>
            <a:endParaRPr lang="pt-BR" sz="2100" dirty="0">
              <a:cs typeface="Calibri" panose="020F0502020204030204"/>
            </a:endParaRP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FEB8DA4F-DADA-4711-B4D4-28187898BB82}"/>
              </a:ext>
            </a:extLst>
          </p:cNvPr>
          <p:cNvGrpSpPr/>
          <p:nvPr/>
        </p:nvGrpSpPr>
        <p:grpSpPr>
          <a:xfrm>
            <a:off x="1703512" y="2780928"/>
            <a:ext cx="8174213" cy="4007396"/>
            <a:chOff x="1703512" y="2780928"/>
            <a:chExt cx="8174213" cy="4007396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E591A735-4C74-46D2-92A2-61C39F7570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03512" y="2780928"/>
              <a:ext cx="7995196" cy="4007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" name="Text Box 6">
              <a:extLst>
                <a:ext uri="{FF2B5EF4-FFF2-40B4-BE49-F238E27FC236}">
                  <a16:creationId xmlns:a16="http://schemas.microsoft.com/office/drawing/2014/main" id="{E47EDEF2-7A45-463E-81F9-42EF8A0CF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020" y="2802601"/>
              <a:ext cx="1976823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latin typeface="+mj-lt"/>
                </a:rPr>
                <a:t>Memória Principal</a:t>
              </a:r>
            </a:p>
          </p:txBody>
        </p:sp>
        <p:sp>
          <p:nvSpPr>
            <p:cNvPr id="33" name="Seta: para Baixo 32">
              <a:extLst>
                <a:ext uri="{FF2B5EF4-FFF2-40B4-BE49-F238E27FC236}">
                  <a16:creationId xmlns:a16="http://schemas.microsoft.com/office/drawing/2014/main" id="{100E8324-D095-4125-92C7-C48ACE9D8BDE}"/>
                </a:ext>
              </a:extLst>
            </p:cNvPr>
            <p:cNvSpPr/>
            <p:nvPr/>
          </p:nvSpPr>
          <p:spPr>
            <a:xfrm rot="16200000">
              <a:off x="6405257" y="3745878"/>
              <a:ext cx="261016" cy="1512168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dirty="0"/>
            </a:p>
          </p:txBody>
        </p:sp>
        <p:sp>
          <p:nvSpPr>
            <p:cNvPr id="34" name="Text Box 6">
              <a:extLst>
                <a:ext uri="{FF2B5EF4-FFF2-40B4-BE49-F238E27FC236}">
                  <a16:creationId xmlns:a16="http://schemas.microsoft.com/office/drawing/2014/main" id="{8F31C279-85DE-4D9C-AD88-50E0F52B6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7197" y="4064372"/>
              <a:ext cx="1041504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 err="1">
                  <a:latin typeface="+mj-lt"/>
                </a:rPr>
                <a:t>Worst-fit</a:t>
              </a:r>
              <a:endParaRPr lang="pt-BR" dirty="0">
                <a:latin typeface="+mj-lt"/>
              </a:endParaRPr>
            </a:p>
          </p:txBody>
        </p:sp>
        <p:sp>
          <p:nvSpPr>
            <p:cNvPr id="35" name="Text Box 6">
              <a:extLst>
                <a:ext uri="{FF2B5EF4-FFF2-40B4-BE49-F238E27FC236}">
                  <a16:creationId xmlns:a16="http://schemas.microsoft.com/office/drawing/2014/main" id="{26D22CA7-2C31-4C31-9CC4-2A399696C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9956" y="3875098"/>
              <a:ext cx="614271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>
                  <a:latin typeface="+mj-lt"/>
                </a:rPr>
                <a:t>4 KB</a:t>
              </a:r>
            </a:p>
          </p:txBody>
        </p:sp>
        <p:sp>
          <p:nvSpPr>
            <p:cNvPr id="36" name="Text Box 6">
              <a:extLst>
                <a:ext uri="{FF2B5EF4-FFF2-40B4-BE49-F238E27FC236}">
                  <a16:creationId xmlns:a16="http://schemas.microsoft.com/office/drawing/2014/main" id="{5CE38F91-86C1-44C0-8DE0-95D9C4E42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5604" y="5027226"/>
              <a:ext cx="614271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>
                  <a:solidFill>
                    <a:srgbClr val="996600"/>
                  </a:solidFill>
                  <a:latin typeface="+mj-lt"/>
                </a:rPr>
                <a:t>5 KB</a:t>
              </a:r>
            </a:p>
          </p:txBody>
        </p:sp>
        <p:sp>
          <p:nvSpPr>
            <p:cNvPr id="37" name="Text Box 6">
              <a:extLst>
                <a:ext uri="{FF2B5EF4-FFF2-40B4-BE49-F238E27FC236}">
                  <a16:creationId xmlns:a16="http://schemas.microsoft.com/office/drawing/2014/main" id="{0E9D2476-128B-4F6B-BF05-2E0850585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924" y="6179354"/>
              <a:ext cx="614271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>
                  <a:latin typeface="+mj-lt"/>
                </a:rPr>
                <a:t>3 KB</a:t>
              </a:r>
            </a:p>
          </p:txBody>
        </p:sp>
        <p:sp>
          <p:nvSpPr>
            <p:cNvPr id="38" name="Text Box 6">
              <a:extLst>
                <a:ext uri="{FF2B5EF4-FFF2-40B4-BE49-F238E27FC236}">
                  <a16:creationId xmlns:a16="http://schemas.microsoft.com/office/drawing/2014/main" id="{19541F51-E58D-47F1-8C30-748FB356E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3512" y="5157192"/>
              <a:ext cx="614271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>
                  <a:latin typeface="+mj-lt"/>
                </a:rPr>
                <a:t>1 KB</a:t>
              </a:r>
            </a:p>
          </p:txBody>
        </p:sp>
        <p:sp>
          <p:nvSpPr>
            <p:cNvPr id="39" name="Text Box 6">
              <a:extLst>
                <a:ext uri="{FF2B5EF4-FFF2-40B4-BE49-F238E27FC236}">
                  <a16:creationId xmlns:a16="http://schemas.microsoft.com/office/drawing/2014/main" id="{23FFDA3E-E9BD-449F-95E1-6269C49FF2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66660" y="4962361"/>
              <a:ext cx="611065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>
                  <a:solidFill>
                    <a:srgbClr val="996600"/>
                  </a:solidFill>
                  <a:latin typeface="+mj-lt"/>
                </a:rPr>
                <a:t>4 KB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0317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ea typeface="+mn-lt"/>
                <a:cs typeface="+mn-lt"/>
              </a:rPr>
              <a:t>Estratégias de Alocação de Partição</a:t>
            </a:r>
            <a:endParaRPr lang="pt-BR" sz="2400" dirty="0" err="1">
              <a:ea typeface="+mn-lt"/>
              <a:cs typeface="+mn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762666"/>
            <a:ext cx="11987840" cy="2159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b="1" i="1" dirty="0" err="1">
                <a:ea typeface="+mn-lt"/>
                <a:cs typeface="+mn-lt"/>
              </a:rPr>
              <a:t>First-fit</a:t>
            </a:r>
            <a:endParaRPr lang="pt-BR" sz="2200" i="1" dirty="0" err="1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primeira partição livre de tamanho suficiente para carregar o programa é escolhida;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lista de áreas livres está ordenada por endereços </a:t>
            </a:r>
            <a:r>
              <a:rPr lang="pt-BR" sz="2100" i="1" dirty="0">
                <a:ea typeface="+mn-lt"/>
                <a:cs typeface="+mn-lt"/>
              </a:rPr>
              <a:t>crescentemente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Esse método tenta primeiro utilizar as áreas livres de endereços mais baixos;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Das três estratégias apresentadas, a </a:t>
            </a:r>
            <a:r>
              <a:rPr lang="pt-BR" sz="2100" i="1" dirty="0" err="1">
                <a:ea typeface="+mn-lt"/>
                <a:cs typeface="+mn-lt"/>
              </a:rPr>
              <a:t>first-fit</a:t>
            </a:r>
            <a:r>
              <a:rPr lang="pt-BR" sz="2100" dirty="0">
                <a:ea typeface="+mn-lt"/>
                <a:cs typeface="+mn-lt"/>
              </a:rPr>
              <a:t> é a mais rápida, consumindo menos recursos do sistema.</a:t>
            </a:r>
            <a:endParaRPr lang="en-US" sz="2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1468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ea typeface="+mn-lt"/>
                <a:cs typeface="+mn-lt"/>
              </a:rPr>
              <a:t>Estratégias de Alocação de Partição</a:t>
            </a:r>
            <a:endParaRPr lang="pt-BR" sz="2400" dirty="0" err="1">
              <a:ea typeface="+mn-lt"/>
              <a:cs typeface="+mn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417609"/>
            <a:ext cx="11987840" cy="397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b="1" i="1" dirty="0" err="1">
                <a:ea typeface="+mn-lt"/>
                <a:cs typeface="+mn-lt"/>
              </a:rPr>
              <a:t>First-fit</a:t>
            </a:r>
            <a:r>
              <a:rPr lang="pt-BR" sz="2200" b="1" i="1" dirty="0">
                <a:ea typeface="+mn-lt"/>
                <a:cs typeface="+mn-lt"/>
              </a:rPr>
              <a:t> - </a:t>
            </a:r>
            <a:r>
              <a:rPr lang="pt-BR" sz="2200" b="1" dirty="0">
                <a:ea typeface="+mn-lt"/>
                <a:cs typeface="+mn-lt"/>
              </a:rPr>
              <a:t>Exemplo</a:t>
            </a:r>
            <a:r>
              <a:rPr lang="pt-BR" sz="2100" dirty="0">
                <a:ea typeface="+mn-lt"/>
                <a:cs typeface="+mn-lt"/>
              </a:rPr>
              <a:t>.</a:t>
            </a:r>
            <a:endParaRPr lang="en-US" sz="2100" dirty="0">
              <a:ea typeface="+mn-lt"/>
              <a:cs typeface="+mn-lt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3C37A78-D041-4AEF-9702-B6BC4F9618AC}"/>
              </a:ext>
            </a:extLst>
          </p:cNvPr>
          <p:cNvGrpSpPr/>
          <p:nvPr/>
        </p:nvGrpSpPr>
        <p:grpSpPr>
          <a:xfrm>
            <a:off x="930424" y="2060121"/>
            <a:ext cx="9846096" cy="4519490"/>
            <a:chOff x="930424" y="1628800"/>
            <a:chExt cx="9846096" cy="451949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E11C08B1-71B3-4EBF-8E61-1CEE9B001A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30424" y="1628800"/>
              <a:ext cx="9720000" cy="4519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96DBAD4D-12BC-4A05-9FED-6BB6D4290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1143" y="2852936"/>
              <a:ext cx="614271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>
                  <a:solidFill>
                    <a:srgbClr val="996600"/>
                  </a:solidFill>
                  <a:latin typeface="Calibri"/>
                  <a:cs typeface="Calibri"/>
                </a:rPr>
                <a:t>4 KB</a:t>
              </a: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6B4D2C9F-845E-4E37-836C-F21F5903A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6791" y="4005064"/>
              <a:ext cx="614271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>
                  <a:latin typeface="Calibri"/>
                  <a:cs typeface="Calibri"/>
                </a:rPr>
                <a:t>5 KB</a:t>
              </a:r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FF744F75-466D-4F85-BA9F-664186280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1142" y="5526524"/>
              <a:ext cx="614271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>
                  <a:latin typeface="Calibri"/>
                  <a:cs typeface="Calibri"/>
                </a:rPr>
                <a:t>3 KB</a:t>
              </a:r>
            </a:p>
          </p:txBody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9AE4099C-747B-4E34-A036-7971127BA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229" y="4318976"/>
              <a:ext cx="614271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>
                  <a:latin typeface="Calibri"/>
                  <a:cs typeface="Calibri"/>
                </a:rPr>
                <a:t>1 KB</a:t>
              </a:r>
            </a:p>
          </p:txBody>
        </p:sp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BA3E747A-1784-4B85-BA01-E1EF7465CE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65455" y="3007545"/>
              <a:ext cx="611065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>
                  <a:solidFill>
                    <a:srgbClr val="996600"/>
                  </a:solidFill>
                  <a:latin typeface="Calibri"/>
                  <a:cs typeface="Calibri"/>
                </a:rPr>
                <a:t>3 KB</a:t>
              </a:r>
            </a:p>
          </p:txBody>
        </p:sp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62F6B789-F49C-4DAD-B026-B8EC481AC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2672" y="1628800"/>
              <a:ext cx="1976823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latin typeface="Calibri"/>
                  <a:cs typeface="Calibri"/>
                </a:rPr>
                <a:t>Memória Principal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4740977B-E85C-424B-84B2-B6AC01C331EC}"/>
                </a:ext>
              </a:extLst>
            </p:cNvPr>
            <p:cNvSpPr/>
            <p:nvPr/>
          </p:nvSpPr>
          <p:spPr>
            <a:xfrm>
              <a:off x="6042991" y="2492896"/>
              <a:ext cx="1440161" cy="2195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E8F906B6-6ED7-4528-9FA8-4A9FED5406BD}"/>
                </a:ext>
              </a:extLst>
            </p:cNvPr>
            <p:cNvSpPr/>
            <p:nvPr/>
          </p:nvSpPr>
          <p:spPr>
            <a:xfrm rot="14272030">
              <a:off x="6641520" y="2172768"/>
              <a:ext cx="261016" cy="2408218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dirty="0"/>
            </a:p>
          </p:txBody>
        </p:sp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id="{3794B5CC-32DE-4A18-B14A-7CCCECC07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672030">
              <a:off x="6087499" y="3037602"/>
              <a:ext cx="874983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i="1" dirty="0" err="1">
                  <a:latin typeface="Calibri"/>
                  <a:cs typeface="Calibri"/>
                </a:rPr>
                <a:t>First-fit</a:t>
              </a:r>
              <a:endParaRPr lang="pt-BR" b="1" i="1" dirty="0"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2862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en-AU" sz="2400" i="1" dirty="0">
                <a:ea typeface="+mn-lt"/>
                <a:cs typeface="+mn-lt"/>
              </a:rPr>
              <a:t>Swapping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762666"/>
            <a:ext cx="11987840" cy="3854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 técnica de </a:t>
            </a:r>
            <a:r>
              <a:rPr lang="pt-BR" sz="2200" b="1" i="1" dirty="0">
                <a:ea typeface="+mn-lt"/>
                <a:cs typeface="+mn-lt"/>
              </a:rPr>
              <a:t>swapping</a:t>
            </a:r>
            <a:r>
              <a:rPr lang="pt-BR" sz="2200" i="1" dirty="0">
                <a:ea typeface="+mn-lt"/>
                <a:cs typeface="+mn-lt"/>
              </a:rPr>
              <a:t> </a:t>
            </a:r>
            <a:r>
              <a:rPr lang="pt-BR" sz="2200" dirty="0">
                <a:ea typeface="+mn-lt"/>
                <a:cs typeface="+mn-lt"/>
              </a:rPr>
              <a:t>foi introduzida para contornar o problema da insuficiência de memória principal;</a:t>
            </a:r>
            <a:endParaRPr lang="en-US" sz="22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 Em todos os esquemas apresentados anteriormente: </a:t>
            </a:r>
            <a:endParaRPr lang="en-US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Um processo permanecia na memória principal até o final da sua execução, inclusive nos momentos em que esperava por um evento, como uma operação de leitura ou gravação;</a:t>
            </a:r>
            <a:endParaRPr lang="en-US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2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 Funcionamento </a:t>
            </a:r>
            <a:endParaRPr lang="en-US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 sistema escolhe um processo residente, que é transferido da memória principal para a memória secundária </a:t>
            </a:r>
            <a:r>
              <a:rPr lang="pt-BR" sz="2200" i="1" dirty="0">
                <a:ea typeface="+mn-lt"/>
                <a:cs typeface="+mn-lt"/>
              </a:rPr>
              <a:t>(swap out), </a:t>
            </a:r>
            <a:r>
              <a:rPr lang="pt-BR" sz="2200" dirty="0">
                <a:ea typeface="+mn-lt"/>
                <a:cs typeface="+mn-lt"/>
              </a:rPr>
              <a:t>geralmente o disco;</a:t>
            </a:r>
            <a:endParaRPr lang="en-US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Posteriormente, o processo é carregado de volta da memória secundária para a memória principal </a:t>
            </a:r>
            <a:r>
              <a:rPr lang="pt-BR" sz="2200" i="1" dirty="0">
                <a:ea typeface="+mn-lt"/>
                <a:cs typeface="+mn-lt"/>
              </a:rPr>
              <a:t>(swap in) </a:t>
            </a:r>
            <a:r>
              <a:rPr lang="pt-BR" sz="2200" dirty="0">
                <a:ea typeface="+mn-lt"/>
                <a:cs typeface="+mn-lt"/>
              </a:rPr>
              <a:t>e pode continuar sua execução. 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200704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en-AU" sz="2400" i="1" dirty="0">
                <a:ea typeface="+mn-lt"/>
                <a:cs typeface="+mn-lt"/>
              </a:rPr>
              <a:t>Swapping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DA9C6EE-4AB0-484E-8A03-5ACE115BDF06}"/>
              </a:ext>
            </a:extLst>
          </p:cNvPr>
          <p:cNvGrpSpPr/>
          <p:nvPr/>
        </p:nvGrpSpPr>
        <p:grpSpPr>
          <a:xfrm>
            <a:off x="811146" y="1719672"/>
            <a:ext cx="8907998" cy="4200247"/>
            <a:chOff x="1127448" y="1388993"/>
            <a:chExt cx="8907998" cy="4200247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07366F54-175A-4854-929C-6DEAE8665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946" y="1820793"/>
              <a:ext cx="1655762" cy="34163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B849131F-CA8B-43E0-B94D-3DF1D2191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1361" y="5219908"/>
              <a:ext cx="1660525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/>
                <a:t>SO</a:t>
              </a:r>
            </a:p>
          </p:txBody>
        </p:sp>
        <p:grpSp>
          <p:nvGrpSpPr>
            <p:cNvPr id="9" name="Group 7">
              <a:extLst>
                <a:ext uri="{FF2B5EF4-FFF2-40B4-BE49-F238E27FC236}">
                  <a16:creationId xmlns:a16="http://schemas.microsoft.com/office/drawing/2014/main" id="{44723B3B-AF68-4ED6-BC90-88D3A366E6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4533" y="4733862"/>
              <a:ext cx="1657350" cy="369888"/>
              <a:chOff x="3224533" y="4733862"/>
              <a:chExt cx="1044" cy="233"/>
            </a:xfrm>
          </p:grpSpPr>
          <p:sp>
            <p:nvSpPr>
              <p:cNvPr id="61" name="Rectangle 8">
                <a:extLst>
                  <a:ext uri="{FF2B5EF4-FFF2-40B4-BE49-F238E27FC236}">
                    <a16:creationId xmlns:a16="http://schemas.microsoft.com/office/drawing/2014/main" id="{69878F9C-FD8D-463E-8499-C52039BD1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4533" y="4733862"/>
                <a:ext cx="1044" cy="233"/>
              </a:xfrm>
              <a:prstGeom prst="rect">
                <a:avLst/>
              </a:prstGeom>
              <a:solidFill>
                <a:srgbClr val="FFFF00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62" name="Text Box 9">
                <a:extLst>
                  <a:ext uri="{FF2B5EF4-FFF2-40B4-BE49-F238E27FC236}">
                    <a16:creationId xmlns:a16="http://schemas.microsoft.com/office/drawing/2014/main" id="{217711D6-460E-4165-8650-394D9C4157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4704" y="4733864"/>
                <a:ext cx="739" cy="2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600" b="1" dirty="0"/>
                  <a:t>Programa B</a:t>
                </a:r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11FCFA11-7CC8-4B6C-80C5-6484EB38A5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4533" y="3259072"/>
              <a:ext cx="1657350" cy="369888"/>
              <a:chOff x="3224533" y="3259072"/>
              <a:chExt cx="1044" cy="233"/>
            </a:xfrm>
          </p:grpSpPr>
          <p:sp>
            <p:nvSpPr>
              <p:cNvPr id="59" name="Rectangle 11">
                <a:extLst>
                  <a:ext uri="{FF2B5EF4-FFF2-40B4-BE49-F238E27FC236}">
                    <a16:creationId xmlns:a16="http://schemas.microsoft.com/office/drawing/2014/main" id="{F1D151F7-9921-4760-BD8B-F672E929D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4533" y="3259072"/>
                <a:ext cx="1044" cy="2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60" name="Text Box 12">
                <a:extLst>
                  <a:ext uri="{FF2B5EF4-FFF2-40B4-BE49-F238E27FC236}">
                    <a16:creationId xmlns:a16="http://schemas.microsoft.com/office/drawing/2014/main" id="{6F085434-13C2-4F31-8BF6-2FEB32FFE2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4744" y="3259097"/>
                <a:ext cx="567" cy="1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E</a:t>
                </a:r>
              </a:p>
            </p:txBody>
          </p:sp>
        </p:grpSp>
        <p:grpSp>
          <p:nvGrpSpPr>
            <p:cNvPr id="11" name="Group 61">
              <a:extLst>
                <a:ext uri="{FF2B5EF4-FFF2-40B4-BE49-F238E27FC236}">
                  <a16:creationId xmlns:a16="http://schemas.microsoft.com/office/drawing/2014/main" id="{595964B3-F6D8-4C4E-94D5-46AF348291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4533" y="3978211"/>
              <a:ext cx="1657350" cy="369888"/>
              <a:chOff x="3224533" y="3978211"/>
              <a:chExt cx="1044" cy="233"/>
            </a:xfrm>
          </p:grpSpPr>
          <p:sp>
            <p:nvSpPr>
              <p:cNvPr id="57" name="Rectangle 13">
                <a:extLst>
                  <a:ext uri="{FF2B5EF4-FFF2-40B4-BE49-F238E27FC236}">
                    <a16:creationId xmlns:a16="http://schemas.microsoft.com/office/drawing/2014/main" id="{CDEF9A99-E014-4727-BF7E-110E1CB9F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4533" y="3978211"/>
                <a:ext cx="1044" cy="2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58" name="Text Box 14">
                <a:extLst>
                  <a:ext uri="{FF2B5EF4-FFF2-40B4-BE49-F238E27FC236}">
                    <a16:creationId xmlns:a16="http://schemas.microsoft.com/office/drawing/2014/main" id="{4C5CC3FD-9AFE-43E2-A312-2D3173706D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4745" y="3978236"/>
                <a:ext cx="579" cy="1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D</a:t>
                </a:r>
              </a:p>
            </p:txBody>
          </p:sp>
        </p:grpSp>
        <p:sp>
          <p:nvSpPr>
            <p:cNvPr id="12" name="Text Box 17">
              <a:extLst>
                <a:ext uri="{FF2B5EF4-FFF2-40B4-BE49-F238E27FC236}">
                  <a16:creationId xmlns:a16="http://schemas.microsoft.com/office/drawing/2014/main" id="{ED4D0BB0-6335-453D-AE6C-A2FA993AB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458" y="3298758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3 KB</a:t>
              </a:r>
            </a:p>
          </p:txBody>
        </p:sp>
        <p:sp>
          <p:nvSpPr>
            <p:cNvPr id="13" name="Text Box 18">
              <a:extLst>
                <a:ext uri="{FF2B5EF4-FFF2-40B4-BE49-F238E27FC236}">
                  <a16:creationId xmlns:a16="http://schemas.microsoft.com/office/drawing/2014/main" id="{13A76E11-2CEF-4372-B8FE-3239F852A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544" y="4005850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6 KB</a:t>
              </a:r>
            </a:p>
          </p:txBody>
        </p:sp>
        <p:sp>
          <p:nvSpPr>
            <p:cNvPr id="14" name="Text Box 19">
              <a:extLst>
                <a:ext uri="{FF2B5EF4-FFF2-40B4-BE49-F238E27FC236}">
                  <a16:creationId xmlns:a16="http://schemas.microsoft.com/office/drawing/2014/main" id="{5C3B13D9-82D0-4AB2-90C5-B28911243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458" y="2001771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2 KB</a:t>
              </a:r>
            </a:p>
          </p:txBody>
        </p:sp>
        <p:sp>
          <p:nvSpPr>
            <p:cNvPr id="15" name="Text Box 21">
              <a:extLst>
                <a:ext uri="{FF2B5EF4-FFF2-40B4-BE49-F238E27FC236}">
                  <a16:creationId xmlns:a16="http://schemas.microsoft.com/office/drawing/2014/main" id="{3D9C89AA-D086-4E29-97D9-9787E6943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461" y="4794183"/>
              <a:ext cx="514885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b="1" dirty="0"/>
                <a:t>4 KB</a:t>
              </a:r>
            </a:p>
          </p:txBody>
        </p:sp>
        <p:sp>
          <p:nvSpPr>
            <p:cNvPr id="16" name="Text Box 22">
              <a:extLst>
                <a:ext uri="{FF2B5EF4-FFF2-40B4-BE49-F238E27FC236}">
                  <a16:creationId xmlns:a16="http://schemas.microsoft.com/office/drawing/2014/main" id="{8284B99E-0E55-41EB-AF0E-16C9E6B70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9349" y="2093179"/>
              <a:ext cx="80733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Área Livre</a:t>
              </a:r>
            </a:p>
          </p:txBody>
        </p:sp>
        <p:sp>
          <p:nvSpPr>
            <p:cNvPr id="17" name="Text Box 23">
              <a:extLst>
                <a:ext uri="{FF2B5EF4-FFF2-40B4-BE49-F238E27FC236}">
                  <a16:creationId xmlns:a16="http://schemas.microsoft.com/office/drawing/2014/main" id="{DBD18ED1-BBB3-40A8-8319-F8B799E2CA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6900" y="1388993"/>
              <a:ext cx="1976823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latin typeface="Calibri"/>
                  <a:cs typeface="Calibri"/>
                </a:rPr>
                <a:t>Memória Principal</a:t>
              </a:r>
            </a:p>
          </p:txBody>
        </p:sp>
        <p:grpSp>
          <p:nvGrpSpPr>
            <p:cNvPr id="18" name="Group 24">
              <a:extLst>
                <a:ext uri="{FF2B5EF4-FFF2-40B4-BE49-F238E27FC236}">
                  <a16:creationId xmlns:a16="http://schemas.microsoft.com/office/drawing/2014/main" id="{B8ED1073-6EF9-4E07-94B0-843E11BC79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7448" y="3217797"/>
              <a:ext cx="679451" cy="977901"/>
              <a:chOff x="1127448" y="3217797"/>
              <a:chExt cx="428" cy="616"/>
            </a:xfrm>
          </p:grpSpPr>
          <p:sp>
            <p:nvSpPr>
              <p:cNvPr id="54" name="Oval 25">
                <a:extLst>
                  <a:ext uri="{FF2B5EF4-FFF2-40B4-BE49-F238E27FC236}">
                    <a16:creationId xmlns:a16="http://schemas.microsoft.com/office/drawing/2014/main" id="{15659F7F-F505-4444-B6E5-1A3147357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491" y="3217797"/>
                <a:ext cx="327" cy="327"/>
              </a:xfrm>
              <a:prstGeom prst="ellipse">
                <a:avLst/>
              </a:prstGeom>
              <a:solidFill>
                <a:srgbClr val="FF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dirty="0"/>
              </a:p>
            </p:txBody>
          </p:sp>
          <p:sp>
            <p:nvSpPr>
              <p:cNvPr id="55" name="Text Box 26">
                <a:extLst>
                  <a:ext uri="{FF2B5EF4-FFF2-40B4-BE49-F238E27FC236}">
                    <a16:creationId xmlns:a16="http://schemas.microsoft.com/office/drawing/2014/main" id="{3C796D43-F5E4-4C2A-82AE-4C4E0EA4EB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546" y="3217843"/>
                <a:ext cx="208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/>
                  <a:t>G</a:t>
                </a:r>
              </a:p>
            </p:txBody>
          </p:sp>
          <p:sp>
            <p:nvSpPr>
              <p:cNvPr id="56" name="Text Box 27">
                <a:extLst>
                  <a:ext uri="{FF2B5EF4-FFF2-40B4-BE49-F238E27FC236}">
                    <a16:creationId xmlns:a16="http://schemas.microsoft.com/office/drawing/2014/main" id="{303888FD-3D79-4E5D-B050-3829DE997F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3218151"/>
                <a:ext cx="428" cy="26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100" b="1" dirty="0"/>
                  <a:t>3 KB</a:t>
                </a:r>
              </a:p>
            </p:txBody>
          </p:sp>
        </p:grpSp>
        <p:sp>
          <p:nvSpPr>
            <p:cNvPr id="19" name="Line 28">
              <a:extLst>
                <a:ext uri="{FF2B5EF4-FFF2-40B4-BE49-F238E27FC236}">
                  <a16:creationId xmlns:a16="http://schemas.microsoft.com/office/drawing/2014/main" id="{018C4F67-2F9D-440D-B28D-B89B0DD25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9921" y="3514655"/>
              <a:ext cx="863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" name="Text Box 29">
              <a:extLst>
                <a:ext uri="{FF2B5EF4-FFF2-40B4-BE49-F238E27FC236}">
                  <a16:creationId xmlns:a16="http://schemas.microsoft.com/office/drawing/2014/main" id="{F2D9000A-37DB-483C-8CA8-B201C68F3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3346" y="3136833"/>
              <a:ext cx="385042" cy="6463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6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1" name="Freeform 39">
              <a:extLst>
                <a:ext uri="{FF2B5EF4-FFF2-40B4-BE49-F238E27FC236}">
                  <a16:creationId xmlns:a16="http://schemas.microsoft.com/office/drawing/2014/main" id="{E5027AB9-5E11-43F5-91D3-5882B0A6933C}"/>
                </a:ext>
              </a:extLst>
            </p:cNvPr>
            <p:cNvSpPr>
              <a:spLocks/>
            </p:cNvSpPr>
            <p:nvPr/>
          </p:nvSpPr>
          <p:spPr bwMode="auto">
            <a:xfrm rot="-2745594">
              <a:off x="5554190" y="4553158"/>
              <a:ext cx="792162" cy="369332"/>
            </a:xfrm>
            <a:custGeom>
              <a:avLst/>
              <a:gdLst>
                <a:gd name="T0" fmla="*/ 0 w 1179"/>
                <a:gd name="T1" fmla="*/ 0 h 1088"/>
                <a:gd name="T2" fmla="*/ 2147483647 w 1179"/>
                <a:gd name="T3" fmla="*/ 2147483647 h 1088"/>
                <a:gd name="T4" fmla="*/ 2147483647 w 1179"/>
                <a:gd name="T5" fmla="*/ 2147483647 h 1088"/>
                <a:gd name="T6" fmla="*/ 0 60000 65536"/>
                <a:gd name="T7" fmla="*/ 0 60000 65536"/>
                <a:gd name="T8" fmla="*/ 0 60000 65536"/>
                <a:gd name="T9" fmla="*/ 0 w 1179"/>
                <a:gd name="T10" fmla="*/ 0 h 1088"/>
                <a:gd name="T11" fmla="*/ 1179 w 1179"/>
                <a:gd name="T12" fmla="*/ 1088 h 10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79" h="1088">
                  <a:moveTo>
                    <a:pt x="0" y="0"/>
                  </a:moveTo>
                  <a:cubicBezTo>
                    <a:pt x="355" y="23"/>
                    <a:pt x="711" y="46"/>
                    <a:pt x="907" y="227"/>
                  </a:cubicBezTo>
                  <a:cubicBezTo>
                    <a:pt x="1103" y="408"/>
                    <a:pt x="1134" y="945"/>
                    <a:pt x="1179" y="1088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grpSp>
          <p:nvGrpSpPr>
            <p:cNvPr id="22" name="Group 62">
              <a:extLst>
                <a:ext uri="{FF2B5EF4-FFF2-40B4-BE49-F238E27FC236}">
                  <a16:creationId xmlns:a16="http://schemas.microsoft.com/office/drawing/2014/main" id="{1CBD27EA-4A04-4B82-8646-7E424D59B9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2946" y="2682810"/>
              <a:ext cx="1657350" cy="369888"/>
              <a:chOff x="3222946" y="2682810"/>
              <a:chExt cx="1044" cy="233"/>
            </a:xfrm>
          </p:grpSpPr>
          <p:sp>
            <p:nvSpPr>
              <p:cNvPr id="52" name="Rectangle 63">
                <a:extLst>
                  <a:ext uri="{FF2B5EF4-FFF2-40B4-BE49-F238E27FC236}">
                    <a16:creationId xmlns:a16="http://schemas.microsoft.com/office/drawing/2014/main" id="{244730F6-5A47-4DD9-8A58-DAA55E3F99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946" y="2682810"/>
                <a:ext cx="1044" cy="2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53" name="Text Box 64">
                <a:extLst>
                  <a:ext uri="{FF2B5EF4-FFF2-40B4-BE49-F238E27FC236}">
                    <a16:creationId xmlns:a16="http://schemas.microsoft.com/office/drawing/2014/main" id="{CDC9D163-CDC7-413D-AE45-7C0E3D05A8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3160" y="2682835"/>
                <a:ext cx="564" cy="1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F</a:t>
                </a:r>
              </a:p>
            </p:txBody>
          </p:sp>
        </p:grpSp>
        <p:sp>
          <p:nvSpPr>
            <p:cNvPr id="23" name="Text Box 65">
              <a:extLst>
                <a:ext uri="{FF2B5EF4-FFF2-40B4-BE49-F238E27FC236}">
                  <a16:creationId xmlns:a16="http://schemas.microsoft.com/office/drawing/2014/main" id="{B586FF40-090B-49A3-B2A7-05F0FCE04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696" y="2705033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3 KB</a:t>
              </a:r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02709D66-686F-49FE-9B2F-44E4DA698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3046" y="1820793"/>
              <a:ext cx="1655762" cy="34163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</p:txBody>
        </p:sp>
        <p:sp>
          <p:nvSpPr>
            <p:cNvPr id="25" name="Rectangle 67">
              <a:extLst>
                <a:ext uri="{FF2B5EF4-FFF2-40B4-BE49-F238E27FC236}">
                  <a16:creationId xmlns:a16="http://schemas.microsoft.com/office/drawing/2014/main" id="{AF3F7907-7834-4DCF-9B10-105095F8B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3049" y="5219908"/>
              <a:ext cx="1654175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/>
                <a:t>SO</a:t>
              </a:r>
            </a:p>
          </p:txBody>
        </p:sp>
        <p:grpSp>
          <p:nvGrpSpPr>
            <p:cNvPr id="26" name="Group 71">
              <a:extLst>
                <a:ext uri="{FF2B5EF4-FFF2-40B4-BE49-F238E27FC236}">
                  <a16:creationId xmlns:a16="http://schemas.microsoft.com/office/drawing/2014/main" id="{9CF89B3B-8218-44E8-B5F1-C9D42AA31D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34633" y="3259072"/>
              <a:ext cx="1657350" cy="369888"/>
              <a:chOff x="7834633" y="3259072"/>
              <a:chExt cx="1044" cy="233"/>
            </a:xfrm>
          </p:grpSpPr>
          <p:sp>
            <p:nvSpPr>
              <p:cNvPr id="50" name="Rectangle 72">
                <a:extLst>
                  <a:ext uri="{FF2B5EF4-FFF2-40B4-BE49-F238E27FC236}">
                    <a16:creationId xmlns:a16="http://schemas.microsoft.com/office/drawing/2014/main" id="{2E857AA3-B8B6-4070-BD78-83A1888E0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34633" y="3259072"/>
                <a:ext cx="1044" cy="2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51" name="Text Box 73">
                <a:extLst>
                  <a:ext uri="{FF2B5EF4-FFF2-40B4-BE49-F238E27FC236}">
                    <a16:creationId xmlns:a16="http://schemas.microsoft.com/office/drawing/2014/main" id="{778CE1C1-ABD4-425C-8309-6920A87E78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4844" y="3259097"/>
                <a:ext cx="567" cy="1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E</a:t>
                </a:r>
              </a:p>
            </p:txBody>
          </p:sp>
        </p:grpSp>
        <p:grpSp>
          <p:nvGrpSpPr>
            <p:cNvPr id="27" name="Group 74">
              <a:extLst>
                <a:ext uri="{FF2B5EF4-FFF2-40B4-BE49-F238E27FC236}">
                  <a16:creationId xmlns:a16="http://schemas.microsoft.com/office/drawing/2014/main" id="{C84FAA4A-7726-45A7-AE4F-295F93DB52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34633" y="3978211"/>
              <a:ext cx="1652588" cy="369888"/>
              <a:chOff x="7834633" y="3978211"/>
              <a:chExt cx="1044" cy="233"/>
            </a:xfrm>
          </p:grpSpPr>
          <p:sp>
            <p:nvSpPr>
              <p:cNvPr id="48" name="Rectangle 75">
                <a:extLst>
                  <a:ext uri="{FF2B5EF4-FFF2-40B4-BE49-F238E27FC236}">
                    <a16:creationId xmlns:a16="http://schemas.microsoft.com/office/drawing/2014/main" id="{AC3CE7D6-F681-4ECE-9C16-3B6B16617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34633" y="3978211"/>
                <a:ext cx="1044" cy="2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49" name="Text Box 76">
                <a:extLst>
                  <a:ext uri="{FF2B5EF4-FFF2-40B4-BE49-F238E27FC236}">
                    <a16:creationId xmlns:a16="http://schemas.microsoft.com/office/drawing/2014/main" id="{5E4C01FA-1ECA-4299-99BD-450C0A6259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4845" y="3978236"/>
                <a:ext cx="581" cy="1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D</a:t>
                </a:r>
              </a:p>
            </p:txBody>
          </p:sp>
        </p:grpSp>
        <p:sp>
          <p:nvSpPr>
            <p:cNvPr id="28" name="Text Box 77">
              <a:extLst>
                <a:ext uri="{FF2B5EF4-FFF2-40B4-BE49-F238E27FC236}">
                  <a16:creationId xmlns:a16="http://schemas.microsoft.com/office/drawing/2014/main" id="{7CB40414-B5AB-44DE-9CA3-B434893F1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0558" y="3298758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3 KB</a:t>
              </a:r>
            </a:p>
          </p:txBody>
        </p:sp>
        <p:sp>
          <p:nvSpPr>
            <p:cNvPr id="29" name="Text Box 78">
              <a:extLst>
                <a:ext uri="{FF2B5EF4-FFF2-40B4-BE49-F238E27FC236}">
                  <a16:creationId xmlns:a16="http://schemas.microsoft.com/office/drawing/2014/main" id="{740F70C1-6D5D-48B0-B69C-A8B2C2C29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4211" y="4018121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6 KB</a:t>
              </a:r>
            </a:p>
          </p:txBody>
        </p:sp>
        <p:sp>
          <p:nvSpPr>
            <p:cNvPr id="30" name="Text Box 79">
              <a:extLst>
                <a:ext uri="{FF2B5EF4-FFF2-40B4-BE49-F238E27FC236}">
                  <a16:creationId xmlns:a16="http://schemas.microsoft.com/office/drawing/2014/main" id="{6D379725-60B1-487B-9132-F9AA9B4BB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0558" y="2001771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2 KB</a:t>
              </a:r>
            </a:p>
          </p:txBody>
        </p:sp>
        <p:sp>
          <p:nvSpPr>
            <p:cNvPr id="31" name="Text Box 80">
              <a:extLst>
                <a:ext uri="{FF2B5EF4-FFF2-40B4-BE49-F238E27FC236}">
                  <a16:creationId xmlns:a16="http://schemas.microsoft.com/office/drawing/2014/main" id="{00F5AA2F-B2BC-4E4F-9D25-B71DC5279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0561" y="4837911"/>
              <a:ext cx="514885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b="1" dirty="0"/>
                <a:t>3 KB</a:t>
              </a:r>
            </a:p>
          </p:txBody>
        </p:sp>
        <p:sp>
          <p:nvSpPr>
            <p:cNvPr id="32" name="Text Box 81">
              <a:extLst>
                <a:ext uri="{FF2B5EF4-FFF2-40B4-BE49-F238E27FC236}">
                  <a16:creationId xmlns:a16="http://schemas.microsoft.com/office/drawing/2014/main" id="{DC878F1F-988C-46F1-B5BE-85D404201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3126" y="2098220"/>
              <a:ext cx="80733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Área Livre</a:t>
              </a:r>
            </a:p>
          </p:txBody>
        </p:sp>
        <p:sp>
          <p:nvSpPr>
            <p:cNvPr id="33" name="Text Box 82">
              <a:extLst>
                <a:ext uri="{FF2B5EF4-FFF2-40B4-BE49-F238E27FC236}">
                  <a16:creationId xmlns:a16="http://schemas.microsoft.com/office/drawing/2014/main" id="{144B31AC-A7A2-4331-A2CC-078FAB6DF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1600" y="1388993"/>
              <a:ext cx="1976823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>
                  <a:latin typeface="Calibri"/>
                  <a:cs typeface="Calibri"/>
                </a:rPr>
                <a:t>Memória Principal</a:t>
              </a:r>
            </a:p>
          </p:txBody>
        </p:sp>
        <p:grpSp>
          <p:nvGrpSpPr>
            <p:cNvPr id="34" name="Group 83">
              <a:extLst>
                <a:ext uri="{FF2B5EF4-FFF2-40B4-BE49-F238E27FC236}">
                  <a16:creationId xmlns:a16="http://schemas.microsoft.com/office/drawing/2014/main" id="{C3FBF10C-A7FD-4AB1-860D-B1D6502EDB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33046" y="2682810"/>
              <a:ext cx="1657350" cy="369888"/>
              <a:chOff x="7833046" y="2682810"/>
              <a:chExt cx="1044" cy="233"/>
            </a:xfrm>
          </p:grpSpPr>
          <p:sp>
            <p:nvSpPr>
              <p:cNvPr id="46" name="Rectangle 84">
                <a:extLst>
                  <a:ext uri="{FF2B5EF4-FFF2-40B4-BE49-F238E27FC236}">
                    <a16:creationId xmlns:a16="http://schemas.microsoft.com/office/drawing/2014/main" id="{AFE3BE7C-E7C2-4690-844C-A7889EBA54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33046" y="2682810"/>
                <a:ext cx="1044" cy="2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47" name="Text Box 85">
                <a:extLst>
                  <a:ext uri="{FF2B5EF4-FFF2-40B4-BE49-F238E27FC236}">
                    <a16:creationId xmlns:a16="http://schemas.microsoft.com/office/drawing/2014/main" id="{BD0FC3D7-47E8-490B-AD64-D4658618AE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3260" y="2682835"/>
                <a:ext cx="564" cy="1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F</a:t>
                </a:r>
              </a:p>
            </p:txBody>
          </p:sp>
        </p:grpSp>
        <p:sp>
          <p:nvSpPr>
            <p:cNvPr id="35" name="Text Box 86">
              <a:extLst>
                <a:ext uri="{FF2B5EF4-FFF2-40B4-BE49-F238E27FC236}">
                  <a16:creationId xmlns:a16="http://schemas.microsoft.com/office/drawing/2014/main" id="{12F1CCA5-9C54-4807-9239-AB6C8EF31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5796" y="2705033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3 KB</a:t>
              </a:r>
            </a:p>
          </p:txBody>
        </p:sp>
        <p:sp>
          <p:nvSpPr>
            <p:cNvPr id="36" name="Text Box 87">
              <a:extLst>
                <a:ext uri="{FF2B5EF4-FFF2-40B4-BE49-F238E27FC236}">
                  <a16:creationId xmlns:a16="http://schemas.microsoft.com/office/drawing/2014/main" id="{750A5A8B-CBF8-4638-9FD6-2125DB02A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7371" y="4162358"/>
              <a:ext cx="878382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400" b="1" dirty="0"/>
                <a:t>Swap out</a:t>
              </a:r>
            </a:p>
          </p:txBody>
        </p:sp>
        <p:grpSp>
          <p:nvGrpSpPr>
            <p:cNvPr id="37" name="Group 91">
              <a:extLst>
                <a:ext uri="{FF2B5EF4-FFF2-40B4-BE49-F238E27FC236}">
                  <a16:creationId xmlns:a16="http://schemas.microsoft.com/office/drawing/2014/main" id="{DCE0FE85-FDBD-46C2-A0C8-CDD97DCDE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31458" y="4667186"/>
              <a:ext cx="1657350" cy="576264"/>
              <a:chOff x="7831458" y="4667186"/>
              <a:chExt cx="1044" cy="363"/>
            </a:xfrm>
          </p:grpSpPr>
          <p:sp>
            <p:nvSpPr>
              <p:cNvPr id="44" name="Rectangle 89">
                <a:extLst>
                  <a:ext uri="{FF2B5EF4-FFF2-40B4-BE49-F238E27FC236}">
                    <a16:creationId xmlns:a16="http://schemas.microsoft.com/office/drawing/2014/main" id="{3209E3AD-A7F9-4A81-9913-754CD99D37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31458" y="4667186"/>
                <a:ext cx="1044" cy="363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b="1" dirty="0"/>
              </a:p>
            </p:txBody>
          </p:sp>
          <p:sp>
            <p:nvSpPr>
              <p:cNvPr id="45" name="Text Box 90">
                <a:extLst>
                  <a:ext uri="{FF2B5EF4-FFF2-40B4-BE49-F238E27FC236}">
                    <a16:creationId xmlns:a16="http://schemas.microsoft.com/office/drawing/2014/main" id="{E68131F0-D4AE-438D-8B99-1E5B4B05A6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1673" y="4667299"/>
                <a:ext cx="590" cy="174"/>
              </a:xfrm>
              <a:prstGeom prst="rect">
                <a:avLst/>
              </a:prstGeom>
              <a:solidFill>
                <a:srgbClr val="ED7D3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b="1" dirty="0">
                    <a:highlight>
                      <a:srgbClr val="FFFF00"/>
                    </a:highlight>
                  </a:rPr>
                  <a:t>Programa G</a:t>
                </a:r>
              </a:p>
            </p:txBody>
          </p:sp>
        </p:grpSp>
        <p:sp>
          <p:nvSpPr>
            <p:cNvPr id="38" name="Text Box 92">
              <a:extLst>
                <a:ext uri="{FF2B5EF4-FFF2-40B4-BE49-F238E27FC236}">
                  <a16:creationId xmlns:a16="http://schemas.microsoft.com/office/drawing/2014/main" id="{AE2858E0-1E4F-4CDB-B651-BE75E0535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5983" y="4376226"/>
              <a:ext cx="80733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Área Livre</a:t>
              </a:r>
            </a:p>
          </p:txBody>
        </p:sp>
        <p:sp>
          <p:nvSpPr>
            <p:cNvPr id="39" name="Text Box 93">
              <a:extLst>
                <a:ext uri="{FF2B5EF4-FFF2-40B4-BE49-F238E27FC236}">
                  <a16:creationId xmlns:a16="http://schemas.microsoft.com/office/drawing/2014/main" id="{686B2EE2-637B-4284-AD02-5B44C0FCE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4211" y="4351249"/>
              <a:ext cx="514885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b="1" dirty="0"/>
                <a:t>1 KB</a:t>
              </a:r>
            </a:p>
          </p:txBody>
        </p: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31D26566-0797-4A81-9F2A-73BC80E04DE4}"/>
                </a:ext>
              </a:extLst>
            </p:cNvPr>
            <p:cNvGrpSpPr/>
            <p:nvPr/>
          </p:nvGrpSpPr>
          <p:grpSpPr>
            <a:xfrm>
              <a:off x="6032374" y="4631199"/>
              <a:ext cx="637778" cy="790241"/>
              <a:chOff x="6032374" y="4631199"/>
              <a:chExt cx="637778" cy="494366"/>
            </a:xfrm>
          </p:grpSpPr>
          <p:sp>
            <p:nvSpPr>
              <p:cNvPr id="41" name="Fluxograma: Disco Magnético 40">
                <a:extLst>
                  <a:ext uri="{FF2B5EF4-FFF2-40B4-BE49-F238E27FC236}">
                    <a16:creationId xmlns:a16="http://schemas.microsoft.com/office/drawing/2014/main" id="{829DFFAF-A755-4330-B0C1-EAFA882ED338}"/>
                  </a:ext>
                </a:extLst>
              </p:cNvPr>
              <p:cNvSpPr/>
              <p:nvPr/>
            </p:nvSpPr>
            <p:spPr>
              <a:xfrm>
                <a:off x="6032374" y="4896117"/>
                <a:ext cx="637778" cy="229448"/>
              </a:xfrm>
              <a:prstGeom prst="flowChartMagneticDisk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/>
              </a:p>
            </p:txBody>
          </p:sp>
          <p:sp>
            <p:nvSpPr>
              <p:cNvPr id="42" name="Fluxograma: Disco Magnético 41">
                <a:extLst>
                  <a:ext uri="{FF2B5EF4-FFF2-40B4-BE49-F238E27FC236}">
                    <a16:creationId xmlns:a16="http://schemas.microsoft.com/office/drawing/2014/main" id="{B313BAD5-9058-404F-90E2-26A2B3AD9D17}"/>
                  </a:ext>
                </a:extLst>
              </p:cNvPr>
              <p:cNvSpPr/>
              <p:nvPr/>
            </p:nvSpPr>
            <p:spPr>
              <a:xfrm>
                <a:off x="6032374" y="4767969"/>
                <a:ext cx="637778" cy="229448"/>
              </a:xfrm>
              <a:prstGeom prst="flowChartMagneticDisk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/>
              </a:p>
            </p:txBody>
          </p:sp>
          <p:sp>
            <p:nvSpPr>
              <p:cNvPr id="43" name="Fluxograma: Disco Magnético 42">
                <a:extLst>
                  <a:ext uri="{FF2B5EF4-FFF2-40B4-BE49-F238E27FC236}">
                    <a16:creationId xmlns:a16="http://schemas.microsoft.com/office/drawing/2014/main" id="{EFC9FD28-A793-420D-BB5D-134BB3AE153F}"/>
                  </a:ext>
                </a:extLst>
              </p:cNvPr>
              <p:cNvSpPr/>
              <p:nvPr/>
            </p:nvSpPr>
            <p:spPr>
              <a:xfrm>
                <a:off x="6032374" y="4631199"/>
                <a:ext cx="637778" cy="229448"/>
              </a:xfrm>
              <a:prstGeom prst="flowChartMagneticDisk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0629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en-AU" sz="2400" i="1" dirty="0">
                <a:ea typeface="+mn-lt"/>
                <a:cs typeface="+mn-lt"/>
              </a:rPr>
              <a:t>Swapping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762666"/>
            <a:ext cx="11987840" cy="397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200" dirty="0">
              <a:cs typeface="Calibri" panose="020F0502020204030204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477ED29C-80C1-4040-9602-53339AF70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2350" y="1737522"/>
            <a:ext cx="50687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400" dirty="0"/>
              <a:t>1 KB</a:t>
            </a:r>
          </a:p>
        </p:txBody>
      </p:sp>
      <p:sp>
        <p:nvSpPr>
          <p:cNvPr id="15" name="Text Box 51">
            <a:extLst>
              <a:ext uri="{FF2B5EF4-FFF2-40B4-BE49-F238E27FC236}">
                <a16:creationId xmlns:a16="http://schemas.microsoft.com/office/drawing/2014/main" id="{431F9F5A-600C-4350-88B8-F3237B2EF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061" y="1671084"/>
            <a:ext cx="1976823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>
                <a:latin typeface="Calibri"/>
                <a:cs typeface="Calibri"/>
              </a:rPr>
              <a:t>Memória Principal</a:t>
            </a:r>
          </a:p>
        </p:txBody>
      </p:sp>
      <p:sp>
        <p:nvSpPr>
          <p:cNvPr id="17" name="Text Box 56">
            <a:extLst>
              <a:ext uri="{FF2B5EF4-FFF2-40B4-BE49-F238E27FC236}">
                <a16:creationId xmlns:a16="http://schemas.microsoft.com/office/drawing/2014/main" id="{397598E7-8568-440D-8411-5DAA315F1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1712" y="2663853"/>
            <a:ext cx="76456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Swap in</a:t>
            </a:r>
          </a:p>
        </p:txBody>
      </p:sp>
      <p:sp>
        <p:nvSpPr>
          <p:cNvPr id="23" name="CaixaDeTexto 26">
            <a:extLst>
              <a:ext uri="{FF2B5EF4-FFF2-40B4-BE49-F238E27FC236}">
                <a16:creationId xmlns:a16="http://schemas.microsoft.com/office/drawing/2014/main" id="{51F33D0B-8C1E-40FA-86EC-AACD21862A36}"/>
              </a:ext>
            </a:extLst>
          </p:cNvPr>
          <p:cNvSpPr txBox="1"/>
          <p:nvPr/>
        </p:nvSpPr>
        <p:spPr>
          <a:xfrm>
            <a:off x="3523197" y="6315420"/>
            <a:ext cx="512941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Obs.: Nesse exemplo o programa </a:t>
            </a:r>
            <a:r>
              <a:rPr lang="pt-BR" b="1" dirty="0">
                <a:solidFill>
                  <a:srgbClr val="FF0000"/>
                </a:solidFill>
              </a:rPr>
              <a:t>F</a:t>
            </a:r>
            <a:r>
              <a:rPr lang="pt-BR" b="1" dirty="0"/>
              <a:t> saiu da memória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D0EABBA8-D534-4149-9497-C1C1EA6768D2}"/>
              </a:ext>
            </a:extLst>
          </p:cNvPr>
          <p:cNvGrpSpPr/>
          <p:nvPr/>
        </p:nvGrpSpPr>
        <p:grpSpPr>
          <a:xfrm>
            <a:off x="4341363" y="2045374"/>
            <a:ext cx="3788632" cy="3768447"/>
            <a:chOff x="4413250" y="1556544"/>
            <a:chExt cx="3788632" cy="3768447"/>
          </a:xfrm>
        </p:grpSpPr>
        <p:sp>
          <p:nvSpPr>
            <p:cNvPr id="6" name="Rectangle 38">
              <a:extLst>
                <a:ext uri="{FF2B5EF4-FFF2-40B4-BE49-F238E27FC236}">
                  <a16:creationId xmlns:a16="http://schemas.microsoft.com/office/drawing/2014/main" id="{34B467CA-881E-4A23-B7C6-826888627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838" y="1556544"/>
              <a:ext cx="1655762" cy="34163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  <a:p>
              <a:endParaRPr lang="pt-BR"/>
            </a:p>
          </p:txBody>
        </p:sp>
        <p:sp>
          <p:nvSpPr>
            <p:cNvPr id="7" name="Rectangle 39">
              <a:extLst>
                <a:ext uri="{FF2B5EF4-FFF2-40B4-BE49-F238E27FC236}">
                  <a16:creationId xmlns:a16="http://schemas.microsoft.com/office/drawing/2014/main" id="{2A12A8B3-C78C-48D8-885D-987B40D3E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4955659"/>
              <a:ext cx="1655762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/>
                <a:t>SO</a:t>
              </a:r>
            </a:p>
          </p:txBody>
        </p:sp>
        <p:grpSp>
          <p:nvGrpSpPr>
            <p:cNvPr id="8" name="Group 40">
              <a:extLst>
                <a:ext uri="{FF2B5EF4-FFF2-40B4-BE49-F238E27FC236}">
                  <a16:creationId xmlns:a16="http://schemas.microsoft.com/office/drawing/2014/main" id="{A585C232-AC05-47DA-BB1E-6C1ADFA6A5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425" y="2958574"/>
              <a:ext cx="1657350" cy="369787"/>
              <a:chOff x="4416425" y="2958574"/>
              <a:chExt cx="1044" cy="143"/>
            </a:xfrm>
            <a:solidFill>
              <a:schemeClr val="bg1">
                <a:lumMod val="85000"/>
              </a:schemeClr>
            </a:solidFill>
          </p:grpSpPr>
          <p:sp>
            <p:nvSpPr>
              <p:cNvPr id="33" name="Rectangle 41">
                <a:extLst>
                  <a:ext uri="{FF2B5EF4-FFF2-40B4-BE49-F238E27FC236}">
                    <a16:creationId xmlns:a16="http://schemas.microsoft.com/office/drawing/2014/main" id="{1D6F4F40-CB25-46CC-A6B0-18ED8A956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425" y="2958574"/>
                <a:ext cx="1044" cy="143"/>
              </a:xfrm>
              <a:prstGeom prst="rect">
                <a:avLst/>
              </a:prstGeom>
              <a:grp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34" name="Text Box 42">
                <a:extLst>
                  <a:ext uri="{FF2B5EF4-FFF2-40B4-BE49-F238E27FC236}">
                    <a16:creationId xmlns:a16="http://schemas.microsoft.com/office/drawing/2014/main" id="{FB347B2E-0446-4FD6-8281-CEC6737E44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636" y="2958603"/>
                <a:ext cx="567" cy="107"/>
              </a:xfrm>
              <a:prstGeom prst="rect">
                <a:avLst/>
              </a:prstGeom>
              <a:grp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E</a:t>
                </a:r>
              </a:p>
            </p:txBody>
          </p:sp>
        </p:grpSp>
        <p:grpSp>
          <p:nvGrpSpPr>
            <p:cNvPr id="9" name="Group 43">
              <a:extLst>
                <a:ext uri="{FF2B5EF4-FFF2-40B4-BE49-F238E27FC236}">
                  <a16:creationId xmlns:a16="http://schemas.microsoft.com/office/drawing/2014/main" id="{858F51F1-F754-44F9-9220-8EF056AD1B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425" y="3713962"/>
              <a:ext cx="1657350" cy="369888"/>
              <a:chOff x="4416425" y="3713962"/>
              <a:chExt cx="1044" cy="233"/>
            </a:xfrm>
            <a:solidFill>
              <a:schemeClr val="bg1">
                <a:lumMod val="85000"/>
              </a:schemeClr>
            </a:solidFill>
          </p:grpSpPr>
          <p:sp>
            <p:nvSpPr>
              <p:cNvPr id="31" name="Rectangle 44">
                <a:extLst>
                  <a:ext uri="{FF2B5EF4-FFF2-40B4-BE49-F238E27FC236}">
                    <a16:creationId xmlns:a16="http://schemas.microsoft.com/office/drawing/2014/main" id="{D43D7317-EFBF-48AF-A9F9-3EF769CA37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425" y="3713962"/>
                <a:ext cx="1044" cy="233"/>
              </a:xfrm>
              <a:prstGeom prst="rect">
                <a:avLst/>
              </a:prstGeom>
              <a:grp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32" name="Text Box 45">
                <a:extLst>
                  <a:ext uri="{FF2B5EF4-FFF2-40B4-BE49-F238E27FC236}">
                    <a16:creationId xmlns:a16="http://schemas.microsoft.com/office/drawing/2014/main" id="{0F303895-5551-4867-A5E5-FB176473D1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637" y="3713987"/>
                <a:ext cx="579" cy="174"/>
              </a:xfrm>
              <a:prstGeom prst="rect">
                <a:avLst/>
              </a:prstGeom>
              <a:grp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D</a:t>
                </a:r>
              </a:p>
            </p:txBody>
          </p:sp>
        </p:grpSp>
        <p:sp>
          <p:nvSpPr>
            <p:cNvPr id="10" name="Text Box 46">
              <a:extLst>
                <a:ext uri="{FF2B5EF4-FFF2-40B4-BE49-F238E27FC236}">
                  <a16:creationId xmlns:a16="http://schemas.microsoft.com/office/drawing/2014/main" id="{289AEB05-4234-415C-848A-FFDC18E50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2350" y="3034509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3 KB</a:t>
              </a:r>
            </a:p>
          </p:txBody>
        </p:sp>
        <p:sp>
          <p:nvSpPr>
            <p:cNvPr id="11" name="Text Box 47">
              <a:extLst>
                <a:ext uri="{FF2B5EF4-FFF2-40B4-BE49-F238E27FC236}">
                  <a16:creationId xmlns:a16="http://schemas.microsoft.com/office/drawing/2014/main" id="{0EA19175-B98A-435C-BD91-346AE6784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2350" y="3809209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6 KB</a:t>
              </a:r>
            </a:p>
          </p:txBody>
        </p:sp>
        <p:sp>
          <p:nvSpPr>
            <p:cNvPr id="13" name="Text Box 49">
              <a:extLst>
                <a:ext uri="{FF2B5EF4-FFF2-40B4-BE49-F238E27FC236}">
                  <a16:creationId xmlns:a16="http://schemas.microsoft.com/office/drawing/2014/main" id="{D410F970-0533-4A1E-8A52-478B94239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2350" y="4601372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3 KB</a:t>
              </a:r>
            </a:p>
          </p:txBody>
        </p:sp>
        <p:sp>
          <p:nvSpPr>
            <p:cNvPr id="14" name="Text Box 50">
              <a:extLst>
                <a:ext uri="{FF2B5EF4-FFF2-40B4-BE49-F238E27FC236}">
                  <a16:creationId xmlns:a16="http://schemas.microsoft.com/office/drawing/2014/main" id="{2E2C2B06-2601-43D4-A36E-40A454AC1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521" y="1865149"/>
              <a:ext cx="80733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Área Livre</a:t>
              </a:r>
            </a:p>
          </p:txBody>
        </p:sp>
        <p:sp>
          <p:nvSpPr>
            <p:cNvPr id="16" name="Text Box 55">
              <a:extLst>
                <a:ext uri="{FF2B5EF4-FFF2-40B4-BE49-F238E27FC236}">
                  <a16:creationId xmlns:a16="http://schemas.microsoft.com/office/drawing/2014/main" id="{091F044B-A3B5-4A45-BD37-D34E1E0D90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7591" y="2440784"/>
              <a:ext cx="514885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b="1" dirty="0"/>
                <a:t>4 KB</a:t>
              </a:r>
            </a:p>
          </p:txBody>
        </p:sp>
        <p:grpSp>
          <p:nvGrpSpPr>
            <p:cNvPr id="18" name="Group 57">
              <a:extLst>
                <a:ext uri="{FF2B5EF4-FFF2-40B4-BE49-F238E27FC236}">
                  <a16:creationId xmlns:a16="http://schemas.microsoft.com/office/drawing/2014/main" id="{0404A447-7641-4EF2-81F0-F784FDA911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250" y="4572793"/>
              <a:ext cx="1657350" cy="369888"/>
              <a:chOff x="4413250" y="4572793"/>
              <a:chExt cx="1044" cy="233"/>
            </a:xfrm>
            <a:solidFill>
              <a:schemeClr val="bg1">
                <a:lumMod val="85000"/>
              </a:schemeClr>
            </a:solidFill>
          </p:grpSpPr>
          <p:sp>
            <p:nvSpPr>
              <p:cNvPr id="29" name="Rectangle 58">
                <a:extLst>
                  <a:ext uri="{FF2B5EF4-FFF2-40B4-BE49-F238E27FC236}">
                    <a16:creationId xmlns:a16="http://schemas.microsoft.com/office/drawing/2014/main" id="{3B6EE305-CD84-4B8F-A989-1DF10E363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3250" y="4572793"/>
                <a:ext cx="1044" cy="233"/>
              </a:xfrm>
              <a:prstGeom prst="rect">
                <a:avLst/>
              </a:prstGeom>
              <a:grp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30" name="Text Box 59">
                <a:extLst>
                  <a:ext uri="{FF2B5EF4-FFF2-40B4-BE49-F238E27FC236}">
                    <a16:creationId xmlns:a16="http://schemas.microsoft.com/office/drawing/2014/main" id="{68B4033B-E8BD-4310-ABA5-F86DABEBB3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3456" y="4572826"/>
                <a:ext cx="581" cy="174"/>
              </a:xfrm>
              <a:prstGeom prst="rect">
                <a:avLst/>
              </a:prstGeom>
              <a:grp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200" dirty="0"/>
                  <a:t>Programa G</a:t>
                </a:r>
              </a:p>
            </p:txBody>
          </p:sp>
        </p:grpSp>
        <p:sp>
          <p:nvSpPr>
            <p:cNvPr id="19" name="Text Box 60">
              <a:extLst>
                <a:ext uri="{FF2B5EF4-FFF2-40B4-BE49-F238E27FC236}">
                  <a16:creationId xmlns:a16="http://schemas.microsoft.com/office/drawing/2014/main" id="{15B8B25E-B3B1-47E9-9426-C8FB94FF5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903" y="4329909"/>
              <a:ext cx="80733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200" dirty="0"/>
                <a:t>Área Livre</a:t>
              </a:r>
            </a:p>
          </p:txBody>
        </p:sp>
        <p:sp>
          <p:nvSpPr>
            <p:cNvPr id="20" name="Text Box 61">
              <a:extLst>
                <a:ext uri="{FF2B5EF4-FFF2-40B4-BE49-F238E27FC236}">
                  <a16:creationId xmlns:a16="http://schemas.microsoft.com/office/drawing/2014/main" id="{EEE18AF3-F885-4CF5-80A4-4137D29DC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4291809"/>
              <a:ext cx="50687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pt-BR" sz="1400" dirty="0"/>
                <a:t>1 KB</a:t>
              </a:r>
            </a:p>
          </p:txBody>
        </p:sp>
        <p:grpSp>
          <p:nvGrpSpPr>
            <p:cNvPr id="21" name="Group 62">
              <a:extLst>
                <a:ext uri="{FF2B5EF4-FFF2-40B4-BE49-F238E27FC236}">
                  <a16:creationId xmlns:a16="http://schemas.microsoft.com/office/drawing/2014/main" id="{D101D588-9E3E-4D97-AC6F-17210EA2BE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425" y="2407123"/>
              <a:ext cx="1657350" cy="377681"/>
              <a:chOff x="4416425" y="2407123"/>
              <a:chExt cx="1044" cy="115"/>
            </a:xfrm>
          </p:grpSpPr>
          <p:sp>
            <p:nvSpPr>
              <p:cNvPr id="27" name="Rectangle 63">
                <a:extLst>
                  <a:ext uri="{FF2B5EF4-FFF2-40B4-BE49-F238E27FC236}">
                    <a16:creationId xmlns:a16="http://schemas.microsoft.com/office/drawing/2014/main" id="{82B255FA-AD2D-42A5-B880-71AF69F71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425" y="2407126"/>
                <a:ext cx="1044" cy="112"/>
              </a:xfrm>
              <a:prstGeom prst="rect">
                <a:avLst/>
              </a:prstGeom>
              <a:solidFill>
                <a:srgbClr val="FFFF00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8" name="Text Box 64">
                <a:extLst>
                  <a:ext uri="{FF2B5EF4-FFF2-40B4-BE49-F238E27FC236}">
                    <a16:creationId xmlns:a16="http://schemas.microsoft.com/office/drawing/2014/main" id="{5C72AEF8-4F2B-4430-AA90-946DBFBBC4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538" y="2407123"/>
                <a:ext cx="775" cy="10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600" b="1" dirty="0"/>
                  <a:t>Programa B</a:t>
                </a:r>
              </a:p>
            </p:txBody>
          </p:sp>
        </p:grpSp>
        <p:sp>
          <p:nvSpPr>
            <p:cNvPr id="22" name="Freeform 65">
              <a:extLst>
                <a:ext uri="{FF2B5EF4-FFF2-40B4-BE49-F238E27FC236}">
                  <a16:creationId xmlns:a16="http://schemas.microsoft.com/office/drawing/2014/main" id="{A0BE3F26-4B45-4999-8F5B-A95FAB7AD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2266" y="2601119"/>
              <a:ext cx="1150937" cy="369332"/>
            </a:xfrm>
            <a:custGeom>
              <a:avLst/>
              <a:gdLst>
                <a:gd name="T0" fmla="*/ 0 w 725"/>
                <a:gd name="T1" fmla="*/ 0 h 1044"/>
                <a:gd name="T2" fmla="*/ 2147483647 w 725"/>
                <a:gd name="T3" fmla="*/ 2147483647 h 1044"/>
                <a:gd name="T4" fmla="*/ 2147483647 w 725"/>
                <a:gd name="T5" fmla="*/ 2147483647 h 1044"/>
                <a:gd name="T6" fmla="*/ 0 60000 65536"/>
                <a:gd name="T7" fmla="*/ 0 60000 65536"/>
                <a:gd name="T8" fmla="*/ 0 60000 65536"/>
                <a:gd name="T9" fmla="*/ 0 w 725"/>
                <a:gd name="T10" fmla="*/ 0 h 1044"/>
                <a:gd name="T11" fmla="*/ 725 w 725"/>
                <a:gd name="T12" fmla="*/ 1044 h 10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5" h="1044">
                  <a:moveTo>
                    <a:pt x="0" y="0"/>
                  </a:moveTo>
                  <a:cubicBezTo>
                    <a:pt x="234" y="4"/>
                    <a:pt x="468" y="8"/>
                    <a:pt x="589" y="182"/>
                  </a:cubicBezTo>
                  <a:cubicBezTo>
                    <a:pt x="710" y="356"/>
                    <a:pt x="702" y="900"/>
                    <a:pt x="725" y="104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Fluxograma: Disco Magnético 23">
              <a:extLst>
                <a:ext uri="{FF2B5EF4-FFF2-40B4-BE49-F238E27FC236}">
                  <a16:creationId xmlns:a16="http://schemas.microsoft.com/office/drawing/2014/main" id="{02A85614-031E-4F86-A8D6-DB8DD75045DE}"/>
                </a:ext>
              </a:extLst>
            </p:cNvPr>
            <p:cNvSpPr/>
            <p:nvPr/>
          </p:nvSpPr>
          <p:spPr>
            <a:xfrm>
              <a:off x="7564104" y="3425401"/>
              <a:ext cx="637778" cy="366771"/>
            </a:xfrm>
            <a:prstGeom prst="flowChartMagneticDisk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25" name="Fluxograma: Disco Magnético 24">
              <a:extLst>
                <a:ext uri="{FF2B5EF4-FFF2-40B4-BE49-F238E27FC236}">
                  <a16:creationId xmlns:a16="http://schemas.microsoft.com/office/drawing/2014/main" id="{822D071F-34F8-4E39-915C-755B477DE3E5}"/>
                </a:ext>
              </a:extLst>
            </p:cNvPr>
            <p:cNvSpPr/>
            <p:nvPr/>
          </p:nvSpPr>
          <p:spPr>
            <a:xfrm>
              <a:off x="7564104" y="3220557"/>
              <a:ext cx="637778" cy="366771"/>
            </a:xfrm>
            <a:prstGeom prst="flowChartMagneticDisk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26" name="Fluxograma: Disco Magnético 25">
              <a:extLst>
                <a:ext uri="{FF2B5EF4-FFF2-40B4-BE49-F238E27FC236}">
                  <a16:creationId xmlns:a16="http://schemas.microsoft.com/office/drawing/2014/main" id="{BD9F8CF4-8C51-4F2C-9E79-B655E9C080F0}"/>
                </a:ext>
              </a:extLst>
            </p:cNvPr>
            <p:cNvSpPr/>
            <p:nvPr/>
          </p:nvSpPr>
          <p:spPr>
            <a:xfrm>
              <a:off x="7564104" y="3001931"/>
              <a:ext cx="637778" cy="366771"/>
            </a:xfrm>
            <a:prstGeom prst="flowChartMagneticDisk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504292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en-AU" sz="2400" i="1" dirty="0">
                <a:ea typeface="+mn-lt"/>
                <a:cs typeface="+mn-lt"/>
              </a:rPr>
              <a:t>Swapping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762666"/>
            <a:ext cx="11987840" cy="2430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 algoritmo de escolha do processo a ser retirado da memória principal deve priorizar aquele com menores chances de ser escalonado para evitar o </a:t>
            </a:r>
            <a:r>
              <a:rPr lang="pt-BR" sz="2200" i="1" dirty="0">
                <a:ea typeface="+mn-lt"/>
                <a:cs typeface="+mn-lt"/>
              </a:rPr>
              <a:t>swapping</a:t>
            </a:r>
            <a:r>
              <a:rPr lang="pt-BR" sz="2200" dirty="0">
                <a:ea typeface="+mn-lt"/>
                <a:cs typeface="+mn-lt"/>
              </a:rPr>
              <a:t> desnecessário de um processo que será executado logo em seguida;</a:t>
            </a:r>
            <a:endParaRPr lang="en-US" sz="22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 Os processos retirados da memória estão geralmente no estado de </a:t>
            </a:r>
            <a:r>
              <a:rPr lang="pt-BR" sz="2200" b="1" i="1" dirty="0">
                <a:ea typeface="+mn-lt"/>
                <a:cs typeface="+mn-lt"/>
              </a:rPr>
              <a:t>espera</a:t>
            </a:r>
            <a:r>
              <a:rPr lang="pt-BR" sz="2200" dirty="0">
                <a:ea typeface="+mn-lt"/>
                <a:cs typeface="+mn-lt"/>
              </a:rPr>
              <a:t>, mas ainda existe a possibilidade de um processo no estado de </a:t>
            </a:r>
            <a:r>
              <a:rPr lang="pt-BR" sz="2200" b="1" i="1" dirty="0">
                <a:ea typeface="+mn-lt"/>
                <a:cs typeface="+mn-lt"/>
              </a:rPr>
              <a:t>pronto</a:t>
            </a:r>
            <a:r>
              <a:rPr lang="pt-BR" sz="2200" dirty="0">
                <a:ea typeface="+mn-lt"/>
                <a:cs typeface="+mn-lt"/>
              </a:rPr>
              <a:t> também ser selecionado para </a:t>
            </a:r>
            <a:r>
              <a:rPr lang="pt-BR" sz="2200" i="1" dirty="0">
                <a:ea typeface="+mn-lt"/>
                <a:cs typeface="+mn-lt"/>
              </a:rPr>
              <a:t>swapping</a:t>
            </a:r>
            <a:r>
              <a:rPr lang="pt-BR" sz="2200" dirty="0">
                <a:ea typeface="+mn-lt"/>
                <a:cs typeface="+mn-lt"/>
              </a:rPr>
              <a:t>;</a:t>
            </a:r>
            <a:endParaRPr lang="en-US" sz="22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 Os processos no estado de espera ou pronto quando fora da memória são ditos não-residentes (</a:t>
            </a:r>
            <a:r>
              <a:rPr lang="pt-BR" sz="2200" i="1" dirty="0" err="1">
                <a:ea typeface="+mn-lt"/>
                <a:cs typeface="+mn-lt"/>
              </a:rPr>
              <a:t>outswapped</a:t>
            </a:r>
            <a:r>
              <a:rPr lang="pt-BR" sz="2200" dirty="0">
                <a:ea typeface="+mn-lt"/>
                <a:cs typeface="+mn-lt"/>
              </a:rPr>
              <a:t>). 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24256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09912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Memória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en-AU" sz="2400" i="1" dirty="0">
                <a:ea typeface="+mn-lt"/>
                <a:cs typeface="+mn-lt"/>
              </a:rPr>
              <a:t>Swapping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762666"/>
            <a:ext cx="11987840" cy="4515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b="1">
                <a:ea typeface="+mn-lt"/>
                <a:cs typeface="+mn-lt"/>
              </a:rPr>
              <a:t>Considerações finais</a:t>
            </a:r>
            <a:endParaRPr lang="en-US" sz="220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 conceito de </a:t>
            </a:r>
            <a:r>
              <a:rPr lang="pt-BR" sz="2200" i="1" dirty="0">
                <a:ea typeface="+mn-lt"/>
                <a:cs typeface="+mn-lt"/>
              </a:rPr>
              <a:t>swapping</a:t>
            </a:r>
            <a:r>
              <a:rPr lang="pt-BR" sz="2200" dirty="0">
                <a:ea typeface="+mn-lt"/>
                <a:cs typeface="+mn-lt"/>
              </a:rPr>
              <a:t> permite um maior compartilhamento da memória principal e, consequentemente, uma maior utilização dos recursos do sistema computacional;</a:t>
            </a:r>
            <a:endParaRPr lang="en-US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Seu maior problema é o elevado custo das operações de entrada/saída (</a:t>
            </a:r>
            <a:r>
              <a:rPr lang="pt-BR" sz="2200" i="1" dirty="0">
                <a:ea typeface="+mn-lt"/>
                <a:cs typeface="+mn-lt"/>
              </a:rPr>
              <a:t>swap in/out</a:t>
            </a:r>
            <a:r>
              <a:rPr lang="pt-BR" sz="2200" dirty="0">
                <a:ea typeface="+mn-lt"/>
                <a:cs typeface="+mn-lt"/>
              </a:rPr>
              <a:t>);</a:t>
            </a:r>
            <a:endParaRPr lang="en-US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Em momentos em que há pouca memória disponível, o sistema pode ficar quase que dedicado à realização de </a:t>
            </a:r>
            <a:r>
              <a:rPr lang="pt-BR" sz="2200" i="1" dirty="0">
                <a:ea typeface="+mn-lt"/>
                <a:cs typeface="+mn-lt"/>
              </a:rPr>
              <a:t>swapping</a:t>
            </a:r>
            <a:r>
              <a:rPr lang="pt-BR" sz="2200" dirty="0">
                <a:ea typeface="+mn-lt"/>
                <a:cs typeface="+mn-lt"/>
              </a:rPr>
              <a:t>, deixando de executar outras tarefas e impedindo a execução dos demais processos residentes;</a:t>
            </a:r>
            <a:endParaRPr lang="en-US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Esta situação é denominada </a:t>
            </a:r>
            <a:r>
              <a:rPr lang="pt-BR" sz="2200" b="1" i="1" dirty="0" err="1">
                <a:ea typeface="+mn-lt"/>
                <a:cs typeface="+mn-lt"/>
              </a:rPr>
              <a:t>thrashing</a:t>
            </a:r>
            <a:r>
              <a:rPr lang="pt-BR" sz="2200" i="1" dirty="0">
                <a:ea typeface="+mn-lt"/>
                <a:cs typeface="+mn-lt"/>
              </a:rPr>
              <a:t>, </a:t>
            </a:r>
            <a:r>
              <a:rPr lang="pt-BR" sz="2200" dirty="0">
                <a:ea typeface="+mn-lt"/>
                <a:cs typeface="+mn-lt"/>
              </a:rPr>
              <a:t>e é considerada um problema crítico na gerência de memória dos sistemas operacionais. 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66068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AU" sz="2800" b="1">
                <a:ea typeface="+mn-lt"/>
                <a:cs typeface="+mn-lt"/>
              </a:rPr>
              <a:t>Wrap-up</a:t>
            </a:r>
            <a:endParaRPr lang="en-AU">
              <a:cs typeface="Calibri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6" descr="Uma imagem contendo água, campo&#10;&#10;Descrição gerada automaticamente">
            <a:extLst>
              <a:ext uri="{FF2B5EF4-FFF2-40B4-BE49-F238E27FC236}">
                <a16:creationId xmlns:a16="http://schemas.microsoft.com/office/drawing/2014/main" id="{38D925A8-AA34-499D-9FAB-3D5BF6B25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80000">
            <a:off x="8031193" y="2636484"/>
            <a:ext cx="2743200" cy="1268730"/>
          </a:xfrm>
          <a:prstGeom prst="rect">
            <a:avLst/>
          </a:prstGeom>
        </p:spPr>
      </p:pic>
      <p:pic>
        <p:nvPicPr>
          <p:cNvPr id="7" name="Imagem 7">
            <a:extLst>
              <a:ext uri="{FF2B5EF4-FFF2-40B4-BE49-F238E27FC236}">
                <a16:creationId xmlns:a16="http://schemas.microsoft.com/office/drawing/2014/main" id="{3D1B892B-A210-4289-80DA-85D5658C0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5822189"/>
            <a:ext cx="2743200" cy="96456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3E9D260-D74B-4469-973C-3A782C3BFB24}"/>
              </a:ext>
            </a:extLst>
          </p:cNvPr>
          <p:cNvSpPr txBox="1"/>
          <p:nvPr/>
        </p:nvSpPr>
        <p:spPr>
          <a:xfrm>
            <a:off x="253041" y="1719533"/>
            <a:ext cx="1170029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000" b="1" dirty="0">
                <a:ea typeface="+mn-lt"/>
                <a:cs typeface="+mn-lt"/>
              </a:rPr>
              <a:t>Gerência de Memória</a:t>
            </a:r>
            <a:br>
              <a:rPr lang="pt-BR" sz="2000" b="1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 Introdução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Mecanismos básicos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 Alocação contígua 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Simples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Particionada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       - Estática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       - Dinâmica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Alocação não contígua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Estratégias de alocação de partição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</a:t>
            </a:r>
            <a:r>
              <a:rPr lang="pt-BR" sz="2000" i="1" dirty="0">
                <a:ea typeface="+mn-lt"/>
                <a:cs typeface="+mn-lt"/>
              </a:rPr>
              <a:t>Best-Fit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</a:t>
            </a:r>
            <a:r>
              <a:rPr lang="pt-BR" sz="2000" i="1" dirty="0" err="1">
                <a:ea typeface="+mn-lt"/>
                <a:cs typeface="+mn-lt"/>
              </a:rPr>
              <a:t>Worst</a:t>
            </a:r>
            <a:r>
              <a:rPr lang="pt-BR" sz="2000" i="1" dirty="0">
                <a:ea typeface="+mn-lt"/>
                <a:cs typeface="+mn-lt"/>
              </a:rPr>
              <a:t>-Fit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</a:t>
            </a:r>
            <a:r>
              <a:rPr lang="pt-BR" sz="2000" i="1" dirty="0" err="1">
                <a:ea typeface="+mn-lt"/>
                <a:cs typeface="+mn-lt"/>
              </a:rPr>
              <a:t>First</a:t>
            </a:r>
            <a:r>
              <a:rPr lang="pt-BR" sz="2000" i="1" dirty="0">
                <a:ea typeface="+mn-lt"/>
                <a:cs typeface="+mn-lt"/>
              </a:rPr>
              <a:t>-Fit</a:t>
            </a:r>
            <a:r>
              <a:rPr lang="pt-BR" sz="2000" dirty="0">
                <a:ea typeface="+mn-lt"/>
                <a:cs typeface="+mn-lt"/>
              </a:rPr>
              <a:t>        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</a:t>
            </a:r>
            <a:r>
              <a:rPr lang="pt-BR" sz="2000" i="1" dirty="0">
                <a:ea typeface="+mn-lt"/>
                <a:cs typeface="+mn-lt"/>
              </a:rPr>
              <a:t>Swapping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cs typeface="Calibri"/>
              </a:rPr>
              <a:t>=&gt; Considerações finais</a:t>
            </a:r>
            <a:endParaRPr lang="pt-BR" sz="2000" i="1" dirty="0" err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6407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C22CAF-7658-453A-A95D-424154294C89}"/>
              </a:ext>
            </a:extLst>
          </p:cNvPr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21C3C-328D-469F-99DD-B1DA32E3FD0D}"/>
              </a:ext>
            </a:extLst>
          </p:cNvPr>
          <p:cNvSpPr txBox="1"/>
          <p:nvPr/>
        </p:nvSpPr>
        <p:spPr>
          <a:xfrm>
            <a:off x="641230" y="396815"/>
            <a:ext cx="1092391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000" dirty="0">
                <a:ea typeface="+mn-lt"/>
                <a:cs typeface="+mn-lt"/>
              </a:rPr>
              <a:t>Referências</a:t>
            </a:r>
            <a:r>
              <a:rPr lang="pt-BR" sz="3000" b="1" dirty="0">
                <a:ea typeface="+mn-lt"/>
                <a:cs typeface="+mn-lt"/>
              </a:rPr>
              <a:t> </a:t>
            </a:r>
            <a:endParaRPr lang="pt-BR" sz="3000" b="1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65182-1347-4B38-9A11-A47AF08BDDA5}"/>
              </a:ext>
            </a:extLst>
          </p:cNvPr>
          <p:cNvSpPr txBox="1"/>
          <p:nvPr/>
        </p:nvSpPr>
        <p:spPr>
          <a:xfrm>
            <a:off x="353683" y="2122098"/>
            <a:ext cx="1149901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 err="1">
                <a:ea typeface="+mn-lt"/>
                <a:cs typeface="+mn-lt"/>
              </a:rPr>
              <a:t>Referências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Básicas</a:t>
            </a:r>
            <a:endParaRPr lang="pt-BR" b="1" dirty="0" err="1"/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DEITEL, Harvey M.; DEITEL, Paul J.; CHOFFNES, David R.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3ª </a:t>
            </a:r>
            <a:r>
              <a:rPr lang="en-US" dirty="0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São Paulo: Pearson Prentice Hall, 2005.</a:t>
            </a:r>
            <a:endParaRPr lang="en-US" dirty="0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GONÇALVES FILHO, </a:t>
            </a:r>
            <a:r>
              <a:rPr lang="en-US" dirty="0" err="1">
                <a:ea typeface="+mn-lt"/>
                <a:cs typeface="+mn-lt"/>
              </a:rPr>
              <a:t>Aurélio</a:t>
            </a:r>
            <a:r>
              <a:rPr lang="en-US" dirty="0">
                <a:ea typeface="+mn-lt"/>
                <a:cs typeface="+mn-lt"/>
              </a:rPr>
              <a:t>; BAROLLI, Elisabeth. </a:t>
            </a:r>
            <a:r>
              <a:rPr lang="en-US" dirty="0" err="1">
                <a:ea typeface="+mn-lt"/>
                <a:cs typeface="+mn-lt"/>
              </a:rPr>
              <a:t>Instalação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elétrica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investigando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aprendendo</a:t>
            </a:r>
            <a:r>
              <a:rPr lang="en-US" dirty="0">
                <a:ea typeface="+mn-lt"/>
                <a:cs typeface="+mn-lt"/>
              </a:rPr>
              <a:t>. 5ª. ed. São Paulo, SP: Scipione, 1997.</a:t>
            </a:r>
            <a:endParaRPr lang="en-US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MACHADO, Francis B.; MAIA, Luiz Paulo. </a:t>
            </a:r>
            <a:r>
              <a:rPr lang="en-US" dirty="0" err="1">
                <a:ea typeface="+mn-lt"/>
                <a:cs typeface="+mn-lt"/>
              </a:rPr>
              <a:t>Arquitetura</a:t>
            </a:r>
            <a:r>
              <a:rPr lang="en-US" dirty="0">
                <a:ea typeface="+mn-lt"/>
                <a:cs typeface="+mn-lt"/>
              </a:rPr>
              <a:t> de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5ª </a:t>
            </a:r>
            <a:r>
              <a:rPr lang="en-US" dirty="0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Rio de Janeiro: Editora </a:t>
            </a:r>
            <a:r>
              <a:rPr lang="en-US" dirty="0" err="1">
                <a:ea typeface="+mn-lt"/>
                <a:cs typeface="+mn-lt"/>
              </a:rPr>
              <a:t>Livros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Técnicos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Científicos</a:t>
            </a:r>
            <a:r>
              <a:rPr lang="en-US" dirty="0">
                <a:ea typeface="+mn-lt"/>
                <a:cs typeface="+mn-lt"/>
              </a:rPr>
              <a:t>, 2013.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PATTERSON, David A; HENNESSY, John L. </a:t>
            </a:r>
            <a:r>
              <a:rPr lang="en-US" dirty="0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projeto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3ª. ed. Rio de Janeiro: Elsevier, Campus, 2005.</a:t>
            </a:r>
            <a:endParaRPr lang="en-US" dirty="0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STALLINGS, William. </a:t>
            </a:r>
            <a:r>
              <a:rPr lang="en-US" dirty="0" err="1">
                <a:ea typeface="+mn-lt"/>
                <a:cs typeface="+mn-lt"/>
              </a:rPr>
              <a:t>Arquitetura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8. ed. São Paulo: Pearson Prentice Hall, 2010.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TANENBAUM, Andrew S.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modernos</a:t>
            </a:r>
            <a:r>
              <a:rPr lang="en-US" dirty="0">
                <a:ea typeface="+mn-lt"/>
                <a:cs typeface="+mn-lt"/>
              </a:rPr>
              <a:t>. 3ª. ed. São Paulo: Pearson Prentice Hall, 2010</a:t>
            </a:r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1A23740-EE54-4910-B21A-EBDBEFA1265A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428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C22CAF-7658-453A-A95D-424154294C89}"/>
              </a:ext>
            </a:extLst>
          </p:cNvPr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21C3C-328D-469F-99DD-B1DA32E3FD0D}"/>
              </a:ext>
            </a:extLst>
          </p:cNvPr>
          <p:cNvSpPr txBox="1"/>
          <p:nvPr/>
        </p:nvSpPr>
        <p:spPr>
          <a:xfrm>
            <a:off x="641230" y="396815"/>
            <a:ext cx="1092391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000" dirty="0">
                <a:ea typeface="+mn-lt"/>
                <a:cs typeface="+mn-lt"/>
              </a:rPr>
              <a:t>Referências</a:t>
            </a:r>
            <a:r>
              <a:rPr lang="pt-BR" sz="3000" b="1" dirty="0">
                <a:ea typeface="+mn-lt"/>
                <a:cs typeface="+mn-lt"/>
              </a:rPr>
              <a:t> </a:t>
            </a:r>
            <a:endParaRPr lang="pt-BR" sz="3000" b="1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65182-1347-4B38-9A11-A47AF08BDDA5}"/>
              </a:ext>
            </a:extLst>
          </p:cNvPr>
          <p:cNvSpPr txBox="1"/>
          <p:nvPr/>
        </p:nvSpPr>
        <p:spPr>
          <a:xfrm>
            <a:off x="353683" y="1863305"/>
            <a:ext cx="1149901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err="1">
                <a:ea typeface="+mn-lt"/>
                <a:cs typeface="+mn-lt"/>
              </a:rPr>
              <a:t>Referências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err="1">
                <a:ea typeface="+mn-lt"/>
                <a:cs typeface="+mn-lt"/>
              </a:rPr>
              <a:t>Complementares</a:t>
            </a:r>
            <a:endParaRPr lang="en-US" err="1">
              <a:ea typeface="+mn-lt"/>
              <a:cs typeface="+mn-lt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AHO, Alfred V. </a:t>
            </a:r>
            <a:r>
              <a:rPr lang="en-US" err="1">
                <a:ea typeface="+mn-lt"/>
                <a:cs typeface="+mn-lt"/>
              </a:rPr>
              <a:t>Compiladores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err="1">
                <a:ea typeface="+mn-lt"/>
                <a:cs typeface="+mn-lt"/>
              </a:rPr>
              <a:t>princípios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técnicas</a:t>
            </a:r>
            <a:r>
              <a:rPr lang="en-US" dirty="0">
                <a:ea typeface="+mn-lt"/>
                <a:cs typeface="+mn-lt"/>
              </a:rPr>
              <a:t> e ferramentas. 2ª. ed. São Paulo, SP: Pearson Addison Wesley, 2008.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DAGHLIAN, Jacob. </a:t>
            </a:r>
            <a:r>
              <a:rPr lang="en-US" err="1">
                <a:ea typeface="+mn-lt"/>
                <a:cs typeface="+mn-lt"/>
              </a:rPr>
              <a:t>Lógica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álgebra</a:t>
            </a:r>
            <a:r>
              <a:rPr lang="en-US" dirty="0">
                <a:ea typeface="+mn-lt"/>
                <a:cs typeface="+mn-lt"/>
              </a:rPr>
              <a:t> de Boole. 4ª. ed. São Paulo: Atlas, 2006.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KANNO, A. </a:t>
            </a:r>
            <a:r>
              <a:rPr lang="en-US" err="1">
                <a:ea typeface="+mn-lt"/>
                <a:cs typeface="+mn-lt"/>
              </a:rPr>
              <a:t>Eletrônica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básica</a:t>
            </a:r>
            <a:r>
              <a:rPr lang="en-US" dirty="0">
                <a:ea typeface="+mn-lt"/>
                <a:cs typeface="+mn-lt"/>
              </a:rPr>
              <a:t> para </a:t>
            </a:r>
            <a:r>
              <a:rPr lang="en-US" err="1">
                <a:ea typeface="+mn-lt"/>
                <a:cs typeface="+mn-lt"/>
              </a:rPr>
              <a:t>principiantes</a:t>
            </a:r>
            <a:r>
              <a:rPr lang="en-US" dirty="0">
                <a:ea typeface="+mn-lt"/>
                <a:cs typeface="+mn-lt"/>
              </a:rPr>
              <a:t>. São Paulo: Eltec, 2002.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MONTEIRO, Mário A. (Mario Antônio). </a:t>
            </a:r>
            <a:r>
              <a:rPr lang="en-US" err="1">
                <a:ea typeface="+mn-lt"/>
                <a:cs typeface="+mn-lt"/>
              </a:rPr>
              <a:t>Introdução</a:t>
            </a:r>
            <a:r>
              <a:rPr lang="en-US" dirty="0">
                <a:ea typeface="+mn-lt"/>
                <a:cs typeface="+mn-lt"/>
              </a:rPr>
              <a:t> à </a:t>
            </a:r>
            <a:r>
              <a:rPr lang="en-US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 de </a:t>
            </a:r>
            <a:r>
              <a:rPr lang="en-US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5ª. ed. Rio de Janeiro: </a:t>
            </a:r>
            <a:r>
              <a:rPr lang="en-US" err="1">
                <a:ea typeface="+mn-lt"/>
                <a:cs typeface="+mn-lt"/>
              </a:rPr>
              <a:t>Livros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Técnicos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Científicos</a:t>
            </a:r>
            <a:r>
              <a:rPr lang="en-US" dirty="0">
                <a:ea typeface="+mn-lt"/>
                <a:cs typeface="+mn-lt"/>
              </a:rPr>
              <a:t>, 2007.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NEGUS, Christopher. Linux: a </a:t>
            </a:r>
            <a:r>
              <a:rPr lang="en-US" err="1">
                <a:ea typeface="+mn-lt"/>
                <a:cs typeface="+mn-lt"/>
              </a:rPr>
              <a:t>bíblia</a:t>
            </a:r>
            <a:r>
              <a:rPr lang="en-US" dirty="0">
                <a:ea typeface="+mn-lt"/>
                <a:cs typeface="+mn-lt"/>
              </a:rPr>
              <a:t> boot up Ubuntu, Fedora, </a:t>
            </a:r>
            <a:r>
              <a:rPr lang="en-US" err="1">
                <a:ea typeface="+mn-lt"/>
                <a:cs typeface="+mn-lt"/>
              </a:rPr>
              <a:t>Knippix</a:t>
            </a:r>
            <a:r>
              <a:rPr lang="en-US" dirty="0">
                <a:ea typeface="+mn-lt"/>
                <a:cs typeface="+mn-lt"/>
              </a:rPr>
              <a:t>, Debian, Suse e </a:t>
            </a:r>
            <a:r>
              <a:rPr lang="en-US" err="1">
                <a:ea typeface="+mn-lt"/>
                <a:cs typeface="+mn-lt"/>
              </a:rPr>
              <a:t>outras</a:t>
            </a:r>
            <a:r>
              <a:rPr lang="en-US" dirty="0">
                <a:ea typeface="+mn-lt"/>
                <a:cs typeface="+mn-lt"/>
              </a:rPr>
              <a:t>. Rio de Janeiro: Alta Books, 2008.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OLIVEIRA, </a:t>
            </a:r>
            <a:r>
              <a:rPr lang="en-US" err="1">
                <a:ea typeface="+mn-lt"/>
                <a:cs typeface="+mn-lt"/>
              </a:rPr>
              <a:t>Rômulo</a:t>
            </a:r>
            <a:r>
              <a:rPr lang="en-US" dirty="0">
                <a:ea typeface="+mn-lt"/>
                <a:cs typeface="+mn-lt"/>
              </a:rPr>
              <a:t> Silva de; CARISSIMI, Alexandre da Silva; TOSCANI, </a:t>
            </a:r>
            <a:r>
              <a:rPr lang="en-US" err="1">
                <a:ea typeface="+mn-lt"/>
                <a:cs typeface="+mn-lt"/>
              </a:rPr>
              <a:t>Simão</a:t>
            </a:r>
            <a:r>
              <a:rPr lang="en-US" dirty="0">
                <a:ea typeface="+mn-lt"/>
                <a:cs typeface="+mn-lt"/>
              </a:rPr>
              <a:t>. Sistemas </a:t>
            </a:r>
            <a:r>
              <a:rPr lang="en-US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4a.</a:t>
            </a:r>
          </a:p>
          <a:p>
            <a:pPr algn="just"/>
            <a:r>
              <a:rPr lang="en-US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Porto Alegre: Bookman, 2010.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TANENBAUM, Andrew S. </a:t>
            </a:r>
            <a:r>
              <a:rPr lang="en-US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estruturada</a:t>
            </a:r>
            <a:r>
              <a:rPr lang="en-US" dirty="0">
                <a:ea typeface="+mn-lt"/>
                <a:cs typeface="+mn-lt"/>
              </a:rPr>
              <a:t> de </a:t>
            </a:r>
            <a:r>
              <a:rPr lang="en-US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5a. ed. São Paulo, SP: Pearson Prentice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Hall, 2007.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TOCCI, Ronald J. Sistemas </a:t>
            </a:r>
            <a:r>
              <a:rPr lang="en-US" err="1">
                <a:ea typeface="+mn-lt"/>
                <a:cs typeface="+mn-lt"/>
              </a:rPr>
              <a:t>digitais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err="1">
                <a:ea typeface="+mn-lt"/>
                <a:cs typeface="+mn-lt"/>
              </a:rPr>
              <a:t>princípios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aplicações</a:t>
            </a:r>
            <a:r>
              <a:rPr lang="en-US">
                <a:ea typeface="+mn-lt"/>
                <a:cs typeface="+mn-lt"/>
              </a:rPr>
              <a:t>. 10a. ed. São Paulo: Pearson Hall., 2007.</a:t>
            </a:r>
          </a:p>
          <a:p>
            <a:pPr algn="just"/>
            <a:endParaRPr lang="en-US" b="1" strike="sngStrike" dirty="0"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9EADFB8-7453-4068-8BFF-A68E3A1AD7B8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019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Personalizada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DEF32"/>
      </a:accent1>
      <a:accent2>
        <a:srgbClr val="ED7D31"/>
      </a:accent2>
      <a:accent3>
        <a:srgbClr val="A5A5A5"/>
      </a:accent3>
      <a:accent4>
        <a:srgbClr val="FFC000"/>
      </a:accent4>
      <a:accent5>
        <a:srgbClr val="2DEF32"/>
      </a:accent5>
      <a:accent6>
        <a:srgbClr val="0FC513"/>
      </a:accent6>
      <a:hlink>
        <a:srgbClr val="2DEF32"/>
      </a:hlink>
      <a:folHlink>
        <a:srgbClr val="954F72"/>
      </a:folHlink>
    </a:clrScheme>
    <a:fontScheme name="Personalizada 1">
      <a:majorFont>
        <a:latin typeface="HP Simplifie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38</Slides>
  <Notes>0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38</vt:i4>
      </vt:variant>
    </vt:vector>
  </HeadingPairs>
  <TitlesOfParts>
    <vt:vector size="40" baseType="lpstr">
      <vt:lpstr>Tema do Office</vt:lpstr>
      <vt:lpstr>HDOfficeLightV0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3272</cp:revision>
  <dcterms:created xsi:type="dcterms:W3CDTF">2012-07-30T23:50:35Z</dcterms:created>
  <dcterms:modified xsi:type="dcterms:W3CDTF">2020-10-19T19:52:04Z</dcterms:modified>
</cp:coreProperties>
</file>