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47" r:id="rId2"/>
  </p:sldMasterIdLst>
  <p:notesMasterIdLst>
    <p:notesMasterId r:id="rId24"/>
  </p:notesMasterIdLst>
  <p:sldIdLst>
    <p:sldId id="396" r:id="rId3"/>
    <p:sldId id="258" r:id="rId4"/>
    <p:sldId id="299" r:id="rId5"/>
    <p:sldId id="278" r:id="rId6"/>
    <p:sldId id="380" r:id="rId7"/>
    <p:sldId id="381" r:id="rId8"/>
    <p:sldId id="386" r:id="rId9"/>
    <p:sldId id="382" r:id="rId10"/>
    <p:sldId id="384" r:id="rId11"/>
    <p:sldId id="385" r:id="rId12"/>
    <p:sldId id="387" r:id="rId13"/>
    <p:sldId id="389" r:id="rId14"/>
    <p:sldId id="388" r:id="rId15"/>
    <p:sldId id="394" r:id="rId16"/>
    <p:sldId id="393" r:id="rId17"/>
    <p:sldId id="392" r:id="rId18"/>
    <p:sldId id="391" r:id="rId19"/>
    <p:sldId id="390" r:id="rId20"/>
    <p:sldId id="395" r:id="rId21"/>
    <p:sldId id="298" r:id="rId22"/>
    <p:sldId id="301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3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9EA7E-4D4D-4E8F-969C-17266D302EF1}" v="118" dt="2020-02-09T12:12:13.372"/>
    <p1510:client id="{0EAAA988-2C68-4BCF-83CD-AE9F026FE6BB}" v="116" dt="2020-08-07T13:02:08.316"/>
    <p1510:client id="{143A7383-A703-4B01-BFA6-9D49624151EF}" v="2327" dt="2019-10-30T23:29:10.569"/>
    <p1510:client id="{1A2A0786-CE7E-4209-0480-B9109996D086}" v="389" dt="2020-08-28T20:19:32.566"/>
    <p1510:client id="{1B0FA6D5-760C-40F9-A76A-C66A23210A88}" v="423" dt="2019-11-29T11:24:33.104"/>
    <p1510:client id="{1BB82EB3-19AB-4BFF-BCFB-C90F68260413}" v="23" dt="2020-08-31T18:35:30.686"/>
    <p1510:client id="{23242F81-3CE7-4A36-BDB6-B7B7A984F465}" v="2" dt="2019-10-18T12:58:11.033"/>
    <p1510:client id="{2A55021F-E700-4BF7-B87F-25A17069A1AB}" v="313" dt="2019-10-14T20:03:47.839"/>
    <p1510:client id="{2FDF496E-7993-41B8-29BC-FCE736FC7F76}" v="694" dt="2020-08-28T21:30:08.702"/>
    <p1510:client id="{361FB914-AB24-452E-8D82-D9724BC21E12}" v="802" dt="2020-08-25T20:52:37.440"/>
    <p1510:client id="{442FC9E3-A72F-4F1E-842F-D3DB983CCA19}" v="59" dt="2019-11-19T17:43:47.056"/>
    <p1510:client id="{47312A0A-2580-4E6C-A6BF-A0E372B9B604}" v="152" dt="2019-10-17T21:43:15.538"/>
    <p1510:client id="{4772D096-53B3-4388-93E6-0FAF17EF4F1D}" v="550" dt="2020-02-07T16:07:06.407"/>
    <p1510:client id="{4F52E309-D824-46DE-8290-CE0DA95FBED1}" v="1479" dt="2020-08-26T19:41:59.662"/>
    <p1510:client id="{51A4D553-2689-475F-B85B-5409472BB271}" v="5" dt="2020-08-07T14:09:46.701"/>
    <p1510:client id="{5300BF01-0C64-4874-8B4E-5FFAD2FB9BC5}" v="61" dt="2020-08-26T21:16:43.328"/>
    <p1510:client id="{5539FE0C-B27A-414B-9E4C-7AE9BF724BFE}" v="1132" dt="2019-11-19T19:16:19.306"/>
    <p1510:client id="{5581E325-CDFE-4250-96AE-ED924E7BCDE6}" v="2" dt="2020-09-22T19:00:16.860"/>
    <p1510:client id="{6D7EA119-5084-4D11-BAED-8CE51403B43E}" v="1" dt="2020-08-25T19:39:39"/>
    <p1510:client id="{7201E0C9-B949-4F13-BE14-9B556989ADDF}" v="132" dt="2020-08-24T20:15:46.668"/>
    <p1510:client id="{728715C0-DCF0-4165-968F-C26A5643219C}" v="21" dt="2020-09-18T23:26:20.921"/>
    <p1510:client id="{7E5D80FC-4E43-446C-90BF-9E97AB994AD7}" v="25" dt="2019-11-21T13:47:59.916"/>
    <p1510:client id="{7FF9C414-48E7-4578-B234-A68E78B9CA53}" v="11" dt="2020-09-17T17:45:03.348"/>
    <p1510:client id="{801B7D5C-A1E8-4E19-BC6A-1ACBA6F45069}" v="32" dt="2019-10-31T13:02:16.459"/>
    <p1510:client id="{8170A944-3CA2-439E-7D73-6A30A57ED6E0}" v="33" dt="2020-08-31T18:56:00.661"/>
    <p1510:client id="{8277D4A4-4E4E-44B6-0963-BEA43C028769}" v="729" dt="2020-08-28T19:10:59.485"/>
    <p1510:client id="{8AE34065-CF1F-4955-89B5-2F7369EF095C}" v="749" dt="2019-11-21T21:40:32.565"/>
    <p1510:client id="{8E0CB0C3-2A50-464A-8C06-101B4A252542}" v="404" dt="2019-11-21T12:56:24.293"/>
    <p1510:client id="{946D074D-AD5F-43BB-92E6-812D08736660}" v="153" dt="2019-10-10T18:38:13.703"/>
    <p1510:client id="{952FA1BF-CC87-45AC-8B59-0B2DA5A9E9B8}" v="334" dt="2020-08-25T19:59:01.640"/>
    <p1510:client id="{9F7126B5-9B7A-4541-A261-76C16665FCD0}" v="1130" dt="2020-08-25T19:34:11.625"/>
    <p1510:client id="{B6A98089-5227-4FB6-C563-E6A7B1FB7FCE}" v="9" dt="2020-08-31T19:00:00.115"/>
    <p1510:client id="{C2B792DB-D4AA-4DA2-BCD0-B318FF19AA8D}" v="64" dt="2020-02-09T13:43:01.647"/>
    <p1510:client id="{C309FB53-0EB5-4CF4-ABBD-C22AC887ED01}" v="8" dt="2020-08-24T19:51:14.897"/>
    <p1510:client id="{CD129751-6C35-40FD-81C7-F417742B84B2}" v="1123" dt="2020-08-25T15:05:05.594"/>
    <p1510:client id="{D899B664-AD11-42C6-8917-B7B35A927E2C}" v="582" dt="2019-10-15T21:42:19.228"/>
    <p1510:client id="{D8B7BC65-859C-47D7-0F1A-396E25E009BF}" v="1884" dt="2020-08-27T18:41:28.509"/>
    <p1510:client id="{EC70F95B-7482-460D-A349-FFE2D60658D2}" v="259" dt="2020-08-07T14:26:48.667"/>
    <p1510:client id="{F2FACACA-56B9-404A-9400-D308A3009EE7}" v="6" dt="2020-08-25T21:04:20.908"/>
    <p1510:client id="{F51956DF-0D82-4507-8963-D6195A21818B}" v="971" dt="2020-08-28T18:37:51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202B0CA-FC54-4496-8BCA-5EF66A818D29}" styleName="Estilo E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clides Paim" userId="0d84fb374bcffaab" providerId="Windows Live" clId="Web-{5581E325-CDFE-4250-96AE-ED924E7BCDE6}"/>
    <pc:docChg chg="addSld delSld">
      <pc:chgData name="Euclides Paim" userId="0d84fb374bcffaab" providerId="Windows Live" clId="Web-{5581E325-CDFE-4250-96AE-ED924E7BCDE6}" dt="2020-09-22T19:00:16.860" v="1"/>
      <pc:docMkLst>
        <pc:docMk/>
      </pc:docMkLst>
      <pc:sldChg chg="del">
        <pc:chgData name="Euclides Paim" userId="0d84fb374bcffaab" providerId="Windows Live" clId="Web-{5581E325-CDFE-4250-96AE-ED924E7BCDE6}" dt="2020-09-22T19:00:16.860" v="1"/>
        <pc:sldMkLst>
          <pc:docMk/>
          <pc:sldMk cId="1912989895" sldId="257"/>
        </pc:sldMkLst>
      </pc:sldChg>
      <pc:sldChg chg="add">
        <pc:chgData name="Euclides Paim" userId="0d84fb374bcffaab" providerId="Windows Live" clId="Web-{5581E325-CDFE-4250-96AE-ED924E7BCDE6}" dt="2020-09-22T19:00:14.157" v="0"/>
        <pc:sldMkLst>
          <pc:docMk/>
          <pc:sldMk cId="3854861726" sldId="396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F4894-F784-4519-9C56-FB09D3BE1893}" type="datetimeFigureOut">
              <a:rPr lang="pt-BR"/>
              <a:t>22/09/2020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9D57E-F1B0-4986-B268-66D28F9A6467}" type="slidenum">
              <a:rPr lang="pt-B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414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363788" y="549275"/>
            <a:ext cx="4873625" cy="2741613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9114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CD9D786-A1FF-45EE-B845-B4770E8F11C6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478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22.09.2020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22.09.2020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22.09.2020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22.09.2020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22.09.2020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22.09.2020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22/09/2020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980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22/09/2020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070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7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22/09/2020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4551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3"/>
            <a:ext cx="51816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3"/>
            <a:ext cx="51816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22/09/2020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005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4"/>
            <a:ext cx="5156200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7554"/>
            <a:ext cx="5181601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22/09/2020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10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22/09/2020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98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22/09/2020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780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4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22/09/2020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938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22/09/2020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64637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22/09/2020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022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0362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0366"/>
            <a:ext cx="7734300" cy="5811837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22/09/2020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534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B14C849-749F-4401-99B3-6A8C4A7AA7D0}" type="datetimeFigureOut">
              <a:rPr lang="pt-BR" smtClean="0"/>
              <a:pPr/>
              <a:t>22/09/2020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12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5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1E9E8CF-FE9E-4B81-B325-A5C58B74BD75}"/>
              </a:ext>
            </a:extLst>
          </p:cNvPr>
          <p:cNvSpPr/>
          <p:nvPr/>
        </p:nvSpPr>
        <p:spPr>
          <a:xfrm>
            <a:off x="1799147" y="2568336"/>
            <a:ext cx="8870828" cy="176841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67774" y="5241057"/>
            <a:ext cx="9144000" cy="10375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>
                <a:cs typeface="Calibri"/>
              </a:rPr>
              <a:t>Professor: Euclides </a:t>
            </a:r>
            <a:r>
              <a:rPr lang="pt-BR" b="1">
                <a:cs typeface="Calibri"/>
              </a:rPr>
              <a:t>Paim</a:t>
            </a:r>
          </a:p>
          <a:p>
            <a:r>
              <a:rPr lang="de-DE" i="1">
                <a:cs typeface="Calibri" panose="020F0502020204030204"/>
              </a:rPr>
              <a:t>euclides.paim@ifc.edu.br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0CE7AA5-E1E6-4D1E-91AC-CA05762D0EAA}"/>
              </a:ext>
            </a:extLst>
          </p:cNvPr>
          <p:cNvSpPr txBox="1"/>
          <p:nvPr/>
        </p:nvSpPr>
        <p:spPr>
          <a:xfrm>
            <a:off x="1733910" y="3071004"/>
            <a:ext cx="873855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 b="1" dirty="0"/>
              <a:t>Hardware e Sistemas Operacionais</a:t>
            </a: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3BCB967-DB78-40C0-A72A-F09C5D44A7F7}"/>
              </a:ext>
            </a:extLst>
          </p:cNvPr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5" descr="Uma imagem contendo faca&#10;&#10;Descrição gerada automaticamente">
            <a:extLst>
              <a:ext uri="{FF2B5EF4-FFF2-40B4-BE49-F238E27FC236}">
                <a16:creationId xmlns:a16="http://schemas.microsoft.com/office/drawing/2014/main" id="{772C15A6-71B8-4399-B521-028FB141A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3" y="211347"/>
            <a:ext cx="27336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861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1E9E8CF-FE9E-4B81-B325-A5C58B74BD75}"/>
              </a:ext>
            </a:extLst>
          </p:cNvPr>
          <p:cNvSpPr/>
          <p:nvPr/>
        </p:nvSpPr>
        <p:spPr>
          <a:xfrm>
            <a:off x="1799147" y="2568336"/>
            <a:ext cx="8870828" cy="176841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67774" y="5241057"/>
            <a:ext cx="9144000" cy="10375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>
                <a:cs typeface="Calibri"/>
              </a:rPr>
              <a:t>Professor: Euclides </a:t>
            </a:r>
            <a:r>
              <a:rPr lang="pt-BR" b="1">
                <a:cs typeface="Calibri"/>
              </a:rPr>
              <a:t>Paim</a:t>
            </a:r>
          </a:p>
          <a:p>
            <a:r>
              <a:rPr lang="de-DE" i="1">
                <a:ea typeface="+mn-lt"/>
                <a:cs typeface="+mn-lt"/>
              </a:rPr>
              <a:t>euclides.paim@ifc.edu.br</a:t>
            </a:r>
            <a:endParaRPr lang="de-DE">
              <a:ea typeface="+mn-lt"/>
              <a:cs typeface="+mn-lt"/>
            </a:endParaRPr>
          </a:p>
          <a:p>
            <a:endParaRPr lang="de-DE" i="1">
              <a:cs typeface="Calibri" panose="020F0502020204030204"/>
            </a:endParaRPr>
          </a:p>
        </p:txBody>
      </p:sp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754704" y="2884097"/>
            <a:ext cx="6970141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200" b="1" dirty="0">
                <a:cs typeface="Calibri"/>
              </a:rPr>
              <a:t>Processos Independentes, Subprocessos e Threads</a:t>
            </a:r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58B6992-D464-4E9E-9004-33BB3AF6F50F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9282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9940" name="AutoShape 4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B63663D3-7F22-4EDA-93C9-D096C6C5C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8473EF7-5FA0-4FD2-8C41-5AB04D0B7A92}"/>
              </a:ext>
            </a:extLst>
          </p:cNvPr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800" b="1">
                <a:ea typeface="+mn-lt"/>
                <a:cs typeface="+mn-lt"/>
              </a:rPr>
              <a:t>Sumário</a:t>
            </a:r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4DB00C-18D5-4E09-8282-62BB63EA1769}"/>
              </a:ext>
            </a:extLst>
          </p:cNvPr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B1434DD-739D-48EE-822A-8E8DCC1A72EA}"/>
              </a:ext>
            </a:extLst>
          </p:cNvPr>
          <p:cNvSpPr txBox="1"/>
          <p:nvPr/>
        </p:nvSpPr>
        <p:spPr>
          <a:xfrm>
            <a:off x="253041" y="1360099"/>
            <a:ext cx="11700294" cy="47377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Processos Independentes, Subprocessos e Threads</a:t>
            </a:r>
            <a:br>
              <a:rPr lang="pt-BR" sz="2100" b="1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</a:t>
            </a:r>
            <a:r>
              <a:rPr lang="pt-BR" sz="2000" dirty="0">
                <a:ea typeface="+mn-lt"/>
                <a:cs typeface="+mn-lt"/>
              </a:rPr>
              <a:t> </a:t>
            </a:r>
            <a:r>
              <a:rPr lang="pt-BR" sz="2100" dirty="0">
                <a:ea typeface="+mn-lt"/>
                <a:cs typeface="+mn-lt"/>
              </a:rPr>
              <a:t>Conceitos gerais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 Processos independentes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 Subprocessos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 </a:t>
            </a:r>
            <a:r>
              <a:rPr lang="pt-BR" sz="2100" i="1" dirty="0">
                <a:ea typeface="+mn-lt"/>
                <a:cs typeface="+mn-lt"/>
              </a:rPr>
              <a:t>Threads   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    </a:t>
            </a:r>
            <a:r>
              <a:rPr lang="pt-BR" sz="2000" dirty="0">
                <a:ea typeface="+mn-lt"/>
                <a:cs typeface="+mn-lt"/>
              </a:rPr>
              <a:t>- Ambiente </a:t>
            </a:r>
            <a:r>
              <a:rPr lang="pt-BR" sz="2000" i="1" dirty="0" err="1">
                <a:ea typeface="+mn-lt"/>
                <a:cs typeface="+mn-lt"/>
              </a:rPr>
              <a:t>monothread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Ambiente </a:t>
            </a:r>
            <a:r>
              <a:rPr lang="pt-BR" sz="2000" i="1" dirty="0" err="1">
                <a:ea typeface="+mn-lt"/>
                <a:cs typeface="+mn-lt"/>
              </a:rPr>
              <a:t>multithread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Espaço de endereçamento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 Tipos de Processos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     </a:t>
            </a:r>
            <a:r>
              <a:rPr lang="pt-BR" sz="2000" dirty="0">
                <a:ea typeface="+mn-lt"/>
                <a:cs typeface="+mn-lt"/>
              </a:rPr>
              <a:t>- </a:t>
            </a:r>
            <a:r>
              <a:rPr lang="pt-BR" sz="2000" i="1" dirty="0">
                <a:ea typeface="+mn-lt"/>
                <a:cs typeface="+mn-lt"/>
              </a:rPr>
              <a:t>CPU </a:t>
            </a:r>
            <a:r>
              <a:rPr lang="pt-BR" sz="2000" i="1" dirty="0" err="1">
                <a:ea typeface="+mn-lt"/>
                <a:cs typeface="+mn-lt"/>
              </a:rPr>
              <a:t>Bound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</a:t>
            </a:r>
            <a:r>
              <a:rPr lang="pt-BR" sz="2000" i="1" dirty="0">
                <a:ea typeface="+mn-lt"/>
                <a:cs typeface="+mn-lt"/>
              </a:rPr>
              <a:t>I/O </a:t>
            </a:r>
            <a:r>
              <a:rPr lang="pt-BR" sz="2000" i="1" dirty="0" err="1">
                <a:ea typeface="+mn-lt"/>
                <a:cs typeface="+mn-lt"/>
              </a:rPr>
              <a:t>Bound</a:t>
            </a:r>
            <a:endParaRPr lang="pt-BR" sz="2000" i="1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000" b="1" dirty="0">
                <a:ea typeface="+mn-lt"/>
                <a:cs typeface="+mn-lt"/>
              </a:rPr>
              <a:t>Comunicação entre processos</a:t>
            </a:r>
            <a:br>
              <a:rPr lang="pt-BR" sz="2000" b="1" dirty="0">
                <a:ea typeface="+mn-lt"/>
                <a:cs typeface="+mn-lt"/>
              </a:rPr>
            </a:br>
            <a:r>
              <a:rPr lang="pt-BR" sz="2000" b="1" dirty="0">
                <a:ea typeface="+mn-lt"/>
                <a:cs typeface="+mn-lt"/>
              </a:rPr>
              <a:t>=&gt;</a:t>
            </a:r>
            <a:r>
              <a:rPr lang="pt-BR" sz="2000" dirty="0">
                <a:ea typeface="+mn-lt"/>
                <a:cs typeface="+mn-lt"/>
              </a:rPr>
              <a:t> </a:t>
            </a:r>
            <a:r>
              <a:rPr lang="pt-BR" sz="2000" i="1" dirty="0">
                <a:ea typeface="+mn-lt"/>
                <a:cs typeface="+mn-lt"/>
              </a:rPr>
              <a:t>Deadlocks</a:t>
            </a:r>
            <a:br>
              <a:rPr lang="pt-BR" sz="2000" i="1" dirty="0">
                <a:ea typeface="+mn-lt"/>
                <a:cs typeface="+mn-lt"/>
              </a:rPr>
            </a:br>
            <a:r>
              <a:rPr lang="pt-BR" sz="2000" i="1" dirty="0">
                <a:ea typeface="+mn-lt"/>
                <a:cs typeface="+mn-lt"/>
              </a:rPr>
              <a:t>         </a:t>
            </a:r>
            <a:r>
              <a:rPr lang="pt-BR" sz="2000" dirty="0">
                <a:ea typeface="+mn-lt"/>
                <a:cs typeface="+mn-lt"/>
              </a:rPr>
              <a:t>- Ocorrência 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Prevenção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Detecção</a:t>
            </a:r>
            <a:endParaRPr lang="pt-BR" sz="2000" i="1" dirty="0">
              <a:cs typeface="Calibri"/>
            </a:endParaRPr>
          </a:p>
        </p:txBody>
      </p:sp>
      <p:pic>
        <p:nvPicPr>
          <p:cNvPr id="2" name="Imagem 6" descr="Uma imagem contendo desenho&#10;&#10;Descrição gerada automaticamente">
            <a:extLst>
              <a:ext uri="{FF2B5EF4-FFF2-40B4-BE49-F238E27FC236}">
                <a16:creationId xmlns:a16="http://schemas.microsoft.com/office/drawing/2014/main" id="{E871C1AB-BD80-4112-8E35-BCEEAD91D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900000">
            <a:off x="8125004" y="2179788"/>
            <a:ext cx="2541198" cy="249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069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Processos Independentes, Subprocessos e Threads</a:t>
            </a:r>
          </a:p>
          <a:p>
            <a:pPr algn="ctr"/>
            <a:r>
              <a:rPr lang="pt-BR" sz="2400" i="1" dirty="0">
                <a:cs typeface="Calibri"/>
              </a:rPr>
              <a:t>Conceitos Gerais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906439"/>
            <a:ext cx="11987840" cy="30346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Processos</a:t>
            </a:r>
            <a:r>
              <a:rPr lang="pt-BR" sz="2100" dirty="0">
                <a:ea typeface="+mn-lt"/>
                <a:cs typeface="+mn-lt"/>
              </a:rPr>
              <a:t> </a:t>
            </a:r>
            <a:r>
              <a:rPr lang="pt-BR" sz="2100" b="1" dirty="0">
                <a:ea typeface="+mn-lt"/>
                <a:cs typeface="+mn-lt"/>
              </a:rPr>
              <a:t>independentes</a:t>
            </a:r>
            <a:r>
              <a:rPr lang="pt-BR" sz="2100" dirty="0">
                <a:ea typeface="+mn-lt"/>
                <a:cs typeface="+mn-lt"/>
              </a:rPr>
              <a:t>, </a:t>
            </a:r>
            <a:r>
              <a:rPr lang="pt-BR" sz="2100" b="1" dirty="0">
                <a:ea typeface="+mn-lt"/>
                <a:cs typeface="+mn-lt"/>
              </a:rPr>
              <a:t>subprocessos</a:t>
            </a:r>
            <a:r>
              <a:rPr lang="pt-BR" sz="2100" dirty="0">
                <a:ea typeface="+mn-lt"/>
                <a:cs typeface="+mn-lt"/>
              </a:rPr>
              <a:t> e </a:t>
            </a:r>
            <a:r>
              <a:rPr lang="pt-BR" sz="2100" b="1" i="1" dirty="0">
                <a:ea typeface="+mn-lt"/>
                <a:cs typeface="+mn-lt"/>
              </a:rPr>
              <a:t>threads</a:t>
            </a:r>
            <a:r>
              <a:rPr lang="pt-BR" sz="2100" dirty="0">
                <a:ea typeface="+mn-lt"/>
                <a:cs typeface="+mn-lt"/>
              </a:rPr>
              <a:t> são maneiras diferentes de implementar a </a:t>
            </a:r>
            <a:r>
              <a:rPr lang="pt-BR" sz="2100" i="1" dirty="0">
                <a:ea typeface="+mn-lt"/>
                <a:cs typeface="+mn-lt"/>
              </a:rPr>
              <a:t>concorrência</a:t>
            </a:r>
            <a:r>
              <a:rPr lang="pt-BR" sz="2100" dirty="0">
                <a:ea typeface="+mn-lt"/>
                <a:cs typeface="+mn-lt"/>
              </a:rPr>
              <a:t> dentro de uma aplicação (programa);</a:t>
            </a:r>
            <a:endParaRPr lang="en-US" sz="210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Objetivo:</a:t>
            </a: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algn="just">
              <a:lnSpc>
                <a:spcPct val="90000"/>
              </a:lnSpc>
              <a:spcBef>
                <a:spcPts val="750"/>
              </a:spcBef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en-US" sz="2100" dirty="0">
              <a:ea typeface="+mn-lt"/>
              <a:cs typeface="+mn-lt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8605E05-BB2E-4CAE-AC93-52C4124F339C}"/>
              </a:ext>
            </a:extLst>
          </p:cNvPr>
          <p:cNvSpPr/>
          <p:nvPr/>
        </p:nvSpPr>
        <p:spPr>
          <a:xfrm>
            <a:off x="1055561" y="3623578"/>
            <a:ext cx="10081120" cy="830997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2">
                <a:lumMod val="75000"/>
              </a:schemeClr>
            </a:solidFill>
            <a:prstDash val="sysDot"/>
          </a:ln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accent6">
                  <a:lumMod val="75000"/>
                </a:schemeClr>
              </a:buClr>
            </a:pPr>
            <a:r>
              <a:rPr lang="pt-BR" sz="2400" b="1" dirty="0">
                <a:solidFill>
                  <a:schemeClr val="bg1"/>
                </a:solidFill>
                <a:latin typeface="Calibri"/>
                <a:cs typeface="Calibri"/>
              </a:rPr>
              <a:t> Subdividir o código em tarefas que possam trabalhar de </a:t>
            </a:r>
            <a:endParaRPr lang="pt-BR">
              <a:solidFill>
                <a:schemeClr val="bg1"/>
              </a:solidFill>
            </a:endParaRPr>
          </a:p>
          <a:p>
            <a:pPr algn="ctr">
              <a:buClr>
                <a:schemeClr val="accent6">
                  <a:lumMod val="75000"/>
                </a:schemeClr>
              </a:buClr>
            </a:pPr>
            <a:r>
              <a:rPr lang="pt-BR" sz="2400" b="1" dirty="0">
                <a:solidFill>
                  <a:schemeClr val="bg1"/>
                </a:solidFill>
                <a:latin typeface="Calibri"/>
                <a:cs typeface="Calibri"/>
              </a:rPr>
              <a:t>forma concorrente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819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Processos Independentes, Subprocessos e Threads</a:t>
            </a:r>
          </a:p>
          <a:p>
            <a:pPr algn="ctr"/>
            <a:r>
              <a:rPr lang="pt-BR" sz="2400" i="1" dirty="0">
                <a:ea typeface="+mn-lt"/>
                <a:cs typeface="+mn-lt"/>
              </a:rPr>
              <a:t>Processos independentes</a:t>
            </a:r>
            <a:endParaRPr lang="pt-BR" i="1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906439"/>
            <a:ext cx="11987840" cy="28807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,Sans-Serif"/>
              <a:buChar char="•"/>
            </a:pPr>
            <a:r>
              <a:rPr lang="pt-BR" sz="2200" b="1" dirty="0">
                <a:ea typeface="+mn-lt"/>
                <a:cs typeface="+mn-lt"/>
              </a:rPr>
              <a:t>Processos independentes </a:t>
            </a:r>
            <a:endParaRPr lang="en-US" sz="2200" dirty="0">
              <a:ea typeface="+mn-lt"/>
              <a:cs typeface="+mn-lt"/>
            </a:endParaRPr>
          </a:p>
          <a:p>
            <a:pPr algn="just">
              <a:lnSpc>
                <a:spcPct val="90000"/>
              </a:lnSpc>
              <a:spcBef>
                <a:spcPts val="750"/>
              </a:spcBef>
            </a:pPr>
            <a:endParaRPr lang="pt-BR" sz="2100" b="1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,Sans-Serif"/>
              <a:buChar char="•"/>
            </a:pPr>
            <a:r>
              <a:rPr lang="pt-BR" sz="2100" dirty="0">
                <a:ea typeface="+mn-lt"/>
                <a:cs typeface="+mn-lt"/>
              </a:rPr>
              <a:t>É maneira mais simples de implementar a concorrência;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,Sans-Serif"/>
              <a:buChar char="•"/>
            </a:pPr>
            <a:r>
              <a:rPr lang="pt-BR" sz="2100" dirty="0">
                <a:ea typeface="+mn-lt"/>
                <a:cs typeface="+mn-lt"/>
              </a:rPr>
              <a:t>Não existe vínculo do processo criado com o seu criador;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,Sans-Serif"/>
              <a:buChar char="•"/>
            </a:pPr>
            <a:r>
              <a:rPr lang="pt-BR" sz="2100" dirty="0">
                <a:ea typeface="+mn-lt"/>
                <a:cs typeface="+mn-lt"/>
              </a:rPr>
              <a:t>Para sua criação exige a alocação de um PCB, possuindo </a:t>
            </a:r>
            <a:r>
              <a:rPr lang="pt-BR" sz="2100" b="1" i="1" dirty="0">
                <a:ea typeface="+mn-lt"/>
                <a:cs typeface="+mn-lt"/>
              </a:rPr>
              <a:t>contextos de hardware</a:t>
            </a:r>
            <a:r>
              <a:rPr lang="pt-BR" sz="2100" dirty="0">
                <a:ea typeface="+mn-lt"/>
                <a:cs typeface="+mn-lt"/>
              </a:rPr>
              <a:t>, </a:t>
            </a:r>
            <a:r>
              <a:rPr lang="pt-BR" sz="2100" b="1" i="1" dirty="0">
                <a:ea typeface="+mn-lt"/>
                <a:cs typeface="+mn-lt"/>
              </a:rPr>
              <a:t>contextos de software</a:t>
            </a:r>
            <a:r>
              <a:rPr lang="pt-BR" sz="2100" dirty="0">
                <a:ea typeface="+mn-lt"/>
                <a:cs typeface="+mn-lt"/>
              </a:rPr>
              <a:t> e </a:t>
            </a:r>
            <a:r>
              <a:rPr lang="pt-BR" sz="2100" b="1" i="1" dirty="0">
                <a:ea typeface="+mn-lt"/>
                <a:cs typeface="+mn-lt"/>
              </a:rPr>
              <a:t>espaço de endereçamento </a:t>
            </a:r>
            <a:r>
              <a:rPr lang="pt-BR" sz="2100" dirty="0">
                <a:ea typeface="+mn-lt"/>
                <a:cs typeface="+mn-lt"/>
              </a:rPr>
              <a:t>próprios.</a:t>
            </a:r>
            <a:endParaRPr lang="en-US" sz="2100" dirty="0">
              <a:ea typeface="+mn-lt"/>
              <a:cs typeface="+mn-lt"/>
            </a:endParaRPr>
          </a:p>
          <a:p>
            <a:pPr algn="just">
              <a:lnSpc>
                <a:spcPct val="90000"/>
              </a:lnSpc>
              <a:spcBef>
                <a:spcPts val="750"/>
              </a:spcBef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en-US" sz="21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4277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Processos Independentes, Subprocessos e Threads</a:t>
            </a:r>
          </a:p>
          <a:p>
            <a:pPr algn="ctr"/>
            <a:r>
              <a:rPr lang="pt-BR" sz="2400" i="1" dirty="0">
                <a:ea typeface="+mn-lt"/>
                <a:cs typeface="+mn-lt"/>
              </a:rPr>
              <a:t>Subprocessos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460741"/>
            <a:ext cx="11987840" cy="47284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200" b="1" dirty="0">
                <a:ea typeface="+mn-lt"/>
                <a:cs typeface="+mn-lt"/>
              </a:rPr>
              <a:t>Subprocessos </a:t>
            </a:r>
            <a:endParaRPr lang="en-US" sz="2200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São processos criados dentro de uma </a:t>
            </a:r>
            <a:r>
              <a:rPr lang="pt-BR" sz="2100" i="1" dirty="0">
                <a:ea typeface="+mn-lt"/>
                <a:cs typeface="+mn-lt"/>
              </a:rPr>
              <a:t>estrutura hierárquica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 processo criador é denominado </a:t>
            </a:r>
            <a:r>
              <a:rPr lang="pt-BR" sz="2100" b="1" i="1" dirty="0">
                <a:ea typeface="+mn-lt"/>
                <a:cs typeface="+mn-lt"/>
              </a:rPr>
              <a:t>processo-pai</a:t>
            </a:r>
            <a:r>
              <a:rPr lang="pt-BR" sz="2100" dirty="0">
                <a:ea typeface="+mn-lt"/>
                <a:cs typeface="+mn-lt"/>
              </a:rPr>
              <a:t>, enquanto o novo processo é chamado de subprocesso ou </a:t>
            </a:r>
            <a:r>
              <a:rPr lang="pt-BR" sz="2100" b="1" i="1" dirty="0">
                <a:ea typeface="+mn-lt"/>
                <a:cs typeface="+mn-lt"/>
              </a:rPr>
              <a:t>processo-filho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Características 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Existe uma dependência entre o processo criador e o subprocesso;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Caso um processo pai deixe de existir, os subprocessos subordinados são automaticamente eliminados;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Possuem seu próprio PCB;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Podem compartilhar quotas com o processo pai;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Quando um subprocesso é criado o processo-pai cede parte de suas quotas ao processo-filho.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20362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639925" y="3347047"/>
            <a:ext cx="996522" cy="1048582"/>
            <a:chOff x="1847" y="1570"/>
            <a:chExt cx="2086" cy="2113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63596" name="Oval 4"/>
            <p:cNvSpPr>
              <a:spLocks noChangeArrowheads="1"/>
            </p:cNvSpPr>
            <p:nvPr/>
          </p:nvSpPr>
          <p:spPr bwMode="auto">
            <a:xfrm>
              <a:off x="1847" y="1596"/>
              <a:ext cx="2086" cy="208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63597" name="Line 5"/>
            <p:cNvSpPr>
              <a:spLocks noChangeShapeType="1"/>
            </p:cNvSpPr>
            <p:nvPr/>
          </p:nvSpPr>
          <p:spPr bwMode="auto">
            <a:xfrm>
              <a:off x="2925" y="1570"/>
              <a:ext cx="0" cy="1044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63598" name="Line 6"/>
            <p:cNvSpPr>
              <a:spLocks noChangeShapeType="1"/>
            </p:cNvSpPr>
            <p:nvPr/>
          </p:nvSpPr>
          <p:spPr bwMode="auto">
            <a:xfrm rot="1800000" flipV="1">
              <a:off x="2854" y="2872"/>
              <a:ext cx="1058" cy="6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63599" name="Line 7"/>
            <p:cNvSpPr>
              <a:spLocks noChangeShapeType="1"/>
            </p:cNvSpPr>
            <p:nvPr/>
          </p:nvSpPr>
          <p:spPr bwMode="auto">
            <a:xfrm rot="-1800000">
              <a:off x="1940" y="2873"/>
              <a:ext cx="1054" cy="4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endParaRPr lang="pt-BR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2674" y="2149"/>
              <a:ext cx="499" cy="960"/>
              <a:chOff x="2674" y="2149"/>
              <a:chExt cx="499" cy="960"/>
            </a:xfrm>
          </p:grpSpPr>
          <p:sp>
            <p:nvSpPr>
              <p:cNvPr id="63601" name="Rectangle 9"/>
              <p:cNvSpPr>
                <a:spLocks noChangeArrowheads="1"/>
              </p:cNvSpPr>
              <p:nvPr/>
            </p:nvSpPr>
            <p:spPr bwMode="auto">
              <a:xfrm>
                <a:off x="2674" y="2217"/>
                <a:ext cx="499" cy="89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602" name="Rectangle 10"/>
              <p:cNvSpPr>
                <a:spLocks noChangeArrowheads="1"/>
              </p:cNvSpPr>
              <p:nvPr/>
            </p:nvSpPr>
            <p:spPr bwMode="auto">
              <a:xfrm>
                <a:off x="2720" y="2149"/>
                <a:ext cx="408" cy="89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603" name="Line 11"/>
              <p:cNvSpPr>
                <a:spLocks noChangeShapeType="1"/>
              </p:cNvSpPr>
              <p:nvPr/>
            </p:nvSpPr>
            <p:spPr bwMode="auto">
              <a:xfrm>
                <a:off x="2765" y="2323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604" name="Line 12"/>
              <p:cNvSpPr>
                <a:spLocks noChangeShapeType="1"/>
              </p:cNvSpPr>
              <p:nvPr/>
            </p:nvSpPr>
            <p:spPr bwMode="auto">
              <a:xfrm>
                <a:off x="2765" y="2368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605" name="Line 13"/>
              <p:cNvSpPr>
                <a:spLocks noChangeShapeType="1"/>
              </p:cNvSpPr>
              <p:nvPr/>
            </p:nvSpPr>
            <p:spPr bwMode="auto">
              <a:xfrm>
                <a:off x="2765" y="2414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606" name="Line 14"/>
              <p:cNvSpPr>
                <a:spLocks noChangeShapeType="1"/>
              </p:cNvSpPr>
              <p:nvPr/>
            </p:nvSpPr>
            <p:spPr bwMode="auto">
              <a:xfrm>
                <a:off x="2765" y="2459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607" name="Line 15"/>
              <p:cNvSpPr>
                <a:spLocks noChangeShapeType="1"/>
              </p:cNvSpPr>
              <p:nvPr/>
            </p:nvSpPr>
            <p:spPr bwMode="auto">
              <a:xfrm>
                <a:off x="2765" y="2504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608" name="Line 16"/>
              <p:cNvSpPr>
                <a:spLocks noChangeShapeType="1"/>
              </p:cNvSpPr>
              <p:nvPr/>
            </p:nvSpPr>
            <p:spPr bwMode="auto">
              <a:xfrm>
                <a:off x="2765" y="2550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609" name="Line 17"/>
              <p:cNvSpPr>
                <a:spLocks noChangeShapeType="1"/>
              </p:cNvSpPr>
              <p:nvPr/>
            </p:nvSpPr>
            <p:spPr bwMode="auto">
              <a:xfrm>
                <a:off x="2765" y="2595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610" name="Line 18"/>
              <p:cNvSpPr>
                <a:spLocks noChangeShapeType="1"/>
              </p:cNvSpPr>
              <p:nvPr/>
            </p:nvSpPr>
            <p:spPr bwMode="auto">
              <a:xfrm>
                <a:off x="2765" y="2640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611" name="Line 19"/>
              <p:cNvSpPr>
                <a:spLocks noChangeShapeType="1"/>
              </p:cNvSpPr>
              <p:nvPr/>
            </p:nvSpPr>
            <p:spPr bwMode="auto">
              <a:xfrm>
                <a:off x="2765" y="2686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612" name="Line 20"/>
              <p:cNvSpPr>
                <a:spLocks noChangeShapeType="1"/>
              </p:cNvSpPr>
              <p:nvPr/>
            </p:nvSpPr>
            <p:spPr bwMode="auto">
              <a:xfrm>
                <a:off x="2765" y="2731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613" name="Line 21"/>
              <p:cNvSpPr>
                <a:spLocks noChangeShapeType="1"/>
              </p:cNvSpPr>
              <p:nvPr/>
            </p:nvSpPr>
            <p:spPr bwMode="auto">
              <a:xfrm>
                <a:off x="2765" y="2777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614" name="Line 22"/>
              <p:cNvSpPr>
                <a:spLocks noChangeShapeType="1"/>
              </p:cNvSpPr>
              <p:nvPr/>
            </p:nvSpPr>
            <p:spPr bwMode="auto">
              <a:xfrm>
                <a:off x="2765" y="2822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615" name="Line 23"/>
              <p:cNvSpPr>
                <a:spLocks noChangeShapeType="1"/>
              </p:cNvSpPr>
              <p:nvPr/>
            </p:nvSpPr>
            <p:spPr bwMode="auto">
              <a:xfrm>
                <a:off x="2765" y="2867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616" name="Line 24"/>
              <p:cNvSpPr>
                <a:spLocks noChangeShapeType="1"/>
              </p:cNvSpPr>
              <p:nvPr/>
            </p:nvSpPr>
            <p:spPr bwMode="auto">
              <a:xfrm>
                <a:off x="2765" y="2913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617" name="Line 25"/>
              <p:cNvSpPr>
                <a:spLocks noChangeShapeType="1"/>
              </p:cNvSpPr>
              <p:nvPr/>
            </p:nvSpPr>
            <p:spPr bwMode="auto">
              <a:xfrm>
                <a:off x="2765" y="2278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</p:grpSp>
      </p:grp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2960326" y="2951037"/>
            <a:ext cx="996522" cy="1054039"/>
            <a:chOff x="1847" y="1570"/>
            <a:chExt cx="2086" cy="2124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63574" name="Oval 27"/>
            <p:cNvSpPr>
              <a:spLocks noChangeArrowheads="1"/>
            </p:cNvSpPr>
            <p:nvPr/>
          </p:nvSpPr>
          <p:spPr bwMode="auto">
            <a:xfrm>
              <a:off x="1847" y="1607"/>
              <a:ext cx="2086" cy="208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/>
              <a:tailEnd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anchor="ctr">
              <a:spAutoFit/>
            </a:bodyPr>
            <a:lstStyle/>
            <a:p>
              <a:endParaRPr lang="pt-BR" dirty="0"/>
            </a:p>
          </p:txBody>
        </p:sp>
        <p:sp>
          <p:nvSpPr>
            <p:cNvPr id="63575" name="Line 28"/>
            <p:cNvSpPr>
              <a:spLocks noChangeShapeType="1"/>
            </p:cNvSpPr>
            <p:nvPr/>
          </p:nvSpPr>
          <p:spPr bwMode="auto">
            <a:xfrm>
              <a:off x="2925" y="1570"/>
              <a:ext cx="0" cy="1044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63576" name="Line 29"/>
            <p:cNvSpPr>
              <a:spLocks noChangeShapeType="1"/>
            </p:cNvSpPr>
            <p:nvPr/>
          </p:nvSpPr>
          <p:spPr bwMode="auto">
            <a:xfrm rot="1800000" flipV="1">
              <a:off x="2854" y="2872"/>
              <a:ext cx="1058" cy="6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63577" name="Line 30"/>
            <p:cNvSpPr>
              <a:spLocks noChangeShapeType="1"/>
            </p:cNvSpPr>
            <p:nvPr/>
          </p:nvSpPr>
          <p:spPr bwMode="auto">
            <a:xfrm rot="-1800000">
              <a:off x="1940" y="2873"/>
              <a:ext cx="1054" cy="4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endParaRPr lang="pt-BR"/>
            </a:p>
          </p:txBody>
        </p:sp>
        <p:grpSp>
          <p:nvGrpSpPr>
            <p:cNvPr id="5" name="Group 31"/>
            <p:cNvGrpSpPr>
              <a:grpSpLocks/>
            </p:cNvGrpSpPr>
            <p:nvPr/>
          </p:nvGrpSpPr>
          <p:grpSpPr bwMode="auto">
            <a:xfrm>
              <a:off x="2674" y="2149"/>
              <a:ext cx="499" cy="960"/>
              <a:chOff x="2674" y="2149"/>
              <a:chExt cx="499" cy="960"/>
            </a:xfrm>
          </p:grpSpPr>
          <p:sp>
            <p:nvSpPr>
              <p:cNvPr id="63579" name="Rectangle 32"/>
              <p:cNvSpPr>
                <a:spLocks noChangeArrowheads="1"/>
              </p:cNvSpPr>
              <p:nvPr/>
            </p:nvSpPr>
            <p:spPr bwMode="auto">
              <a:xfrm>
                <a:off x="2674" y="2217"/>
                <a:ext cx="499" cy="89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80" name="Rectangle 33"/>
              <p:cNvSpPr>
                <a:spLocks noChangeArrowheads="1"/>
              </p:cNvSpPr>
              <p:nvPr/>
            </p:nvSpPr>
            <p:spPr bwMode="auto">
              <a:xfrm>
                <a:off x="2720" y="2149"/>
                <a:ext cx="408" cy="89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81" name="Line 34"/>
              <p:cNvSpPr>
                <a:spLocks noChangeShapeType="1"/>
              </p:cNvSpPr>
              <p:nvPr/>
            </p:nvSpPr>
            <p:spPr bwMode="auto">
              <a:xfrm>
                <a:off x="2765" y="2323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82" name="Line 35"/>
              <p:cNvSpPr>
                <a:spLocks noChangeShapeType="1"/>
              </p:cNvSpPr>
              <p:nvPr/>
            </p:nvSpPr>
            <p:spPr bwMode="auto">
              <a:xfrm>
                <a:off x="2765" y="2368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83" name="Line 36"/>
              <p:cNvSpPr>
                <a:spLocks noChangeShapeType="1"/>
              </p:cNvSpPr>
              <p:nvPr/>
            </p:nvSpPr>
            <p:spPr bwMode="auto">
              <a:xfrm>
                <a:off x="2765" y="2414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84" name="Line 37"/>
              <p:cNvSpPr>
                <a:spLocks noChangeShapeType="1"/>
              </p:cNvSpPr>
              <p:nvPr/>
            </p:nvSpPr>
            <p:spPr bwMode="auto">
              <a:xfrm>
                <a:off x="2765" y="2459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85" name="Line 38"/>
              <p:cNvSpPr>
                <a:spLocks noChangeShapeType="1"/>
              </p:cNvSpPr>
              <p:nvPr/>
            </p:nvSpPr>
            <p:spPr bwMode="auto">
              <a:xfrm>
                <a:off x="2765" y="2504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86" name="Line 39"/>
              <p:cNvSpPr>
                <a:spLocks noChangeShapeType="1"/>
              </p:cNvSpPr>
              <p:nvPr/>
            </p:nvSpPr>
            <p:spPr bwMode="auto">
              <a:xfrm>
                <a:off x="2765" y="2550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87" name="Line 40"/>
              <p:cNvSpPr>
                <a:spLocks noChangeShapeType="1"/>
              </p:cNvSpPr>
              <p:nvPr/>
            </p:nvSpPr>
            <p:spPr bwMode="auto">
              <a:xfrm>
                <a:off x="2765" y="2595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88" name="Line 41"/>
              <p:cNvSpPr>
                <a:spLocks noChangeShapeType="1"/>
              </p:cNvSpPr>
              <p:nvPr/>
            </p:nvSpPr>
            <p:spPr bwMode="auto">
              <a:xfrm>
                <a:off x="2765" y="2640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89" name="Line 42"/>
              <p:cNvSpPr>
                <a:spLocks noChangeShapeType="1"/>
              </p:cNvSpPr>
              <p:nvPr/>
            </p:nvSpPr>
            <p:spPr bwMode="auto">
              <a:xfrm>
                <a:off x="2765" y="2686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90" name="Line 43"/>
              <p:cNvSpPr>
                <a:spLocks noChangeShapeType="1"/>
              </p:cNvSpPr>
              <p:nvPr/>
            </p:nvSpPr>
            <p:spPr bwMode="auto">
              <a:xfrm>
                <a:off x="2765" y="2731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91" name="Line 44"/>
              <p:cNvSpPr>
                <a:spLocks noChangeShapeType="1"/>
              </p:cNvSpPr>
              <p:nvPr/>
            </p:nvSpPr>
            <p:spPr bwMode="auto">
              <a:xfrm>
                <a:off x="2765" y="2777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92" name="Line 45"/>
              <p:cNvSpPr>
                <a:spLocks noChangeShapeType="1"/>
              </p:cNvSpPr>
              <p:nvPr/>
            </p:nvSpPr>
            <p:spPr bwMode="auto">
              <a:xfrm>
                <a:off x="2765" y="2822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93" name="Line 46"/>
              <p:cNvSpPr>
                <a:spLocks noChangeShapeType="1"/>
              </p:cNvSpPr>
              <p:nvPr/>
            </p:nvSpPr>
            <p:spPr bwMode="auto">
              <a:xfrm>
                <a:off x="2765" y="2867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94" name="Line 47"/>
              <p:cNvSpPr>
                <a:spLocks noChangeShapeType="1"/>
              </p:cNvSpPr>
              <p:nvPr/>
            </p:nvSpPr>
            <p:spPr bwMode="auto">
              <a:xfrm>
                <a:off x="2765" y="2913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95" name="Line 48"/>
              <p:cNvSpPr>
                <a:spLocks noChangeShapeType="1"/>
              </p:cNvSpPr>
              <p:nvPr/>
            </p:nvSpPr>
            <p:spPr bwMode="auto">
              <a:xfrm>
                <a:off x="2765" y="2278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</p:grpSp>
      </p:grpSp>
      <p:grpSp>
        <p:nvGrpSpPr>
          <p:cNvPr id="6" name="Group 49"/>
          <p:cNvGrpSpPr>
            <a:grpSpLocks/>
          </p:cNvGrpSpPr>
          <p:nvPr/>
        </p:nvGrpSpPr>
        <p:grpSpPr bwMode="auto">
          <a:xfrm>
            <a:off x="7649157" y="3403914"/>
            <a:ext cx="996522" cy="1035679"/>
            <a:chOff x="1847" y="1567"/>
            <a:chExt cx="2086" cy="2087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63552" name="Oval 50"/>
            <p:cNvSpPr>
              <a:spLocks noChangeArrowheads="1"/>
            </p:cNvSpPr>
            <p:nvPr/>
          </p:nvSpPr>
          <p:spPr bwMode="auto">
            <a:xfrm>
              <a:off x="1847" y="1567"/>
              <a:ext cx="2086" cy="208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63553" name="Line 51"/>
            <p:cNvSpPr>
              <a:spLocks noChangeShapeType="1"/>
            </p:cNvSpPr>
            <p:nvPr/>
          </p:nvSpPr>
          <p:spPr bwMode="auto">
            <a:xfrm>
              <a:off x="2925" y="1570"/>
              <a:ext cx="0" cy="1044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63554" name="Line 52"/>
            <p:cNvSpPr>
              <a:spLocks noChangeShapeType="1"/>
            </p:cNvSpPr>
            <p:nvPr/>
          </p:nvSpPr>
          <p:spPr bwMode="auto">
            <a:xfrm rot="1800000" flipV="1">
              <a:off x="2854" y="2872"/>
              <a:ext cx="1058" cy="6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63555" name="Line 53"/>
            <p:cNvSpPr>
              <a:spLocks noChangeShapeType="1"/>
            </p:cNvSpPr>
            <p:nvPr/>
          </p:nvSpPr>
          <p:spPr bwMode="auto">
            <a:xfrm rot="-1800000">
              <a:off x="1940" y="2873"/>
              <a:ext cx="1054" cy="4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endParaRPr lang="pt-BR"/>
            </a:p>
          </p:txBody>
        </p:sp>
        <p:grpSp>
          <p:nvGrpSpPr>
            <p:cNvPr id="7" name="Group 54"/>
            <p:cNvGrpSpPr>
              <a:grpSpLocks/>
            </p:cNvGrpSpPr>
            <p:nvPr/>
          </p:nvGrpSpPr>
          <p:grpSpPr bwMode="auto">
            <a:xfrm>
              <a:off x="2674" y="2149"/>
              <a:ext cx="499" cy="960"/>
              <a:chOff x="2674" y="2149"/>
              <a:chExt cx="499" cy="960"/>
            </a:xfrm>
          </p:grpSpPr>
          <p:sp>
            <p:nvSpPr>
              <p:cNvPr id="63557" name="Rectangle 55"/>
              <p:cNvSpPr>
                <a:spLocks noChangeArrowheads="1"/>
              </p:cNvSpPr>
              <p:nvPr/>
            </p:nvSpPr>
            <p:spPr bwMode="auto">
              <a:xfrm>
                <a:off x="2674" y="2217"/>
                <a:ext cx="499" cy="89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58" name="Rectangle 56"/>
              <p:cNvSpPr>
                <a:spLocks noChangeArrowheads="1"/>
              </p:cNvSpPr>
              <p:nvPr/>
            </p:nvSpPr>
            <p:spPr bwMode="auto">
              <a:xfrm>
                <a:off x="2720" y="2149"/>
                <a:ext cx="408" cy="89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59" name="Line 57"/>
              <p:cNvSpPr>
                <a:spLocks noChangeShapeType="1"/>
              </p:cNvSpPr>
              <p:nvPr/>
            </p:nvSpPr>
            <p:spPr bwMode="auto">
              <a:xfrm>
                <a:off x="2765" y="2323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60" name="Line 58"/>
              <p:cNvSpPr>
                <a:spLocks noChangeShapeType="1"/>
              </p:cNvSpPr>
              <p:nvPr/>
            </p:nvSpPr>
            <p:spPr bwMode="auto">
              <a:xfrm>
                <a:off x="2765" y="2368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61" name="Line 59"/>
              <p:cNvSpPr>
                <a:spLocks noChangeShapeType="1"/>
              </p:cNvSpPr>
              <p:nvPr/>
            </p:nvSpPr>
            <p:spPr bwMode="auto">
              <a:xfrm>
                <a:off x="2765" y="2414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62" name="Line 60"/>
              <p:cNvSpPr>
                <a:spLocks noChangeShapeType="1"/>
              </p:cNvSpPr>
              <p:nvPr/>
            </p:nvSpPr>
            <p:spPr bwMode="auto">
              <a:xfrm>
                <a:off x="2765" y="2459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63" name="Line 61"/>
              <p:cNvSpPr>
                <a:spLocks noChangeShapeType="1"/>
              </p:cNvSpPr>
              <p:nvPr/>
            </p:nvSpPr>
            <p:spPr bwMode="auto">
              <a:xfrm>
                <a:off x="2765" y="2504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64" name="Line 62"/>
              <p:cNvSpPr>
                <a:spLocks noChangeShapeType="1"/>
              </p:cNvSpPr>
              <p:nvPr/>
            </p:nvSpPr>
            <p:spPr bwMode="auto">
              <a:xfrm>
                <a:off x="2765" y="2550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65" name="Line 63"/>
              <p:cNvSpPr>
                <a:spLocks noChangeShapeType="1"/>
              </p:cNvSpPr>
              <p:nvPr/>
            </p:nvSpPr>
            <p:spPr bwMode="auto">
              <a:xfrm>
                <a:off x="2765" y="2595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66" name="Line 64"/>
              <p:cNvSpPr>
                <a:spLocks noChangeShapeType="1"/>
              </p:cNvSpPr>
              <p:nvPr/>
            </p:nvSpPr>
            <p:spPr bwMode="auto">
              <a:xfrm>
                <a:off x="2765" y="2640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67" name="Line 65"/>
              <p:cNvSpPr>
                <a:spLocks noChangeShapeType="1"/>
              </p:cNvSpPr>
              <p:nvPr/>
            </p:nvSpPr>
            <p:spPr bwMode="auto">
              <a:xfrm>
                <a:off x="2765" y="2686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68" name="Line 66"/>
              <p:cNvSpPr>
                <a:spLocks noChangeShapeType="1"/>
              </p:cNvSpPr>
              <p:nvPr/>
            </p:nvSpPr>
            <p:spPr bwMode="auto">
              <a:xfrm>
                <a:off x="2765" y="2731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69" name="Line 67"/>
              <p:cNvSpPr>
                <a:spLocks noChangeShapeType="1"/>
              </p:cNvSpPr>
              <p:nvPr/>
            </p:nvSpPr>
            <p:spPr bwMode="auto">
              <a:xfrm>
                <a:off x="2765" y="2777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70" name="Line 68"/>
              <p:cNvSpPr>
                <a:spLocks noChangeShapeType="1"/>
              </p:cNvSpPr>
              <p:nvPr/>
            </p:nvSpPr>
            <p:spPr bwMode="auto">
              <a:xfrm>
                <a:off x="2765" y="2822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71" name="Line 69"/>
              <p:cNvSpPr>
                <a:spLocks noChangeShapeType="1"/>
              </p:cNvSpPr>
              <p:nvPr/>
            </p:nvSpPr>
            <p:spPr bwMode="auto">
              <a:xfrm>
                <a:off x="2765" y="2867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72" name="Line 70"/>
              <p:cNvSpPr>
                <a:spLocks noChangeShapeType="1"/>
              </p:cNvSpPr>
              <p:nvPr/>
            </p:nvSpPr>
            <p:spPr bwMode="auto">
              <a:xfrm>
                <a:off x="2765" y="2913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73" name="Line 71"/>
              <p:cNvSpPr>
                <a:spLocks noChangeShapeType="1"/>
              </p:cNvSpPr>
              <p:nvPr/>
            </p:nvSpPr>
            <p:spPr bwMode="auto">
              <a:xfrm>
                <a:off x="2765" y="2278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</p:grpSp>
      </p:grpSp>
      <p:sp>
        <p:nvSpPr>
          <p:cNvPr id="63495" name="Text Box 74"/>
          <p:cNvSpPr txBox="1">
            <a:spLocks noChangeArrowheads="1"/>
          </p:cNvSpPr>
          <p:nvPr/>
        </p:nvSpPr>
        <p:spPr bwMode="auto">
          <a:xfrm>
            <a:off x="9627135" y="2922068"/>
            <a:ext cx="1251602" cy="4058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600" b="1" dirty="0"/>
              <a:t>Processo E</a:t>
            </a:r>
          </a:p>
        </p:txBody>
      </p:sp>
      <p:sp>
        <p:nvSpPr>
          <p:cNvPr id="63496" name="Text Box 75"/>
          <p:cNvSpPr txBox="1">
            <a:spLocks noChangeArrowheads="1"/>
          </p:cNvSpPr>
          <p:nvPr/>
        </p:nvSpPr>
        <p:spPr bwMode="auto">
          <a:xfrm>
            <a:off x="2918453" y="2578703"/>
            <a:ext cx="1281198" cy="4058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600" b="1" dirty="0"/>
              <a:t>Processo A</a:t>
            </a:r>
          </a:p>
        </p:txBody>
      </p:sp>
      <p:sp>
        <p:nvSpPr>
          <p:cNvPr id="63497" name="Text Box 76"/>
          <p:cNvSpPr txBox="1">
            <a:spLocks noChangeArrowheads="1"/>
          </p:cNvSpPr>
          <p:nvPr/>
        </p:nvSpPr>
        <p:spPr bwMode="auto">
          <a:xfrm>
            <a:off x="7596789" y="2924795"/>
            <a:ext cx="1286747" cy="4058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600" b="1" dirty="0"/>
              <a:t>Processo D</a:t>
            </a:r>
          </a:p>
        </p:txBody>
      </p:sp>
      <p:grpSp>
        <p:nvGrpSpPr>
          <p:cNvPr id="8" name="Group 77"/>
          <p:cNvGrpSpPr>
            <a:grpSpLocks/>
          </p:cNvGrpSpPr>
          <p:nvPr/>
        </p:nvGrpSpPr>
        <p:grpSpPr bwMode="auto">
          <a:xfrm>
            <a:off x="1496079" y="4709941"/>
            <a:ext cx="996521" cy="1035679"/>
            <a:chOff x="1852" y="1564"/>
            <a:chExt cx="2086" cy="2087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63530" name="Oval 78"/>
            <p:cNvSpPr>
              <a:spLocks noChangeArrowheads="1"/>
            </p:cNvSpPr>
            <p:nvPr/>
          </p:nvSpPr>
          <p:spPr bwMode="auto">
            <a:xfrm>
              <a:off x="1852" y="1564"/>
              <a:ext cx="2086" cy="208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>
              <a:spAutoFit/>
            </a:bodyPr>
            <a:lstStyle/>
            <a:p>
              <a:endParaRPr lang="pt-BR" dirty="0"/>
            </a:p>
          </p:txBody>
        </p:sp>
        <p:sp>
          <p:nvSpPr>
            <p:cNvPr id="63531" name="Line 79"/>
            <p:cNvSpPr>
              <a:spLocks noChangeShapeType="1"/>
            </p:cNvSpPr>
            <p:nvPr/>
          </p:nvSpPr>
          <p:spPr bwMode="auto">
            <a:xfrm>
              <a:off x="2925" y="1570"/>
              <a:ext cx="0" cy="1044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63532" name="Line 80"/>
            <p:cNvSpPr>
              <a:spLocks noChangeShapeType="1"/>
            </p:cNvSpPr>
            <p:nvPr/>
          </p:nvSpPr>
          <p:spPr bwMode="auto">
            <a:xfrm rot="1800000" flipV="1">
              <a:off x="2854" y="2872"/>
              <a:ext cx="1058" cy="6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63533" name="Line 81"/>
            <p:cNvSpPr>
              <a:spLocks noChangeShapeType="1"/>
            </p:cNvSpPr>
            <p:nvPr/>
          </p:nvSpPr>
          <p:spPr bwMode="auto">
            <a:xfrm rot="19800000">
              <a:off x="1940" y="2873"/>
              <a:ext cx="1054" cy="4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endParaRPr lang="pt-BR"/>
            </a:p>
          </p:txBody>
        </p:sp>
        <p:grpSp>
          <p:nvGrpSpPr>
            <p:cNvPr id="9" name="Group 82"/>
            <p:cNvGrpSpPr>
              <a:grpSpLocks/>
            </p:cNvGrpSpPr>
            <p:nvPr/>
          </p:nvGrpSpPr>
          <p:grpSpPr bwMode="auto">
            <a:xfrm>
              <a:off x="2674" y="2149"/>
              <a:ext cx="710" cy="960"/>
              <a:chOff x="2674" y="2149"/>
              <a:chExt cx="710" cy="960"/>
            </a:xfrm>
          </p:grpSpPr>
          <p:sp>
            <p:nvSpPr>
              <p:cNvPr id="63535" name="Rectangle 83"/>
              <p:cNvSpPr>
                <a:spLocks noChangeArrowheads="1"/>
              </p:cNvSpPr>
              <p:nvPr/>
            </p:nvSpPr>
            <p:spPr bwMode="auto">
              <a:xfrm>
                <a:off x="2674" y="2217"/>
                <a:ext cx="499" cy="89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36" name="Rectangle 84"/>
              <p:cNvSpPr>
                <a:spLocks noChangeArrowheads="1"/>
              </p:cNvSpPr>
              <p:nvPr/>
            </p:nvSpPr>
            <p:spPr bwMode="auto">
              <a:xfrm>
                <a:off x="2720" y="2149"/>
                <a:ext cx="408" cy="89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37" name="Line 85"/>
              <p:cNvSpPr>
                <a:spLocks noChangeShapeType="1"/>
              </p:cNvSpPr>
              <p:nvPr/>
            </p:nvSpPr>
            <p:spPr bwMode="auto">
              <a:xfrm>
                <a:off x="2765" y="2323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38" name="Line 86"/>
              <p:cNvSpPr>
                <a:spLocks noChangeShapeType="1"/>
              </p:cNvSpPr>
              <p:nvPr/>
            </p:nvSpPr>
            <p:spPr bwMode="auto">
              <a:xfrm>
                <a:off x="2765" y="2368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39" name="Line 87"/>
              <p:cNvSpPr>
                <a:spLocks noChangeShapeType="1"/>
              </p:cNvSpPr>
              <p:nvPr/>
            </p:nvSpPr>
            <p:spPr bwMode="auto">
              <a:xfrm>
                <a:off x="2765" y="2414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40" name="Line 88"/>
              <p:cNvSpPr>
                <a:spLocks noChangeShapeType="1"/>
              </p:cNvSpPr>
              <p:nvPr/>
            </p:nvSpPr>
            <p:spPr bwMode="auto">
              <a:xfrm>
                <a:off x="2765" y="2459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41" name="Line 89"/>
              <p:cNvSpPr>
                <a:spLocks noChangeShapeType="1"/>
              </p:cNvSpPr>
              <p:nvPr/>
            </p:nvSpPr>
            <p:spPr bwMode="auto">
              <a:xfrm>
                <a:off x="2765" y="2504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42" name="Line 90"/>
              <p:cNvSpPr>
                <a:spLocks noChangeShapeType="1"/>
              </p:cNvSpPr>
              <p:nvPr/>
            </p:nvSpPr>
            <p:spPr bwMode="auto">
              <a:xfrm>
                <a:off x="2765" y="2550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43" name="Line 91"/>
              <p:cNvSpPr>
                <a:spLocks noChangeShapeType="1"/>
              </p:cNvSpPr>
              <p:nvPr/>
            </p:nvSpPr>
            <p:spPr bwMode="auto">
              <a:xfrm>
                <a:off x="2765" y="2595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44" name="Line 92"/>
              <p:cNvSpPr>
                <a:spLocks noChangeShapeType="1"/>
              </p:cNvSpPr>
              <p:nvPr/>
            </p:nvSpPr>
            <p:spPr bwMode="auto">
              <a:xfrm>
                <a:off x="2765" y="2640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45" name="Line 93"/>
              <p:cNvSpPr>
                <a:spLocks noChangeShapeType="1"/>
              </p:cNvSpPr>
              <p:nvPr/>
            </p:nvSpPr>
            <p:spPr bwMode="auto">
              <a:xfrm>
                <a:off x="2765" y="2686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46" name="Line 94"/>
              <p:cNvSpPr>
                <a:spLocks noChangeShapeType="1"/>
              </p:cNvSpPr>
              <p:nvPr/>
            </p:nvSpPr>
            <p:spPr bwMode="auto">
              <a:xfrm>
                <a:off x="2765" y="2731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47" name="Line 95"/>
              <p:cNvSpPr>
                <a:spLocks noChangeShapeType="1"/>
              </p:cNvSpPr>
              <p:nvPr/>
            </p:nvSpPr>
            <p:spPr bwMode="auto">
              <a:xfrm>
                <a:off x="2765" y="2777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48" name="Line 96"/>
              <p:cNvSpPr>
                <a:spLocks noChangeShapeType="1"/>
              </p:cNvSpPr>
              <p:nvPr/>
            </p:nvSpPr>
            <p:spPr bwMode="auto">
              <a:xfrm>
                <a:off x="2765" y="2822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49" name="Line 97"/>
              <p:cNvSpPr>
                <a:spLocks noChangeShapeType="1"/>
              </p:cNvSpPr>
              <p:nvPr/>
            </p:nvSpPr>
            <p:spPr bwMode="auto">
              <a:xfrm>
                <a:off x="2765" y="2867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50" name="Line 98"/>
              <p:cNvSpPr>
                <a:spLocks noChangeShapeType="1"/>
              </p:cNvSpPr>
              <p:nvPr/>
            </p:nvSpPr>
            <p:spPr bwMode="auto">
              <a:xfrm>
                <a:off x="3066" y="2942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51" name="Line 99"/>
              <p:cNvSpPr>
                <a:spLocks noChangeShapeType="1"/>
              </p:cNvSpPr>
              <p:nvPr/>
            </p:nvSpPr>
            <p:spPr bwMode="auto">
              <a:xfrm>
                <a:off x="2765" y="2278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</p:grpSp>
      </p:grpSp>
      <p:grpSp>
        <p:nvGrpSpPr>
          <p:cNvPr id="10" name="Group 100"/>
          <p:cNvGrpSpPr>
            <a:grpSpLocks/>
          </p:cNvGrpSpPr>
          <p:nvPr/>
        </p:nvGrpSpPr>
        <p:grpSpPr bwMode="auto">
          <a:xfrm>
            <a:off x="4392223" y="4717839"/>
            <a:ext cx="996522" cy="1035680"/>
            <a:chOff x="1882" y="1493"/>
            <a:chExt cx="2086" cy="2087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63508" name="Oval 101"/>
            <p:cNvSpPr>
              <a:spLocks noChangeArrowheads="1"/>
            </p:cNvSpPr>
            <p:nvPr/>
          </p:nvSpPr>
          <p:spPr bwMode="auto">
            <a:xfrm>
              <a:off x="1882" y="1493"/>
              <a:ext cx="2086" cy="2087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headEnd/>
              <a:tailE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>
              <a:spAutoFit/>
            </a:bodyPr>
            <a:lstStyle/>
            <a:p>
              <a:endParaRPr lang="pt-BR" dirty="0"/>
            </a:p>
          </p:txBody>
        </p:sp>
        <p:sp>
          <p:nvSpPr>
            <p:cNvPr id="63509" name="Line 102"/>
            <p:cNvSpPr>
              <a:spLocks noChangeShapeType="1"/>
            </p:cNvSpPr>
            <p:nvPr/>
          </p:nvSpPr>
          <p:spPr bwMode="auto">
            <a:xfrm>
              <a:off x="2925" y="1570"/>
              <a:ext cx="0" cy="1044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63510" name="Line 103"/>
            <p:cNvSpPr>
              <a:spLocks noChangeShapeType="1"/>
            </p:cNvSpPr>
            <p:nvPr/>
          </p:nvSpPr>
          <p:spPr bwMode="auto">
            <a:xfrm rot="1800000" flipV="1">
              <a:off x="2854" y="2872"/>
              <a:ext cx="1058" cy="6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endParaRPr lang="pt-BR"/>
            </a:p>
          </p:txBody>
        </p:sp>
        <p:sp>
          <p:nvSpPr>
            <p:cNvPr id="63511" name="Line 104"/>
            <p:cNvSpPr>
              <a:spLocks noChangeShapeType="1"/>
            </p:cNvSpPr>
            <p:nvPr/>
          </p:nvSpPr>
          <p:spPr bwMode="auto">
            <a:xfrm rot="-1800000">
              <a:off x="1940" y="2873"/>
              <a:ext cx="1054" cy="4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endParaRPr lang="pt-BR"/>
            </a:p>
          </p:txBody>
        </p:sp>
        <p:grpSp>
          <p:nvGrpSpPr>
            <p:cNvPr id="11" name="Group 105"/>
            <p:cNvGrpSpPr>
              <a:grpSpLocks/>
            </p:cNvGrpSpPr>
            <p:nvPr/>
          </p:nvGrpSpPr>
          <p:grpSpPr bwMode="auto">
            <a:xfrm>
              <a:off x="2674" y="2149"/>
              <a:ext cx="499" cy="960"/>
              <a:chOff x="2674" y="2149"/>
              <a:chExt cx="499" cy="960"/>
            </a:xfrm>
          </p:grpSpPr>
          <p:sp>
            <p:nvSpPr>
              <p:cNvPr id="63513" name="Rectangle 106"/>
              <p:cNvSpPr>
                <a:spLocks noChangeArrowheads="1"/>
              </p:cNvSpPr>
              <p:nvPr/>
            </p:nvSpPr>
            <p:spPr bwMode="auto">
              <a:xfrm>
                <a:off x="2674" y="2217"/>
                <a:ext cx="499" cy="89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14" name="Rectangle 107"/>
              <p:cNvSpPr>
                <a:spLocks noChangeArrowheads="1"/>
              </p:cNvSpPr>
              <p:nvPr/>
            </p:nvSpPr>
            <p:spPr bwMode="auto">
              <a:xfrm>
                <a:off x="2720" y="2149"/>
                <a:ext cx="408" cy="89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15" name="Line 108"/>
              <p:cNvSpPr>
                <a:spLocks noChangeShapeType="1"/>
              </p:cNvSpPr>
              <p:nvPr/>
            </p:nvSpPr>
            <p:spPr bwMode="auto">
              <a:xfrm>
                <a:off x="2765" y="2323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16" name="Line 109"/>
              <p:cNvSpPr>
                <a:spLocks noChangeShapeType="1"/>
              </p:cNvSpPr>
              <p:nvPr/>
            </p:nvSpPr>
            <p:spPr bwMode="auto">
              <a:xfrm>
                <a:off x="2765" y="2368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17" name="Line 110"/>
              <p:cNvSpPr>
                <a:spLocks noChangeShapeType="1"/>
              </p:cNvSpPr>
              <p:nvPr/>
            </p:nvSpPr>
            <p:spPr bwMode="auto">
              <a:xfrm>
                <a:off x="2765" y="2414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18" name="Line 111"/>
              <p:cNvSpPr>
                <a:spLocks noChangeShapeType="1"/>
              </p:cNvSpPr>
              <p:nvPr/>
            </p:nvSpPr>
            <p:spPr bwMode="auto">
              <a:xfrm>
                <a:off x="2765" y="2459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19" name="Line 112"/>
              <p:cNvSpPr>
                <a:spLocks noChangeShapeType="1"/>
              </p:cNvSpPr>
              <p:nvPr/>
            </p:nvSpPr>
            <p:spPr bwMode="auto">
              <a:xfrm>
                <a:off x="2765" y="2504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20" name="Line 113"/>
              <p:cNvSpPr>
                <a:spLocks noChangeShapeType="1"/>
              </p:cNvSpPr>
              <p:nvPr/>
            </p:nvSpPr>
            <p:spPr bwMode="auto">
              <a:xfrm>
                <a:off x="2765" y="2550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21" name="Line 114"/>
              <p:cNvSpPr>
                <a:spLocks noChangeShapeType="1"/>
              </p:cNvSpPr>
              <p:nvPr/>
            </p:nvSpPr>
            <p:spPr bwMode="auto">
              <a:xfrm>
                <a:off x="2765" y="2595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22" name="Line 115"/>
              <p:cNvSpPr>
                <a:spLocks noChangeShapeType="1"/>
              </p:cNvSpPr>
              <p:nvPr/>
            </p:nvSpPr>
            <p:spPr bwMode="auto">
              <a:xfrm>
                <a:off x="2765" y="2640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23" name="Line 116"/>
              <p:cNvSpPr>
                <a:spLocks noChangeShapeType="1"/>
              </p:cNvSpPr>
              <p:nvPr/>
            </p:nvSpPr>
            <p:spPr bwMode="auto">
              <a:xfrm>
                <a:off x="2765" y="2686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24" name="Line 117"/>
              <p:cNvSpPr>
                <a:spLocks noChangeShapeType="1"/>
              </p:cNvSpPr>
              <p:nvPr/>
            </p:nvSpPr>
            <p:spPr bwMode="auto">
              <a:xfrm>
                <a:off x="2765" y="2731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25" name="Line 118"/>
              <p:cNvSpPr>
                <a:spLocks noChangeShapeType="1"/>
              </p:cNvSpPr>
              <p:nvPr/>
            </p:nvSpPr>
            <p:spPr bwMode="auto">
              <a:xfrm>
                <a:off x="2765" y="2777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26" name="Line 119"/>
              <p:cNvSpPr>
                <a:spLocks noChangeShapeType="1"/>
              </p:cNvSpPr>
              <p:nvPr/>
            </p:nvSpPr>
            <p:spPr bwMode="auto">
              <a:xfrm>
                <a:off x="2765" y="2822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27" name="Line 120"/>
              <p:cNvSpPr>
                <a:spLocks noChangeShapeType="1"/>
              </p:cNvSpPr>
              <p:nvPr/>
            </p:nvSpPr>
            <p:spPr bwMode="auto">
              <a:xfrm>
                <a:off x="2765" y="2867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28" name="Line 121"/>
              <p:cNvSpPr>
                <a:spLocks noChangeShapeType="1"/>
              </p:cNvSpPr>
              <p:nvPr/>
            </p:nvSpPr>
            <p:spPr bwMode="auto">
              <a:xfrm>
                <a:off x="2765" y="2913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3529" name="Line 122"/>
              <p:cNvSpPr>
                <a:spLocks noChangeShapeType="1"/>
              </p:cNvSpPr>
              <p:nvPr/>
            </p:nvSpPr>
            <p:spPr bwMode="auto">
              <a:xfrm>
                <a:off x="2765" y="2278"/>
                <a:ext cx="318" cy="0"/>
              </a:xfrm>
              <a:prstGeom prst="line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endParaRPr lang="pt-BR"/>
              </a:p>
            </p:txBody>
          </p:sp>
        </p:grpSp>
      </p:grpSp>
      <p:sp>
        <p:nvSpPr>
          <p:cNvPr id="63500" name="AutoShape 123"/>
          <p:cNvSpPr>
            <a:spLocks noChangeArrowheads="1"/>
          </p:cNvSpPr>
          <p:nvPr/>
        </p:nvSpPr>
        <p:spPr bwMode="auto">
          <a:xfrm rot="18540000">
            <a:off x="2174185" y="4175916"/>
            <a:ext cx="1152000" cy="396001"/>
          </a:xfrm>
          <a:prstGeom prst="leftArrow">
            <a:avLst>
              <a:gd name="adj1" fmla="val 50000"/>
              <a:gd name="adj2" fmla="val 68922"/>
            </a:avLst>
          </a:prstGeom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63501" name="AutoShape 124"/>
          <p:cNvSpPr>
            <a:spLocks noChangeArrowheads="1"/>
          </p:cNvSpPr>
          <p:nvPr/>
        </p:nvSpPr>
        <p:spPr bwMode="auto">
          <a:xfrm rot="13800000">
            <a:off x="3617026" y="4171655"/>
            <a:ext cx="1152000" cy="396001"/>
          </a:xfrm>
          <a:prstGeom prst="leftArrow">
            <a:avLst>
              <a:gd name="adj1" fmla="val 50000"/>
              <a:gd name="adj2" fmla="val 68923"/>
            </a:avLst>
          </a:prstGeom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63502" name="Text Box 125"/>
          <p:cNvSpPr txBox="1">
            <a:spLocks noChangeArrowheads="1"/>
          </p:cNvSpPr>
          <p:nvPr/>
        </p:nvSpPr>
        <p:spPr bwMode="auto">
          <a:xfrm>
            <a:off x="551506" y="4671267"/>
            <a:ext cx="1270100" cy="4058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600" b="1" dirty="0"/>
              <a:t>Processo B</a:t>
            </a:r>
          </a:p>
        </p:txBody>
      </p:sp>
      <p:sp>
        <p:nvSpPr>
          <p:cNvPr id="63503" name="Text Box 126"/>
          <p:cNvSpPr txBox="1">
            <a:spLocks noChangeArrowheads="1"/>
          </p:cNvSpPr>
          <p:nvPr/>
        </p:nvSpPr>
        <p:spPr bwMode="auto">
          <a:xfrm>
            <a:off x="5292376" y="4665979"/>
            <a:ext cx="1262701" cy="4058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1600" b="1" dirty="0"/>
              <a:t>Processo C</a:t>
            </a:r>
          </a:p>
        </p:txBody>
      </p:sp>
      <p:sp>
        <p:nvSpPr>
          <p:cNvPr id="63505" name="Text Box 130"/>
          <p:cNvSpPr txBox="1">
            <a:spLocks noChangeArrowheads="1"/>
          </p:cNvSpPr>
          <p:nvPr/>
        </p:nvSpPr>
        <p:spPr bwMode="auto">
          <a:xfrm>
            <a:off x="2569876" y="2138921"/>
            <a:ext cx="1774781" cy="442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b="1" dirty="0">
                <a:latin typeface="+mj-lt"/>
              </a:rPr>
              <a:t>Subprocessos</a:t>
            </a:r>
          </a:p>
        </p:txBody>
      </p:sp>
      <p:sp>
        <p:nvSpPr>
          <p:cNvPr id="63506" name="Text Box 131"/>
          <p:cNvSpPr txBox="1">
            <a:spLocks noChangeArrowheads="1"/>
          </p:cNvSpPr>
          <p:nvPr/>
        </p:nvSpPr>
        <p:spPr bwMode="auto">
          <a:xfrm>
            <a:off x="7971123" y="1967872"/>
            <a:ext cx="2409330" cy="77474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+mj-lt"/>
              </a:rPr>
              <a:t>Processos</a:t>
            </a:r>
          </a:p>
          <a:p>
            <a:pPr algn="ctr"/>
            <a:r>
              <a:rPr lang="pt-BR" b="1" dirty="0">
                <a:latin typeface="+mj-lt"/>
              </a:rPr>
              <a:t>Independentes</a:t>
            </a:r>
          </a:p>
        </p:txBody>
      </p:sp>
      <p:pic>
        <p:nvPicPr>
          <p:cNvPr id="13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BAE449FF-D577-44BF-A0FC-8ADBB5D36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5D045805-E167-4244-8ABF-FB0270522830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Processos Independentes, Subprocessos e Threads</a:t>
            </a:r>
          </a:p>
          <a:p>
            <a:pPr algn="ctr"/>
            <a:r>
              <a:rPr lang="pt-BR" sz="2400" i="1" dirty="0">
                <a:ea typeface="+mn-lt"/>
                <a:cs typeface="+mn-lt"/>
              </a:rPr>
              <a:t>Subprocessos</a:t>
            </a:r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8F88866-14EE-4014-BAC1-38260B60EE08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3AD2BE7-5481-45BD-B5A3-271754E4C7C8}"/>
              </a:ext>
            </a:extLst>
          </p:cNvPr>
          <p:cNvSpPr txBox="1"/>
          <p:nvPr/>
        </p:nvSpPr>
        <p:spPr>
          <a:xfrm>
            <a:off x="123645" y="1259457"/>
            <a:ext cx="11987841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100" b="1"/>
              <a:t>Exemplo de processos independentes e subprocessos</a:t>
            </a:r>
            <a:endParaRPr lang="pt-BR" sz="21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9860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Processos Independentes, Subprocessos e Threads</a:t>
            </a:r>
          </a:p>
          <a:p>
            <a:pPr algn="ctr"/>
            <a:r>
              <a:rPr lang="pt-BR" sz="2400" i="1" dirty="0">
                <a:ea typeface="+mn-lt"/>
                <a:cs typeface="+mn-lt"/>
              </a:rPr>
              <a:t>Threads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245081"/>
            <a:ext cx="11987840" cy="51219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200" b="1" i="1" dirty="0">
                <a:ea typeface="+mn-lt"/>
                <a:cs typeface="+mn-lt"/>
              </a:rPr>
              <a:t>Threads</a:t>
            </a:r>
            <a:endParaRPr lang="en-US" sz="2200" i="1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É um fluxo de execução de um processo ou uma sub-rotina de um programa que pode ser executada de forma assíncrona, ou seja, </a:t>
            </a:r>
            <a:r>
              <a:rPr lang="pt-BR" sz="2100" b="1" i="1" dirty="0">
                <a:ea typeface="+mn-lt"/>
                <a:cs typeface="+mn-lt"/>
              </a:rPr>
              <a:t>concorrentemente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O   </a:t>
            </a:r>
            <a:r>
              <a:rPr lang="pt-BR" sz="2100" b="1" i="1" dirty="0">
                <a:ea typeface="+mn-lt"/>
                <a:cs typeface="+mn-lt"/>
              </a:rPr>
              <a:t>programador</a:t>
            </a:r>
            <a:r>
              <a:rPr lang="pt-BR" sz="2100" dirty="0">
                <a:ea typeface="+mn-lt"/>
                <a:cs typeface="+mn-lt"/>
              </a:rPr>
              <a:t>  que  deve   especificar  os  threads, associando-os às sub-rotinas assíncronas;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Em um ambiente </a:t>
            </a:r>
            <a:r>
              <a:rPr lang="pt-BR" sz="2100" i="1" dirty="0" err="1">
                <a:ea typeface="+mn-lt"/>
                <a:cs typeface="+mn-lt"/>
              </a:rPr>
              <a:t>multithread</a:t>
            </a:r>
            <a:r>
              <a:rPr lang="pt-BR" sz="2100" dirty="0">
                <a:ea typeface="+mn-lt"/>
                <a:cs typeface="+mn-lt"/>
              </a:rPr>
              <a:t> um único processo pode suportar múltiplos threads, cada qual associado a uma parte do código da aplicação;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Busca reduzir o tempo gasto: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Criação; 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Eliminação;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Troca de contexto de processos nas aplicações </a:t>
            </a:r>
            <a:r>
              <a:rPr lang="pt-BR" sz="2100" b="1" i="1" dirty="0">
                <a:ea typeface="+mn-lt"/>
                <a:cs typeface="+mn-lt"/>
              </a:rPr>
              <a:t>concorrentes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Economizar recursos do sistema como um todo.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30029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Processos Independentes, Subprocessos e Threads</a:t>
            </a:r>
          </a:p>
          <a:p>
            <a:pPr algn="ctr"/>
            <a:r>
              <a:rPr lang="pt-BR" sz="2400" i="1" dirty="0">
                <a:ea typeface="+mn-lt"/>
                <a:cs typeface="+mn-lt"/>
              </a:rPr>
              <a:t>Threads</a:t>
            </a:r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245081"/>
            <a:ext cx="11987840" cy="46176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200" b="1" i="1" dirty="0">
                <a:ea typeface="+mn-lt"/>
                <a:cs typeface="+mn-lt"/>
              </a:rPr>
              <a:t>Threads</a:t>
            </a:r>
            <a:r>
              <a:rPr lang="pt-BR" sz="2200" b="1" dirty="0">
                <a:ea typeface="+mn-lt"/>
                <a:cs typeface="+mn-lt"/>
              </a:rPr>
              <a:t> (cont.)</a:t>
            </a:r>
            <a:endParaRPr lang="en-US" sz="22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2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i="1" dirty="0">
                <a:ea typeface="+mn-lt"/>
                <a:cs typeface="+mn-lt"/>
              </a:rPr>
              <a:t>Threads</a:t>
            </a:r>
            <a:r>
              <a:rPr lang="pt-BR" sz="2100" dirty="0">
                <a:ea typeface="+mn-lt"/>
                <a:cs typeface="+mn-lt"/>
              </a:rPr>
              <a:t> compartilham o processador da mesma maneira que um processo;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 err="1">
                <a:ea typeface="+mn-lt"/>
                <a:cs typeface="+mn-lt"/>
              </a:rPr>
              <a:t>Ex</a:t>
            </a:r>
            <a:r>
              <a:rPr lang="pt-BR" sz="2100" b="1" dirty="0">
                <a:ea typeface="+mn-lt"/>
                <a:cs typeface="+mn-lt"/>
              </a:rPr>
              <a:t>:</a:t>
            </a:r>
            <a:r>
              <a:rPr lang="pt-BR" sz="2100" dirty="0">
                <a:ea typeface="+mn-lt"/>
                <a:cs typeface="+mn-lt"/>
              </a:rPr>
              <a:t> Enquanto um </a:t>
            </a:r>
            <a:r>
              <a:rPr lang="pt-BR" sz="2100" i="1" dirty="0">
                <a:ea typeface="+mn-lt"/>
                <a:cs typeface="+mn-lt"/>
              </a:rPr>
              <a:t>thread</a:t>
            </a:r>
            <a:r>
              <a:rPr lang="pt-BR" sz="2100" dirty="0">
                <a:ea typeface="+mn-lt"/>
                <a:cs typeface="+mn-lt"/>
              </a:rPr>
              <a:t> espera por uma operação de E/S, outro </a:t>
            </a:r>
            <a:r>
              <a:rPr lang="pt-BR" sz="2100" i="1" dirty="0">
                <a:ea typeface="+mn-lt"/>
                <a:cs typeface="+mn-lt"/>
              </a:rPr>
              <a:t>thread</a:t>
            </a:r>
            <a:r>
              <a:rPr lang="pt-BR" sz="2100" dirty="0">
                <a:ea typeface="+mn-lt"/>
                <a:cs typeface="+mn-lt"/>
              </a:rPr>
              <a:t> pode ser executado;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Cada </a:t>
            </a:r>
            <a:r>
              <a:rPr lang="pt-BR" sz="2100" i="1" dirty="0">
                <a:ea typeface="+mn-lt"/>
                <a:cs typeface="+mn-lt"/>
              </a:rPr>
              <a:t>thread</a:t>
            </a:r>
            <a:r>
              <a:rPr lang="pt-BR" sz="2100" dirty="0">
                <a:ea typeface="+mn-lt"/>
                <a:cs typeface="+mn-lt"/>
              </a:rPr>
              <a:t> possui: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i="1" dirty="0">
                <a:ea typeface="+mn-lt"/>
                <a:cs typeface="+mn-lt"/>
              </a:rPr>
              <a:t>Próprio</a:t>
            </a:r>
            <a:r>
              <a:rPr lang="pt-BR" sz="2100" dirty="0">
                <a:ea typeface="+mn-lt"/>
                <a:cs typeface="+mn-lt"/>
              </a:rPr>
              <a:t> contexto de </a:t>
            </a:r>
            <a:r>
              <a:rPr lang="pt-BR" sz="2100" i="1" dirty="0">
                <a:ea typeface="+mn-lt"/>
                <a:cs typeface="+mn-lt"/>
              </a:rPr>
              <a:t>hardware</a:t>
            </a:r>
            <a:r>
              <a:rPr lang="pt-BR" sz="2100" dirty="0">
                <a:ea typeface="+mn-lt"/>
                <a:cs typeface="+mn-lt"/>
              </a:rPr>
              <a:t>; 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Para permitir a troca de contexto (conteúdo dos registradores gerais, PC e SP);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i="1" dirty="0">
                <a:ea typeface="+mn-lt"/>
                <a:cs typeface="+mn-lt"/>
              </a:rPr>
              <a:t>Compartilha</a:t>
            </a:r>
            <a:r>
              <a:rPr lang="pt-BR" sz="2100" dirty="0">
                <a:ea typeface="+mn-lt"/>
                <a:cs typeface="+mn-lt"/>
              </a:rPr>
              <a:t> o mesmo contexto de </a:t>
            </a:r>
            <a:r>
              <a:rPr lang="pt-BR" sz="2100" i="1" dirty="0">
                <a:ea typeface="+mn-lt"/>
                <a:cs typeface="+mn-lt"/>
              </a:rPr>
              <a:t>software</a:t>
            </a:r>
            <a:r>
              <a:rPr lang="pt-BR" sz="2100" dirty="0">
                <a:ea typeface="+mn-lt"/>
                <a:cs typeface="+mn-lt"/>
              </a:rPr>
              <a:t> e </a:t>
            </a:r>
            <a:r>
              <a:rPr lang="pt-BR" sz="2100" i="1" dirty="0">
                <a:ea typeface="+mn-lt"/>
                <a:cs typeface="+mn-lt"/>
              </a:rPr>
              <a:t>espaço de endereçamento</a:t>
            </a:r>
            <a:r>
              <a:rPr lang="pt-BR" sz="2100" dirty="0">
                <a:ea typeface="+mn-lt"/>
                <a:cs typeface="+mn-lt"/>
              </a:rPr>
              <a:t> com os demais </a:t>
            </a:r>
            <a:r>
              <a:rPr lang="pt-BR" sz="2100" i="1" dirty="0">
                <a:ea typeface="+mn-lt"/>
                <a:cs typeface="+mn-lt"/>
              </a:rPr>
              <a:t>threads</a:t>
            </a:r>
            <a:r>
              <a:rPr lang="pt-BR" sz="2100" dirty="0">
                <a:ea typeface="+mn-lt"/>
                <a:cs typeface="+mn-lt"/>
              </a:rPr>
              <a:t> do processo;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 compartilhamento do </a:t>
            </a:r>
            <a:r>
              <a:rPr lang="pt-BR" sz="2100" i="1" dirty="0">
                <a:ea typeface="+mn-lt"/>
                <a:cs typeface="+mn-lt"/>
              </a:rPr>
              <a:t>espaço de endereçamento </a:t>
            </a:r>
            <a:r>
              <a:rPr lang="pt-BR" sz="2100" dirty="0">
                <a:ea typeface="+mn-lt"/>
                <a:cs typeface="+mn-lt"/>
              </a:rPr>
              <a:t>permite que a comunicação de </a:t>
            </a:r>
            <a:r>
              <a:rPr lang="pt-BR" sz="2100" i="1" dirty="0">
                <a:ea typeface="+mn-lt"/>
                <a:cs typeface="+mn-lt"/>
              </a:rPr>
              <a:t>threads</a:t>
            </a:r>
            <a:r>
              <a:rPr lang="pt-BR" sz="2100" dirty="0">
                <a:ea typeface="+mn-lt"/>
                <a:cs typeface="+mn-lt"/>
              </a:rPr>
              <a:t> dentro do mesmo processo seja realizada de forma simples e rápida.</a:t>
            </a:r>
            <a:endParaRPr lang="en-US" sz="21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30030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ED3C9E94-4A5B-4509-823E-C73DDBD830BD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Processos Independentes, Subprocessos e Threads</a:t>
            </a:r>
          </a:p>
          <a:p>
            <a:pPr algn="ctr"/>
            <a:r>
              <a:rPr lang="pt-BR" sz="2400" i="1" dirty="0">
                <a:ea typeface="+mn-lt"/>
                <a:cs typeface="+mn-lt"/>
              </a:rPr>
              <a:t>Threads</a:t>
            </a:r>
            <a:endParaRPr lang="pt-BR" dirty="0"/>
          </a:p>
        </p:txBody>
      </p:sp>
      <p:grpSp>
        <p:nvGrpSpPr>
          <p:cNvPr id="2" name="Group 238"/>
          <p:cNvGrpSpPr>
            <a:grpSpLocks/>
          </p:cNvGrpSpPr>
          <p:nvPr/>
        </p:nvGrpSpPr>
        <p:grpSpPr bwMode="auto">
          <a:xfrm>
            <a:off x="3779353" y="1279017"/>
            <a:ext cx="2268536" cy="2484443"/>
            <a:chOff x="1937" y="685"/>
            <a:chExt cx="1429" cy="1565"/>
          </a:xfrm>
        </p:grpSpPr>
        <p:grpSp>
          <p:nvGrpSpPr>
            <p:cNvPr id="3" name="Group 237"/>
            <p:cNvGrpSpPr>
              <a:grpSpLocks/>
            </p:cNvGrpSpPr>
            <p:nvPr/>
          </p:nvGrpSpPr>
          <p:grpSpPr bwMode="auto">
            <a:xfrm>
              <a:off x="1937" y="912"/>
              <a:ext cx="1429" cy="1338"/>
              <a:chOff x="1937" y="912"/>
              <a:chExt cx="1429" cy="1338"/>
            </a:xfrm>
          </p:grpSpPr>
          <p:sp>
            <p:nvSpPr>
              <p:cNvPr id="68718" name="Oval 77"/>
              <p:cNvSpPr>
                <a:spLocks noChangeArrowheads="1"/>
              </p:cNvSpPr>
              <p:nvPr/>
            </p:nvSpPr>
            <p:spPr bwMode="auto">
              <a:xfrm>
                <a:off x="1937" y="912"/>
                <a:ext cx="1429" cy="133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headEnd/>
                <a:tailEnd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/>
              <a:p>
                <a:endParaRPr lang="pt-BR" dirty="0"/>
              </a:p>
            </p:txBody>
          </p:sp>
          <p:sp>
            <p:nvSpPr>
              <p:cNvPr id="68719" name="Line 78"/>
              <p:cNvSpPr>
                <a:spLocks noChangeShapeType="1"/>
              </p:cNvSpPr>
              <p:nvPr/>
            </p:nvSpPr>
            <p:spPr bwMode="auto">
              <a:xfrm>
                <a:off x="2654" y="935"/>
                <a:ext cx="0" cy="681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8720" name="Line 79"/>
              <p:cNvSpPr>
                <a:spLocks noChangeShapeType="1"/>
              </p:cNvSpPr>
              <p:nvPr/>
            </p:nvSpPr>
            <p:spPr bwMode="auto">
              <a:xfrm rot="1800000" flipV="1">
                <a:off x="2607" y="1784"/>
                <a:ext cx="690" cy="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8721" name="Line 80"/>
              <p:cNvSpPr>
                <a:spLocks noChangeShapeType="1"/>
              </p:cNvSpPr>
              <p:nvPr/>
            </p:nvSpPr>
            <p:spPr bwMode="auto">
              <a:xfrm rot="-1800000">
                <a:off x="2011" y="1785"/>
                <a:ext cx="688" cy="3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grpSp>
            <p:nvGrpSpPr>
              <p:cNvPr id="4" name="Group 81"/>
              <p:cNvGrpSpPr>
                <a:grpSpLocks/>
              </p:cNvGrpSpPr>
              <p:nvPr/>
            </p:nvGrpSpPr>
            <p:grpSpPr bwMode="auto">
              <a:xfrm>
                <a:off x="2490" y="1401"/>
                <a:ext cx="325" cy="415"/>
                <a:chOff x="2674" y="2278"/>
                <a:chExt cx="499" cy="635"/>
              </a:xfrm>
            </p:grpSpPr>
            <p:sp>
              <p:nvSpPr>
                <p:cNvPr id="68724" name="Rectangle 82"/>
                <p:cNvSpPr>
                  <a:spLocks noChangeArrowheads="1"/>
                </p:cNvSpPr>
                <p:nvPr/>
              </p:nvSpPr>
              <p:spPr bwMode="auto">
                <a:xfrm>
                  <a:off x="2674" y="2485"/>
                  <a:ext cx="499" cy="357"/>
                </a:xfrm>
                <a:prstGeom prst="rect">
                  <a:avLst/>
                </a:prstGeom>
                <a:solidFill>
                  <a:srgbClr val="66FFFF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25" name="Rectangle 83"/>
                <p:cNvSpPr>
                  <a:spLocks noChangeArrowheads="1"/>
                </p:cNvSpPr>
                <p:nvPr/>
              </p:nvSpPr>
              <p:spPr bwMode="auto">
                <a:xfrm>
                  <a:off x="2720" y="2417"/>
                  <a:ext cx="408" cy="356"/>
                </a:xfrm>
                <a:prstGeom prst="rect">
                  <a:avLst/>
                </a:prstGeom>
                <a:solidFill>
                  <a:srgbClr val="99FF99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26" name="Line 84"/>
                <p:cNvSpPr>
                  <a:spLocks noChangeShapeType="1"/>
                </p:cNvSpPr>
                <p:nvPr/>
              </p:nvSpPr>
              <p:spPr bwMode="auto">
                <a:xfrm>
                  <a:off x="2765" y="232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27" name="Line 85"/>
                <p:cNvSpPr>
                  <a:spLocks noChangeShapeType="1"/>
                </p:cNvSpPr>
                <p:nvPr/>
              </p:nvSpPr>
              <p:spPr bwMode="auto">
                <a:xfrm>
                  <a:off x="2765" y="236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28" name="Line 86"/>
                <p:cNvSpPr>
                  <a:spLocks noChangeShapeType="1"/>
                </p:cNvSpPr>
                <p:nvPr/>
              </p:nvSpPr>
              <p:spPr bwMode="auto">
                <a:xfrm>
                  <a:off x="2765" y="241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29" name="Line 87"/>
                <p:cNvSpPr>
                  <a:spLocks noChangeShapeType="1"/>
                </p:cNvSpPr>
                <p:nvPr/>
              </p:nvSpPr>
              <p:spPr bwMode="auto">
                <a:xfrm>
                  <a:off x="2765" y="2459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30" name="Line 88"/>
                <p:cNvSpPr>
                  <a:spLocks noChangeShapeType="1"/>
                </p:cNvSpPr>
                <p:nvPr/>
              </p:nvSpPr>
              <p:spPr bwMode="auto">
                <a:xfrm>
                  <a:off x="2765" y="250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31" name="Line 89"/>
                <p:cNvSpPr>
                  <a:spLocks noChangeShapeType="1"/>
                </p:cNvSpPr>
                <p:nvPr/>
              </p:nvSpPr>
              <p:spPr bwMode="auto">
                <a:xfrm>
                  <a:off x="2765" y="255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32" name="Line 90"/>
                <p:cNvSpPr>
                  <a:spLocks noChangeShapeType="1"/>
                </p:cNvSpPr>
                <p:nvPr/>
              </p:nvSpPr>
              <p:spPr bwMode="auto">
                <a:xfrm>
                  <a:off x="2765" y="2595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33" name="Line 91"/>
                <p:cNvSpPr>
                  <a:spLocks noChangeShapeType="1"/>
                </p:cNvSpPr>
                <p:nvPr/>
              </p:nvSpPr>
              <p:spPr bwMode="auto">
                <a:xfrm>
                  <a:off x="2765" y="264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34" name="Line 92"/>
                <p:cNvSpPr>
                  <a:spLocks noChangeShapeType="1"/>
                </p:cNvSpPr>
                <p:nvPr/>
              </p:nvSpPr>
              <p:spPr bwMode="auto">
                <a:xfrm>
                  <a:off x="2765" y="2686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35" name="Line 93"/>
                <p:cNvSpPr>
                  <a:spLocks noChangeShapeType="1"/>
                </p:cNvSpPr>
                <p:nvPr/>
              </p:nvSpPr>
              <p:spPr bwMode="auto">
                <a:xfrm>
                  <a:off x="2765" y="2731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36" name="Line 94"/>
                <p:cNvSpPr>
                  <a:spLocks noChangeShapeType="1"/>
                </p:cNvSpPr>
                <p:nvPr/>
              </p:nvSpPr>
              <p:spPr bwMode="auto">
                <a:xfrm>
                  <a:off x="2765" y="277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37" name="Line 95"/>
                <p:cNvSpPr>
                  <a:spLocks noChangeShapeType="1"/>
                </p:cNvSpPr>
                <p:nvPr/>
              </p:nvSpPr>
              <p:spPr bwMode="auto">
                <a:xfrm>
                  <a:off x="2765" y="2822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38" name="Line 96"/>
                <p:cNvSpPr>
                  <a:spLocks noChangeShapeType="1"/>
                </p:cNvSpPr>
                <p:nvPr/>
              </p:nvSpPr>
              <p:spPr bwMode="auto">
                <a:xfrm>
                  <a:off x="2765" y="286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39" name="Line 97"/>
                <p:cNvSpPr>
                  <a:spLocks noChangeShapeType="1"/>
                </p:cNvSpPr>
                <p:nvPr/>
              </p:nvSpPr>
              <p:spPr bwMode="auto">
                <a:xfrm>
                  <a:off x="2765" y="291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40" name="Line 98"/>
                <p:cNvSpPr>
                  <a:spLocks noChangeShapeType="1"/>
                </p:cNvSpPr>
                <p:nvPr/>
              </p:nvSpPr>
              <p:spPr bwMode="auto">
                <a:xfrm>
                  <a:off x="2765" y="227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</p:grpSp>
          <p:sp>
            <p:nvSpPr>
              <p:cNvPr id="68723" name="Text Box 129"/>
              <p:cNvSpPr txBox="1">
                <a:spLocks noChangeArrowheads="1"/>
              </p:cNvSpPr>
              <p:nvPr/>
            </p:nvSpPr>
            <p:spPr bwMode="auto">
              <a:xfrm>
                <a:off x="2458" y="1963"/>
                <a:ext cx="399" cy="17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pt-BR" sz="1200" b="1" dirty="0"/>
                  <a:t>Thread</a:t>
                </a:r>
              </a:p>
            </p:txBody>
          </p:sp>
        </p:grpSp>
        <p:sp>
          <p:nvSpPr>
            <p:cNvPr id="68717" name="Text Box 130"/>
            <p:cNvSpPr txBox="1">
              <a:spLocks noChangeArrowheads="1"/>
            </p:cNvSpPr>
            <p:nvPr/>
          </p:nvSpPr>
          <p:spPr bwMode="auto">
            <a:xfrm>
              <a:off x="2290" y="685"/>
              <a:ext cx="648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b="1" dirty="0"/>
                <a:t>Processo</a:t>
              </a:r>
            </a:p>
          </p:txBody>
        </p:sp>
      </p:grpSp>
      <p:grpSp>
        <p:nvGrpSpPr>
          <p:cNvPr id="5" name="Group 158"/>
          <p:cNvGrpSpPr>
            <a:grpSpLocks/>
          </p:cNvGrpSpPr>
          <p:nvPr/>
        </p:nvGrpSpPr>
        <p:grpSpPr bwMode="auto">
          <a:xfrm>
            <a:off x="2207568" y="4087328"/>
            <a:ext cx="1311437" cy="1498254"/>
            <a:chOff x="227" y="2659"/>
            <a:chExt cx="1069" cy="1228"/>
          </a:xfrm>
        </p:grpSpPr>
        <p:grpSp>
          <p:nvGrpSpPr>
            <p:cNvPr id="6" name="Group 133"/>
            <p:cNvGrpSpPr>
              <a:grpSpLocks/>
            </p:cNvGrpSpPr>
            <p:nvPr/>
          </p:nvGrpSpPr>
          <p:grpSpPr bwMode="auto">
            <a:xfrm>
              <a:off x="227" y="2931"/>
              <a:ext cx="1027" cy="956"/>
              <a:chOff x="1834" y="1570"/>
              <a:chExt cx="2147" cy="1998"/>
            </a:xfrm>
          </p:grpSpPr>
          <p:sp>
            <p:nvSpPr>
              <p:cNvPr id="68694" name="Oval 134"/>
              <p:cNvSpPr>
                <a:spLocks noChangeArrowheads="1"/>
              </p:cNvSpPr>
              <p:nvPr/>
            </p:nvSpPr>
            <p:spPr bwMode="auto">
              <a:xfrm>
                <a:off x="1834" y="1594"/>
                <a:ext cx="2147" cy="19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headEnd/>
                <a:tailEnd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8695" name="Line 135"/>
              <p:cNvSpPr>
                <a:spLocks noChangeShapeType="1"/>
              </p:cNvSpPr>
              <p:nvPr/>
            </p:nvSpPr>
            <p:spPr bwMode="auto">
              <a:xfrm>
                <a:off x="2925" y="1570"/>
                <a:ext cx="0" cy="104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8696" name="Line 136"/>
              <p:cNvSpPr>
                <a:spLocks noChangeShapeType="1"/>
              </p:cNvSpPr>
              <p:nvPr/>
            </p:nvSpPr>
            <p:spPr bwMode="auto">
              <a:xfrm rot="1800000" flipV="1">
                <a:off x="2854" y="2872"/>
                <a:ext cx="1058" cy="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8697" name="Line 137"/>
              <p:cNvSpPr>
                <a:spLocks noChangeShapeType="1"/>
              </p:cNvSpPr>
              <p:nvPr/>
            </p:nvSpPr>
            <p:spPr bwMode="auto">
              <a:xfrm rot="-1800000">
                <a:off x="1940" y="2873"/>
                <a:ext cx="1054" cy="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grpSp>
            <p:nvGrpSpPr>
              <p:cNvPr id="7" name="Group 138"/>
              <p:cNvGrpSpPr>
                <a:grpSpLocks/>
              </p:cNvGrpSpPr>
              <p:nvPr/>
            </p:nvGrpSpPr>
            <p:grpSpPr bwMode="auto">
              <a:xfrm>
                <a:off x="2674" y="2278"/>
                <a:ext cx="499" cy="701"/>
                <a:chOff x="2674" y="2278"/>
                <a:chExt cx="499" cy="701"/>
              </a:xfrm>
            </p:grpSpPr>
            <p:sp>
              <p:nvSpPr>
                <p:cNvPr id="68699" name="Rectangle 139"/>
                <p:cNvSpPr>
                  <a:spLocks noChangeArrowheads="1"/>
                </p:cNvSpPr>
                <p:nvPr/>
              </p:nvSpPr>
              <p:spPr bwMode="auto">
                <a:xfrm>
                  <a:off x="2674" y="2347"/>
                  <a:ext cx="499" cy="632"/>
                </a:xfrm>
                <a:prstGeom prst="rect">
                  <a:avLst/>
                </a:prstGeom>
                <a:solidFill>
                  <a:srgbClr val="66FFFF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00" name="Rectangle 140"/>
                <p:cNvSpPr>
                  <a:spLocks noChangeArrowheads="1"/>
                </p:cNvSpPr>
                <p:nvPr/>
              </p:nvSpPr>
              <p:spPr bwMode="auto">
                <a:xfrm>
                  <a:off x="2720" y="2279"/>
                  <a:ext cx="408" cy="633"/>
                </a:xfrm>
                <a:prstGeom prst="rect">
                  <a:avLst/>
                </a:prstGeom>
                <a:solidFill>
                  <a:srgbClr val="99FF99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01" name="Line 141"/>
                <p:cNvSpPr>
                  <a:spLocks noChangeShapeType="1"/>
                </p:cNvSpPr>
                <p:nvPr/>
              </p:nvSpPr>
              <p:spPr bwMode="auto">
                <a:xfrm>
                  <a:off x="2765" y="232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02" name="Line 142"/>
                <p:cNvSpPr>
                  <a:spLocks noChangeShapeType="1"/>
                </p:cNvSpPr>
                <p:nvPr/>
              </p:nvSpPr>
              <p:spPr bwMode="auto">
                <a:xfrm>
                  <a:off x="2765" y="236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03" name="Line 143"/>
                <p:cNvSpPr>
                  <a:spLocks noChangeShapeType="1"/>
                </p:cNvSpPr>
                <p:nvPr/>
              </p:nvSpPr>
              <p:spPr bwMode="auto">
                <a:xfrm>
                  <a:off x="2765" y="241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04" name="Line 144"/>
                <p:cNvSpPr>
                  <a:spLocks noChangeShapeType="1"/>
                </p:cNvSpPr>
                <p:nvPr/>
              </p:nvSpPr>
              <p:spPr bwMode="auto">
                <a:xfrm>
                  <a:off x="2765" y="2459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05" name="Line 145"/>
                <p:cNvSpPr>
                  <a:spLocks noChangeShapeType="1"/>
                </p:cNvSpPr>
                <p:nvPr/>
              </p:nvSpPr>
              <p:spPr bwMode="auto">
                <a:xfrm>
                  <a:off x="2765" y="250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06" name="Line 146"/>
                <p:cNvSpPr>
                  <a:spLocks noChangeShapeType="1"/>
                </p:cNvSpPr>
                <p:nvPr/>
              </p:nvSpPr>
              <p:spPr bwMode="auto">
                <a:xfrm>
                  <a:off x="2765" y="255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07" name="Line 147"/>
                <p:cNvSpPr>
                  <a:spLocks noChangeShapeType="1"/>
                </p:cNvSpPr>
                <p:nvPr/>
              </p:nvSpPr>
              <p:spPr bwMode="auto">
                <a:xfrm>
                  <a:off x="2765" y="2595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08" name="Line 148"/>
                <p:cNvSpPr>
                  <a:spLocks noChangeShapeType="1"/>
                </p:cNvSpPr>
                <p:nvPr/>
              </p:nvSpPr>
              <p:spPr bwMode="auto">
                <a:xfrm>
                  <a:off x="2765" y="264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09" name="Line 149"/>
                <p:cNvSpPr>
                  <a:spLocks noChangeShapeType="1"/>
                </p:cNvSpPr>
                <p:nvPr/>
              </p:nvSpPr>
              <p:spPr bwMode="auto">
                <a:xfrm>
                  <a:off x="2765" y="2686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10" name="Line 150"/>
                <p:cNvSpPr>
                  <a:spLocks noChangeShapeType="1"/>
                </p:cNvSpPr>
                <p:nvPr/>
              </p:nvSpPr>
              <p:spPr bwMode="auto">
                <a:xfrm>
                  <a:off x="2765" y="2731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11" name="Line 151"/>
                <p:cNvSpPr>
                  <a:spLocks noChangeShapeType="1"/>
                </p:cNvSpPr>
                <p:nvPr/>
              </p:nvSpPr>
              <p:spPr bwMode="auto">
                <a:xfrm>
                  <a:off x="2765" y="277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12" name="Line 152"/>
                <p:cNvSpPr>
                  <a:spLocks noChangeShapeType="1"/>
                </p:cNvSpPr>
                <p:nvPr/>
              </p:nvSpPr>
              <p:spPr bwMode="auto">
                <a:xfrm>
                  <a:off x="2765" y="2822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13" name="Line 153"/>
                <p:cNvSpPr>
                  <a:spLocks noChangeShapeType="1"/>
                </p:cNvSpPr>
                <p:nvPr/>
              </p:nvSpPr>
              <p:spPr bwMode="auto">
                <a:xfrm>
                  <a:off x="2765" y="286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14" name="Line 154"/>
                <p:cNvSpPr>
                  <a:spLocks noChangeShapeType="1"/>
                </p:cNvSpPr>
                <p:nvPr/>
              </p:nvSpPr>
              <p:spPr bwMode="auto">
                <a:xfrm>
                  <a:off x="2765" y="291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715" name="Line 155"/>
                <p:cNvSpPr>
                  <a:spLocks noChangeShapeType="1"/>
                </p:cNvSpPr>
                <p:nvPr/>
              </p:nvSpPr>
              <p:spPr bwMode="auto">
                <a:xfrm>
                  <a:off x="2765" y="227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</p:grpSp>
        </p:grpSp>
        <p:sp>
          <p:nvSpPr>
            <p:cNvPr id="68692" name="Text Box 156"/>
            <p:cNvSpPr txBox="1">
              <a:spLocks noChangeArrowheads="1"/>
            </p:cNvSpPr>
            <p:nvPr/>
          </p:nvSpPr>
          <p:spPr bwMode="auto">
            <a:xfrm>
              <a:off x="506" y="3657"/>
              <a:ext cx="516" cy="2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200" b="1" dirty="0"/>
                <a:t>Thread</a:t>
              </a:r>
            </a:p>
          </p:txBody>
        </p:sp>
        <p:sp>
          <p:nvSpPr>
            <p:cNvPr id="68693" name="Text Box 157"/>
            <p:cNvSpPr txBox="1">
              <a:spLocks noChangeArrowheads="1"/>
            </p:cNvSpPr>
            <p:nvPr/>
          </p:nvSpPr>
          <p:spPr bwMode="auto">
            <a:xfrm>
              <a:off x="249" y="2659"/>
              <a:ext cx="1047" cy="31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900" b="1" dirty="0"/>
                <a:t>Processo A</a:t>
              </a:r>
            </a:p>
          </p:txBody>
        </p:sp>
      </p:grpSp>
      <p:grpSp>
        <p:nvGrpSpPr>
          <p:cNvPr id="8" name="Group 159"/>
          <p:cNvGrpSpPr>
            <a:grpSpLocks/>
          </p:cNvGrpSpPr>
          <p:nvPr/>
        </p:nvGrpSpPr>
        <p:grpSpPr bwMode="auto">
          <a:xfrm>
            <a:off x="4237188" y="4087328"/>
            <a:ext cx="1288126" cy="1498254"/>
            <a:chOff x="238" y="2659"/>
            <a:chExt cx="1050" cy="1228"/>
          </a:xfrm>
        </p:grpSpPr>
        <p:grpSp>
          <p:nvGrpSpPr>
            <p:cNvPr id="9" name="Group 160"/>
            <p:cNvGrpSpPr>
              <a:grpSpLocks/>
            </p:cNvGrpSpPr>
            <p:nvPr/>
          </p:nvGrpSpPr>
          <p:grpSpPr bwMode="auto">
            <a:xfrm>
              <a:off x="238" y="2931"/>
              <a:ext cx="1027" cy="956"/>
              <a:chOff x="1858" y="1570"/>
              <a:chExt cx="2147" cy="1998"/>
            </a:xfrm>
          </p:grpSpPr>
          <p:sp>
            <p:nvSpPr>
              <p:cNvPr id="68669" name="Oval 161"/>
              <p:cNvSpPr>
                <a:spLocks noChangeArrowheads="1"/>
              </p:cNvSpPr>
              <p:nvPr/>
            </p:nvSpPr>
            <p:spPr bwMode="auto">
              <a:xfrm>
                <a:off x="1858" y="1594"/>
                <a:ext cx="2147" cy="19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headEnd/>
                <a:tailEnd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/>
              <a:p>
                <a:endParaRPr lang="pt-BR" dirty="0"/>
              </a:p>
            </p:txBody>
          </p:sp>
          <p:sp>
            <p:nvSpPr>
              <p:cNvPr id="68670" name="Line 162"/>
              <p:cNvSpPr>
                <a:spLocks noChangeShapeType="1"/>
              </p:cNvSpPr>
              <p:nvPr/>
            </p:nvSpPr>
            <p:spPr bwMode="auto">
              <a:xfrm>
                <a:off x="2925" y="1570"/>
                <a:ext cx="0" cy="104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8671" name="Line 163"/>
              <p:cNvSpPr>
                <a:spLocks noChangeShapeType="1"/>
              </p:cNvSpPr>
              <p:nvPr/>
            </p:nvSpPr>
            <p:spPr bwMode="auto">
              <a:xfrm rot="1800000" flipV="1">
                <a:off x="2854" y="2872"/>
                <a:ext cx="1058" cy="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8672" name="Line 164"/>
              <p:cNvSpPr>
                <a:spLocks noChangeShapeType="1"/>
              </p:cNvSpPr>
              <p:nvPr/>
            </p:nvSpPr>
            <p:spPr bwMode="auto">
              <a:xfrm rot="-1800000">
                <a:off x="1940" y="2873"/>
                <a:ext cx="1054" cy="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grpSp>
            <p:nvGrpSpPr>
              <p:cNvPr id="10" name="Group 165"/>
              <p:cNvGrpSpPr>
                <a:grpSpLocks/>
              </p:cNvGrpSpPr>
              <p:nvPr/>
            </p:nvGrpSpPr>
            <p:grpSpPr bwMode="auto">
              <a:xfrm>
                <a:off x="2674" y="2278"/>
                <a:ext cx="499" cy="701"/>
                <a:chOff x="2674" y="2278"/>
                <a:chExt cx="499" cy="701"/>
              </a:xfrm>
            </p:grpSpPr>
            <p:sp>
              <p:nvSpPr>
                <p:cNvPr id="68674" name="Rectangle 166"/>
                <p:cNvSpPr>
                  <a:spLocks noChangeArrowheads="1"/>
                </p:cNvSpPr>
                <p:nvPr/>
              </p:nvSpPr>
              <p:spPr bwMode="auto">
                <a:xfrm>
                  <a:off x="2674" y="2347"/>
                  <a:ext cx="499" cy="632"/>
                </a:xfrm>
                <a:prstGeom prst="rect">
                  <a:avLst/>
                </a:prstGeom>
                <a:solidFill>
                  <a:srgbClr val="66FFFF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75" name="Rectangle 167"/>
                <p:cNvSpPr>
                  <a:spLocks noChangeArrowheads="1"/>
                </p:cNvSpPr>
                <p:nvPr/>
              </p:nvSpPr>
              <p:spPr bwMode="auto">
                <a:xfrm>
                  <a:off x="2720" y="2279"/>
                  <a:ext cx="408" cy="633"/>
                </a:xfrm>
                <a:prstGeom prst="rect">
                  <a:avLst/>
                </a:prstGeom>
                <a:solidFill>
                  <a:srgbClr val="99FF99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76" name="Line 168"/>
                <p:cNvSpPr>
                  <a:spLocks noChangeShapeType="1"/>
                </p:cNvSpPr>
                <p:nvPr/>
              </p:nvSpPr>
              <p:spPr bwMode="auto">
                <a:xfrm>
                  <a:off x="2765" y="232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77" name="Line 169"/>
                <p:cNvSpPr>
                  <a:spLocks noChangeShapeType="1"/>
                </p:cNvSpPr>
                <p:nvPr/>
              </p:nvSpPr>
              <p:spPr bwMode="auto">
                <a:xfrm>
                  <a:off x="2765" y="236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78" name="Line 170"/>
                <p:cNvSpPr>
                  <a:spLocks noChangeShapeType="1"/>
                </p:cNvSpPr>
                <p:nvPr/>
              </p:nvSpPr>
              <p:spPr bwMode="auto">
                <a:xfrm>
                  <a:off x="2765" y="241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79" name="Line 171"/>
                <p:cNvSpPr>
                  <a:spLocks noChangeShapeType="1"/>
                </p:cNvSpPr>
                <p:nvPr/>
              </p:nvSpPr>
              <p:spPr bwMode="auto">
                <a:xfrm>
                  <a:off x="2765" y="2459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80" name="Line 172"/>
                <p:cNvSpPr>
                  <a:spLocks noChangeShapeType="1"/>
                </p:cNvSpPr>
                <p:nvPr/>
              </p:nvSpPr>
              <p:spPr bwMode="auto">
                <a:xfrm>
                  <a:off x="2765" y="250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81" name="Line 173"/>
                <p:cNvSpPr>
                  <a:spLocks noChangeShapeType="1"/>
                </p:cNvSpPr>
                <p:nvPr/>
              </p:nvSpPr>
              <p:spPr bwMode="auto">
                <a:xfrm>
                  <a:off x="2765" y="255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82" name="Line 174"/>
                <p:cNvSpPr>
                  <a:spLocks noChangeShapeType="1"/>
                </p:cNvSpPr>
                <p:nvPr/>
              </p:nvSpPr>
              <p:spPr bwMode="auto">
                <a:xfrm>
                  <a:off x="2765" y="2595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83" name="Line 175"/>
                <p:cNvSpPr>
                  <a:spLocks noChangeShapeType="1"/>
                </p:cNvSpPr>
                <p:nvPr/>
              </p:nvSpPr>
              <p:spPr bwMode="auto">
                <a:xfrm>
                  <a:off x="2765" y="264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84" name="Line 176"/>
                <p:cNvSpPr>
                  <a:spLocks noChangeShapeType="1"/>
                </p:cNvSpPr>
                <p:nvPr/>
              </p:nvSpPr>
              <p:spPr bwMode="auto">
                <a:xfrm>
                  <a:off x="2765" y="2686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85" name="Line 177"/>
                <p:cNvSpPr>
                  <a:spLocks noChangeShapeType="1"/>
                </p:cNvSpPr>
                <p:nvPr/>
              </p:nvSpPr>
              <p:spPr bwMode="auto">
                <a:xfrm>
                  <a:off x="2765" y="2731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86" name="Line 178"/>
                <p:cNvSpPr>
                  <a:spLocks noChangeShapeType="1"/>
                </p:cNvSpPr>
                <p:nvPr/>
              </p:nvSpPr>
              <p:spPr bwMode="auto">
                <a:xfrm>
                  <a:off x="2765" y="277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87" name="Line 179"/>
                <p:cNvSpPr>
                  <a:spLocks noChangeShapeType="1"/>
                </p:cNvSpPr>
                <p:nvPr/>
              </p:nvSpPr>
              <p:spPr bwMode="auto">
                <a:xfrm>
                  <a:off x="2765" y="2822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88" name="Line 180"/>
                <p:cNvSpPr>
                  <a:spLocks noChangeShapeType="1"/>
                </p:cNvSpPr>
                <p:nvPr/>
              </p:nvSpPr>
              <p:spPr bwMode="auto">
                <a:xfrm>
                  <a:off x="2765" y="286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89" name="Line 181"/>
                <p:cNvSpPr>
                  <a:spLocks noChangeShapeType="1"/>
                </p:cNvSpPr>
                <p:nvPr/>
              </p:nvSpPr>
              <p:spPr bwMode="auto">
                <a:xfrm>
                  <a:off x="2765" y="291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90" name="Line 182"/>
                <p:cNvSpPr>
                  <a:spLocks noChangeShapeType="1"/>
                </p:cNvSpPr>
                <p:nvPr/>
              </p:nvSpPr>
              <p:spPr bwMode="auto">
                <a:xfrm>
                  <a:off x="2765" y="227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</p:grpSp>
        </p:grpSp>
        <p:sp>
          <p:nvSpPr>
            <p:cNvPr id="68667" name="Text Box 183"/>
            <p:cNvSpPr txBox="1">
              <a:spLocks noChangeArrowheads="1"/>
            </p:cNvSpPr>
            <p:nvPr/>
          </p:nvSpPr>
          <p:spPr bwMode="auto">
            <a:xfrm>
              <a:off x="493" y="3657"/>
              <a:ext cx="516" cy="2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200" b="1" dirty="0"/>
                <a:t>Thread</a:t>
              </a:r>
            </a:p>
          </p:txBody>
        </p:sp>
        <p:sp>
          <p:nvSpPr>
            <p:cNvPr id="68668" name="Text Box 184"/>
            <p:cNvSpPr txBox="1">
              <a:spLocks noChangeArrowheads="1"/>
            </p:cNvSpPr>
            <p:nvPr/>
          </p:nvSpPr>
          <p:spPr bwMode="auto">
            <a:xfrm>
              <a:off x="250" y="2659"/>
              <a:ext cx="1038" cy="31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900" b="1" dirty="0"/>
                <a:t>Processo B</a:t>
              </a:r>
            </a:p>
          </p:txBody>
        </p:sp>
      </p:grpSp>
      <p:grpSp>
        <p:nvGrpSpPr>
          <p:cNvPr id="11" name="Group 185"/>
          <p:cNvGrpSpPr>
            <a:grpSpLocks/>
          </p:cNvGrpSpPr>
          <p:nvPr/>
        </p:nvGrpSpPr>
        <p:grpSpPr bwMode="auto">
          <a:xfrm>
            <a:off x="6240012" y="4087327"/>
            <a:ext cx="1370322" cy="1501913"/>
            <a:chOff x="227" y="2659"/>
            <a:chExt cx="1117" cy="1231"/>
          </a:xfrm>
        </p:grpSpPr>
        <p:grpSp>
          <p:nvGrpSpPr>
            <p:cNvPr id="12" name="Group 186"/>
            <p:cNvGrpSpPr>
              <a:grpSpLocks/>
            </p:cNvGrpSpPr>
            <p:nvPr/>
          </p:nvGrpSpPr>
          <p:grpSpPr bwMode="auto">
            <a:xfrm>
              <a:off x="227" y="2931"/>
              <a:ext cx="1027" cy="959"/>
              <a:chOff x="1834" y="1570"/>
              <a:chExt cx="2147" cy="2001"/>
            </a:xfrm>
          </p:grpSpPr>
          <p:sp>
            <p:nvSpPr>
              <p:cNvPr id="68644" name="Oval 187"/>
              <p:cNvSpPr>
                <a:spLocks noChangeArrowheads="1"/>
              </p:cNvSpPr>
              <p:nvPr/>
            </p:nvSpPr>
            <p:spPr bwMode="auto">
              <a:xfrm>
                <a:off x="1834" y="1598"/>
                <a:ext cx="2147" cy="1973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headEnd/>
                <a:tailEnd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8645" name="Line 188"/>
              <p:cNvSpPr>
                <a:spLocks noChangeShapeType="1"/>
              </p:cNvSpPr>
              <p:nvPr/>
            </p:nvSpPr>
            <p:spPr bwMode="auto">
              <a:xfrm>
                <a:off x="2925" y="1570"/>
                <a:ext cx="0" cy="104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8646" name="Line 189"/>
              <p:cNvSpPr>
                <a:spLocks noChangeShapeType="1"/>
              </p:cNvSpPr>
              <p:nvPr/>
            </p:nvSpPr>
            <p:spPr bwMode="auto">
              <a:xfrm rot="1800000" flipV="1">
                <a:off x="2854" y="2872"/>
                <a:ext cx="1058" cy="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68647" name="Line 190"/>
              <p:cNvSpPr>
                <a:spLocks noChangeShapeType="1"/>
              </p:cNvSpPr>
              <p:nvPr/>
            </p:nvSpPr>
            <p:spPr bwMode="auto">
              <a:xfrm rot="-1800000">
                <a:off x="1940" y="2873"/>
                <a:ext cx="1054" cy="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grpSp>
            <p:nvGrpSpPr>
              <p:cNvPr id="13" name="Group 191"/>
              <p:cNvGrpSpPr>
                <a:grpSpLocks/>
              </p:cNvGrpSpPr>
              <p:nvPr/>
            </p:nvGrpSpPr>
            <p:grpSpPr bwMode="auto">
              <a:xfrm>
                <a:off x="2674" y="2278"/>
                <a:ext cx="499" cy="701"/>
                <a:chOff x="2674" y="2278"/>
                <a:chExt cx="499" cy="701"/>
              </a:xfrm>
            </p:grpSpPr>
            <p:sp>
              <p:nvSpPr>
                <p:cNvPr id="68649" name="Rectangle 192"/>
                <p:cNvSpPr>
                  <a:spLocks noChangeArrowheads="1"/>
                </p:cNvSpPr>
                <p:nvPr/>
              </p:nvSpPr>
              <p:spPr bwMode="auto">
                <a:xfrm>
                  <a:off x="2674" y="2347"/>
                  <a:ext cx="499" cy="632"/>
                </a:xfrm>
                <a:prstGeom prst="rect">
                  <a:avLst/>
                </a:prstGeom>
                <a:solidFill>
                  <a:srgbClr val="66FFFF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50" name="Rectangle 193"/>
                <p:cNvSpPr>
                  <a:spLocks noChangeArrowheads="1"/>
                </p:cNvSpPr>
                <p:nvPr/>
              </p:nvSpPr>
              <p:spPr bwMode="auto">
                <a:xfrm>
                  <a:off x="2720" y="2279"/>
                  <a:ext cx="408" cy="633"/>
                </a:xfrm>
                <a:prstGeom prst="rect">
                  <a:avLst/>
                </a:prstGeom>
                <a:solidFill>
                  <a:srgbClr val="99FF99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51" name="Line 194"/>
                <p:cNvSpPr>
                  <a:spLocks noChangeShapeType="1"/>
                </p:cNvSpPr>
                <p:nvPr/>
              </p:nvSpPr>
              <p:spPr bwMode="auto">
                <a:xfrm>
                  <a:off x="2765" y="232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52" name="Line 195"/>
                <p:cNvSpPr>
                  <a:spLocks noChangeShapeType="1"/>
                </p:cNvSpPr>
                <p:nvPr/>
              </p:nvSpPr>
              <p:spPr bwMode="auto">
                <a:xfrm>
                  <a:off x="2765" y="236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53" name="Line 196"/>
                <p:cNvSpPr>
                  <a:spLocks noChangeShapeType="1"/>
                </p:cNvSpPr>
                <p:nvPr/>
              </p:nvSpPr>
              <p:spPr bwMode="auto">
                <a:xfrm>
                  <a:off x="2765" y="241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54" name="Line 197"/>
                <p:cNvSpPr>
                  <a:spLocks noChangeShapeType="1"/>
                </p:cNvSpPr>
                <p:nvPr/>
              </p:nvSpPr>
              <p:spPr bwMode="auto">
                <a:xfrm>
                  <a:off x="2765" y="2459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55" name="Line 198"/>
                <p:cNvSpPr>
                  <a:spLocks noChangeShapeType="1"/>
                </p:cNvSpPr>
                <p:nvPr/>
              </p:nvSpPr>
              <p:spPr bwMode="auto">
                <a:xfrm>
                  <a:off x="2765" y="250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56" name="Line 199"/>
                <p:cNvSpPr>
                  <a:spLocks noChangeShapeType="1"/>
                </p:cNvSpPr>
                <p:nvPr/>
              </p:nvSpPr>
              <p:spPr bwMode="auto">
                <a:xfrm>
                  <a:off x="2765" y="255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57" name="Line 200"/>
                <p:cNvSpPr>
                  <a:spLocks noChangeShapeType="1"/>
                </p:cNvSpPr>
                <p:nvPr/>
              </p:nvSpPr>
              <p:spPr bwMode="auto">
                <a:xfrm>
                  <a:off x="2765" y="2595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58" name="Line 201"/>
                <p:cNvSpPr>
                  <a:spLocks noChangeShapeType="1"/>
                </p:cNvSpPr>
                <p:nvPr/>
              </p:nvSpPr>
              <p:spPr bwMode="auto">
                <a:xfrm>
                  <a:off x="2765" y="264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59" name="Line 202"/>
                <p:cNvSpPr>
                  <a:spLocks noChangeShapeType="1"/>
                </p:cNvSpPr>
                <p:nvPr/>
              </p:nvSpPr>
              <p:spPr bwMode="auto">
                <a:xfrm>
                  <a:off x="2765" y="2686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60" name="Line 203"/>
                <p:cNvSpPr>
                  <a:spLocks noChangeShapeType="1"/>
                </p:cNvSpPr>
                <p:nvPr/>
              </p:nvSpPr>
              <p:spPr bwMode="auto">
                <a:xfrm>
                  <a:off x="2765" y="2731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61" name="Line 204"/>
                <p:cNvSpPr>
                  <a:spLocks noChangeShapeType="1"/>
                </p:cNvSpPr>
                <p:nvPr/>
              </p:nvSpPr>
              <p:spPr bwMode="auto">
                <a:xfrm>
                  <a:off x="2765" y="277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62" name="Line 205"/>
                <p:cNvSpPr>
                  <a:spLocks noChangeShapeType="1"/>
                </p:cNvSpPr>
                <p:nvPr/>
              </p:nvSpPr>
              <p:spPr bwMode="auto">
                <a:xfrm>
                  <a:off x="2765" y="2822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63" name="Line 206"/>
                <p:cNvSpPr>
                  <a:spLocks noChangeShapeType="1"/>
                </p:cNvSpPr>
                <p:nvPr/>
              </p:nvSpPr>
              <p:spPr bwMode="auto">
                <a:xfrm>
                  <a:off x="2765" y="286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64" name="Line 207"/>
                <p:cNvSpPr>
                  <a:spLocks noChangeShapeType="1"/>
                </p:cNvSpPr>
                <p:nvPr/>
              </p:nvSpPr>
              <p:spPr bwMode="auto">
                <a:xfrm>
                  <a:off x="2765" y="291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68665" name="Line 208"/>
                <p:cNvSpPr>
                  <a:spLocks noChangeShapeType="1"/>
                </p:cNvSpPr>
                <p:nvPr/>
              </p:nvSpPr>
              <p:spPr bwMode="auto">
                <a:xfrm>
                  <a:off x="2765" y="227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</p:grpSp>
        </p:grpSp>
        <p:sp>
          <p:nvSpPr>
            <p:cNvPr id="68642" name="Text Box 209"/>
            <p:cNvSpPr txBox="1">
              <a:spLocks noChangeArrowheads="1"/>
            </p:cNvSpPr>
            <p:nvPr/>
          </p:nvSpPr>
          <p:spPr bwMode="auto">
            <a:xfrm>
              <a:off x="504" y="3657"/>
              <a:ext cx="516" cy="2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200" b="1" dirty="0"/>
                <a:t>Thread</a:t>
              </a:r>
            </a:p>
          </p:txBody>
        </p:sp>
        <p:sp>
          <p:nvSpPr>
            <p:cNvPr id="68643" name="Text Box 210"/>
            <p:cNvSpPr txBox="1">
              <a:spLocks noChangeArrowheads="1"/>
            </p:cNvSpPr>
            <p:nvPr/>
          </p:nvSpPr>
          <p:spPr bwMode="auto">
            <a:xfrm>
              <a:off x="313" y="2659"/>
              <a:ext cx="1031" cy="31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BR" sz="1900" b="1" dirty="0"/>
                <a:t>Processo C</a:t>
              </a:r>
            </a:p>
          </p:txBody>
        </p:sp>
      </p:grpSp>
      <p:sp>
        <p:nvSpPr>
          <p:cNvPr id="136" name="CaixaDeTexto 135"/>
          <p:cNvSpPr txBox="1"/>
          <p:nvPr/>
        </p:nvSpPr>
        <p:spPr>
          <a:xfrm>
            <a:off x="839416" y="5941149"/>
            <a:ext cx="10441160" cy="8002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70C0"/>
            </a:solidFill>
            <a:prstDash val="sysDot"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300" b="1" dirty="0">
                <a:latin typeface="Calibri"/>
                <a:cs typeface="Calibri"/>
              </a:rPr>
              <a:t>Neste ambiente aplicações concorrentes são implementadas apenas </a:t>
            </a:r>
          </a:p>
          <a:p>
            <a:pPr algn="ctr"/>
            <a:r>
              <a:rPr lang="pt-BR" sz="2300" b="1" dirty="0">
                <a:latin typeface="Calibri"/>
                <a:cs typeface="Calibri"/>
              </a:rPr>
              <a:t>com o uso de múltiplos processos independentes ou subprocesso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7449625" y="2120875"/>
            <a:ext cx="4248985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+mj-lt"/>
              </a:rPr>
              <a:t>Exemplos de sistemas </a:t>
            </a:r>
            <a:r>
              <a:rPr lang="pt-BR" b="1" dirty="0" err="1">
                <a:latin typeface="+mj-lt"/>
              </a:rPr>
              <a:t>monothread</a:t>
            </a:r>
            <a:r>
              <a:rPr lang="pt-BR" dirty="0">
                <a:latin typeface="+mj-lt"/>
              </a:rPr>
              <a:t>:  Microsoft MS-DOS, as primeiras </a:t>
            </a:r>
          </a:p>
          <a:p>
            <a:pPr algn="ctr"/>
            <a:r>
              <a:rPr lang="pt-BR" dirty="0">
                <a:latin typeface="+mj-lt"/>
              </a:rPr>
              <a:t>versões do Windows e Unix.</a:t>
            </a:r>
          </a:p>
        </p:txBody>
      </p:sp>
      <p:pic>
        <p:nvPicPr>
          <p:cNvPr id="15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76805254-5804-4331-A260-CAAB2F417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D8774135-358D-403A-B69C-6476E71702C9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8D9AB9B-7026-47F4-B185-4495347E9037}"/>
              </a:ext>
            </a:extLst>
          </p:cNvPr>
          <p:cNvSpPr txBox="1"/>
          <p:nvPr/>
        </p:nvSpPr>
        <p:spPr>
          <a:xfrm>
            <a:off x="123645" y="1259457"/>
            <a:ext cx="11987841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100" b="1">
                <a:ea typeface="+mn-lt"/>
                <a:cs typeface="+mn-lt"/>
              </a:rPr>
              <a:t>Ambiente Monothread</a:t>
            </a:r>
            <a:endParaRPr lang="pt-BR" sz="21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4753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BAE449FF-D577-44BF-A0FC-8ADBB5D36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5D045805-E167-4244-8ABF-FB0270522830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Processos Independentes, Subprocessos e Threads</a:t>
            </a:r>
          </a:p>
          <a:p>
            <a:pPr algn="ctr"/>
            <a:r>
              <a:rPr lang="pt-BR" sz="2400" i="1">
                <a:ea typeface="+mn-lt"/>
                <a:cs typeface="+mn-lt"/>
              </a:rPr>
              <a:t>Threads</a:t>
            </a:r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8F88866-14EE-4014-BAC1-38260B60EE08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3AD2BE7-5481-45BD-B5A3-271754E4C7C8}"/>
              </a:ext>
            </a:extLst>
          </p:cNvPr>
          <p:cNvSpPr txBox="1"/>
          <p:nvPr/>
        </p:nvSpPr>
        <p:spPr>
          <a:xfrm>
            <a:off x="123645" y="1259457"/>
            <a:ext cx="11987841" cy="13906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100" b="1">
                <a:ea typeface="+mn-lt"/>
                <a:cs typeface="+mn-lt"/>
              </a:rPr>
              <a:t>Ambiente Multithread</a:t>
            </a: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>
                <a:ea typeface="+mn-lt"/>
                <a:cs typeface="+mn-lt"/>
              </a:rPr>
              <a:t>Um único processo pode suportar múltiplos </a:t>
            </a:r>
            <a:r>
              <a:rPr lang="pt-BR" sz="2100" i="1">
                <a:ea typeface="+mn-lt"/>
                <a:cs typeface="+mn-lt"/>
              </a:rPr>
              <a:t>threads</a:t>
            </a:r>
            <a:r>
              <a:rPr lang="pt-BR" sz="2100">
                <a:ea typeface="+mn-lt"/>
                <a:cs typeface="+mn-lt"/>
              </a:rPr>
              <a:t>, cada qual associado a uma parte do código da aplicação;</a:t>
            </a:r>
            <a:endParaRPr lang="en-US" sz="210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>
                <a:ea typeface="+mn-lt"/>
                <a:cs typeface="+mn-lt"/>
              </a:rPr>
              <a:t>Não é necessário haver diversos processos para a implementação da concorrência.</a:t>
            </a:r>
            <a:endParaRPr lang="pt-BR">
              <a:cs typeface="Calibri"/>
            </a:endParaRPr>
          </a:p>
        </p:txBody>
      </p:sp>
      <p:sp>
        <p:nvSpPr>
          <p:cNvPr id="134" name="Oval 4">
            <a:extLst>
              <a:ext uri="{FF2B5EF4-FFF2-40B4-BE49-F238E27FC236}">
                <a16:creationId xmlns:a16="http://schemas.microsoft.com/office/drawing/2014/main" id="{F1B180E6-6083-4D78-B47E-BB2FC01E6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9115" y="2824247"/>
            <a:ext cx="3905657" cy="367246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35" name="Line 5">
            <a:extLst>
              <a:ext uri="{FF2B5EF4-FFF2-40B4-BE49-F238E27FC236}">
                <a16:creationId xmlns:a16="http://schemas.microsoft.com/office/drawing/2014/main" id="{31BB5316-D946-489D-8426-5BE9A17DC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9766" y="2895542"/>
            <a:ext cx="0" cy="126732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36" name="Line 165">
            <a:extLst>
              <a:ext uri="{FF2B5EF4-FFF2-40B4-BE49-F238E27FC236}">
                <a16:creationId xmlns:a16="http://schemas.microsoft.com/office/drawing/2014/main" id="{4B92790C-D865-40BF-8B5D-68349BFD07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4480" y="4162862"/>
            <a:ext cx="3747539" cy="291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37" name="Line 166">
            <a:extLst>
              <a:ext uri="{FF2B5EF4-FFF2-40B4-BE49-F238E27FC236}">
                <a16:creationId xmlns:a16="http://schemas.microsoft.com/office/drawing/2014/main" id="{ABBD3F1A-63A0-4FF9-945F-3D119A137B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88" y="5342881"/>
            <a:ext cx="3599766" cy="582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38" name="Line 167">
            <a:extLst>
              <a:ext uri="{FF2B5EF4-FFF2-40B4-BE49-F238E27FC236}">
                <a16:creationId xmlns:a16="http://schemas.microsoft.com/office/drawing/2014/main" id="{8483E694-C5AA-4F88-808A-47FA0195B5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6388" y="2895542"/>
            <a:ext cx="0" cy="126732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39" name="Text Box 168">
            <a:extLst>
              <a:ext uri="{FF2B5EF4-FFF2-40B4-BE49-F238E27FC236}">
                <a16:creationId xmlns:a16="http://schemas.microsoft.com/office/drawing/2014/main" id="{5D891AF9-DF6F-4A1D-875E-9C0B02864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452" y="3615776"/>
            <a:ext cx="1072837" cy="50052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rgbClr val="FF0000"/>
                </a:solidFill>
              </a:rPr>
              <a:t>Contexto de Hardware</a:t>
            </a:r>
          </a:p>
        </p:txBody>
      </p:sp>
      <p:sp>
        <p:nvSpPr>
          <p:cNvPr id="140" name="Text Box 169">
            <a:extLst>
              <a:ext uri="{FF2B5EF4-FFF2-40B4-BE49-F238E27FC236}">
                <a16:creationId xmlns:a16="http://schemas.microsoft.com/office/drawing/2014/main" id="{0EBF3A47-FE22-46AC-8208-891B0C748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4786" y="3615776"/>
            <a:ext cx="1072837" cy="50052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>
                    <a:lumMod val="75000"/>
                  </a:schemeClr>
                </a:solidFill>
              </a:rPr>
              <a:t>Contexto de Hardware</a:t>
            </a:r>
          </a:p>
        </p:txBody>
      </p:sp>
      <p:sp>
        <p:nvSpPr>
          <p:cNvPr id="141" name="Text Box 170">
            <a:extLst>
              <a:ext uri="{FF2B5EF4-FFF2-40B4-BE49-F238E27FC236}">
                <a16:creationId xmlns:a16="http://schemas.microsoft.com/office/drawing/2014/main" id="{C24C61D6-592C-463F-A93B-0BA701B24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121" y="3615776"/>
            <a:ext cx="1072837" cy="50052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accent6">
                    <a:lumMod val="75000"/>
                  </a:schemeClr>
                </a:solidFill>
              </a:rPr>
              <a:t>Contexto de Hardware</a:t>
            </a:r>
          </a:p>
        </p:txBody>
      </p:sp>
      <p:sp>
        <p:nvSpPr>
          <p:cNvPr id="142" name="Text Box 171">
            <a:extLst>
              <a:ext uri="{FF2B5EF4-FFF2-40B4-BE49-F238E27FC236}">
                <a16:creationId xmlns:a16="http://schemas.microsoft.com/office/drawing/2014/main" id="{103AAE1C-F373-46CA-B963-FF6CD41DF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5607" y="4362918"/>
            <a:ext cx="1374761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b="1" dirty="0"/>
              <a:t>Contexto de Software</a:t>
            </a:r>
          </a:p>
        </p:txBody>
      </p:sp>
      <p:sp>
        <p:nvSpPr>
          <p:cNvPr id="143" name="Text Box 173">
            <a:extLst>
              <a:ext uri="{FF2B5EF4-FFF2-40B4-BE49-F238E27FC236}">
                <a16:creationId xmlns:a16="http://schemas.microsoft.com/office/drawing/2014/main" id="{6D60FD71-F231-4F30-8B75-D7DE23673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6828" y="5415632"/>
            <a:ext cx="818666" cy="30118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b="1" dirty="0"/>
              <a:t>Thread 1</a:t>
            </a:r>
          </a:p>
        </p:txBody>
      </p:sp>
      <p:sp>
        <p:nvSpPr>
          <p:cNvPr id="144" name="Text Box 174">
            <a:extLst>
              <a:ext uri="{FF2B5EF4-FFF2-40B4-BE49-F238E27FC236}">
                <a16:creationId xmlns:a16="http://schemas.microsoft.com/office/drawing/2014/main" id="{E7A9DC0B-F4CE-433B-BE95-EDE1DB341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0293" y="5415632"/>
            <a:ext cx="818666" cy="30118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b="1" dirty="0"/>
              <a:t>Thread 2</a:t>
            </a:r>
          </a:p>
        </p:txBody>
      </p:sp>
      <p:sp>
        <p:nvSpPr>
          <p:cNvPr id="145" name="Text Box 175">
            <a:extLst>
              <a:ext uri="{FF2B5EF4-FFF2-40B4-BE49-F238E27FC236}">
                <a16:creationId xmlns:a16="http://schemas.microsoft.com/office/drawing/2014/main" id="{B16B3B0F-4555-4E1D-A001-08C9339AC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425" y="5415632"/>
            <a:ext cx="818666" cy="30118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200" b="1" dirty="0"/>
              <a:t>Thread 3</a:t>
            </a:r>
          </a:p>
        </p:txBody>
      </p:sp>
      <p:sp>
        <p:nvSpPr>
          <p:cNvPr id="146" name="Text Box 178">
            <a:extLst>
              <a:ext uri="{FF2B5EF4-FFF2-40B4-BE49-F238E27FC236}">
                <a16:creationId xmlns:a16="http://schemas.microsoft.com/office/drawing/2014/main" id="{7038D0BA-4884-4572-9B12-74BCE6675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7174" y="5847772"/>
            <a:ext cx="1892980" cy="50052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/>
              <a:t>Espaço de Endereçamento</a:t>
            </a:r>
          </a:p>
        </p:txBody>
      </p:sp>
      <p:sp>
        <p:nvSpPr>
          <p:cNvPr id="147" name="Text Box 171">
            <a:extLst>
              <a:ext uri="{FF2B5EF4-FFF2-40B4-BE49-F238E27FC236}">
                <a16:creationId xmlns:a16="http://schemas.microsoft.com/office/drawing/2014/main" id="{DC39E4BF-D1D5-42A1-9315-ED6E3DEAC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1932" y="2520148"/>
            <a:ext cx="1072837" cy="3390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b="1" dirty="0">
                <a:latin typeface="Calibri"/>
                <a:cs typeface="Calibri"/>
              </a:rPr>
              <a:t>Processo</a:t>
            </a:r>
          </a:p>
        </p:txBody>
      </p:sp>
      <p:grpSp>
        <p:nvGrpSpPr>
          <p:cNvPr id="149" name="Group 8">
            <a:extLst>
              <a:ext uri="{FF2B5EF4-FFF2-40B4-BE49-F238E27FC236}">
                <a16:creationId xmlns:a16="http://schemas.microsoft.com/office/drawing/2014/main" id="{3CFDF156-C0C8-48C3-8535-02167C44FF40}"/>
              </a:ext>
            </a:extLst>
          </p:cNvPr>
          <p:cNvGrpSpPr>
            <a:grpSpLocks/>
          </p:cNvGrpSpPr>
          <p:nvPr/>
        </p:nvGrpSpPr>
        <p:grpSpPr bwMode="auto">
          <a:xfrm>
            <a:off x="4581403" y="4320351"/>
            <a:ext cx="527552" cy="873010"/>
            <a:chOff x="5142120" y="4449747"/>
            <a:chExt cx="499" cy="635"/>
          </a:xfrm>
        </p:grpSpPr>
        <p:sp>
          <p:nvSpPr>
            <p:cNvPr id="186" name="Rectangle 9">
              <a:extLst>
                <a:ext uri="{FF2B5EF4-FFF2-40B4-BE49-F238E27FC236}">
                  <a16:creationId xmlns:a16="http://schemas.microsoft.com/office/drawing/2014/main" id="{ECE11187-30EA-49EB-926F-9195236B2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2120" y="4449986"/>
              <a:ext cx="499" cy="291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87" name="Rectangle 10">
              <a:extLst>
                <a:ext uri="{FF2B5EF4-FFF2-40B4-BE49-F238E27FC236}">
                  <a16:creationId xmlns:a16="http://schemas.microsoft.com/office/drawing/2014/main" id="{F05E0856-C7B7-4AF0-858B-6A0E332ED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2166" y="4449918"/>
              <a:ext cx="408" cy="291"/>
            </a:xfrm>
            <a:prstGeom prst="rect">
              <a:avLst/>
            </a:prstGeom>
            <a:solidFill>
              <a:srgbClr val="99FF99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88" name="Line 11">
              <a:extLst>
                <a:ext uri="{FF2B5EF4-FFF2-40B4-BE49-F238E27FC236}">
                  <a16:creationId xmlns:a16="http://schemas.microsoft.com/office/drawing/2014/main" id="{142F2634-8F54-4BB0-AF40-156776C9D6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211" y="4449792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89" name="Line 12">
              <a:extLst>
                <a:ext uri="{FF2B5EF4-FFF2-40B4-BE49-F238E27FC236}">
                  <a16:creationId xmlns:a16="http://schemas.microsoft.com/office/drawing/2014/main" id="{BA67B39F-0959-4D3C-882B-492C537BA9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211" y="4449837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0" name="Line 13">
              <a:extLst>
                <a:ext uri="{FF2B5EF4-FFF2-40B4-BE49-F238E27FC236}">
                  <a16:creationId xmlns:a16="http://schemas.microsoft.com/office/drawing/2014/main" id="{4473C618-BDAC-4B13-9316-626809DC8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211" y="4449883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1" name="Line 14">
              <a:extLst>
                <a:ext uri="{FF2B5EF4-FFF2-40B4-BE49-F238E27FC236}">
                  <a16:creationId xmlns:a16="http://schemas.microsoft.com/office/drawing/2014/main" id="{6879C5DF-1D71-4135-91C2-1596D1E77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211" y="4449928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2" name="Line 15">
              <a:extLst>
                <a:ext uri="{FF2B5EF4-FFF2-40B4-BE49-F238E27FC236}">
                  <a16:creationId xmlns:a16="http://schemas.microsoft.com/office/drawing/2014/main" id="{CE72AF2F-9AAF-4A27-9C1B-AEEE7BD73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211" y="4449973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3" name="Line 16">
              <a:extLst>
                <a:ext uri="{FF2B5EF4-FFF2-40B4-BE49-F238E27FC236}">
                  <a16:creationId xmlns:a16="http://schemas.microsoft.com/office/drawing/2014/main" id="{1D862598-EA03-4707-BD56-90A82C35C5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211" y="4450019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4" name="Line 17">
              <a:extLst>
                <a:ext uri="{FF2B5EF4-FFF2-40B4-BE49-F238E27FC236}">
                  <a16:creationId xmlns:a16="http://schemas.microsoft.com/office/drawing/2014/main" id="{605F25D8-6363-4F3A-8601-2B6C29E06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211" y="4450064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5" name="Line 18">
              <a:extLst>
                <a:ext uri="{FF2B5EF4-FFF2-40B4-BE49-F238E27FC236}">
                  <a16:creationId xmlns:a16="http://schemas.microsoft.com/office/drawing/2014/main" id="{7DA03CE2-035B-4366-9E32-671B36858F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211" y="4450109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6" name="Line 19">
              <a:extLst>
                <a:ext uri="{FF2B5EF4-FFF2-40B4-BE49-F238E27FC236}">
                  <a16:creationId xmlns:a16="http://schemas.microsoft.com/office/drawing/2014/main" id="{7DFDBCC5-71DC-4DA5-BE56-10BD687597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211" y="4450155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7" name="Line 20">
              <a:extLst>
                <a:ext uri="{FF2B5EF4-FFF2-40B4-BE49-F238E27FC236}">
                  <a16:creationId xmlns:a16="http://schemas.microsoft.com/office/drawing/2014/main" id="{26A97477-2801-4B05-9DFC-A624F586A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211" y="4450200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8" name="Line 21">
              <a:extLst>
                <a:ext uri="{FF2B5EF4-FFF2-40B4-BE49-F238E27FC236}">
                  <a16:creationId xmlns:a16="http://schemas.microsoft.com/office/drawing/2014/main" id="{87C076FD-8340-4933-9617-DB4B2EB541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211" y="4450246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9" name="Line 22">
              <a:extLst>
                <a:ext uri="{FF2B5EF4-FFF2-40B4-BE49-F238E27FC236}">
                  <a16:creationId xmlns:a16="http://schemas.microsoft.com/office/drawing/2014/main" id="{5C72C76B-B835-4C1E-8E2B-4F34CA57F9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211" y="4450291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00" name="Line 23">
              <a:extLst>
                <a:ext uri="{FF2B5EF4-FFF2-40B4-BE49-F238E27FC236}">
                  <a16:creationId xmlns:a16="http://schemas.microsoft.com/office/drawing/2014/main" id="{7295243A-64BA-4F70-83EF-337A9A80D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211" y="4450336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01" name="Line 24">
              <a:extLst>
                <a:ext uri="{FF2B5EF4-FFF2-40B4-BE49-F238E27FC236}">
                  <a16:creationId xmlns:a16="http://schemas.microsoft.com/office/drawing/2014/main" id="{5106C83F-1E34-4DAF-B9BA-2AF2F94AD0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211" y="4450382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02" name="Line 25">
              <a:extLst>
                <a:ext uri="{FF2B5EF4-FFF2-40B4-BE49-F238E27FC236}">
                  <a16:creationId xmlns:a16="http://schemas.microsoft.com/office/drawing/2014/main" id="{A3E53A4E-121E-4AB2-BD8F-5A78A26A5E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211" y="4449747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grpSp>
        <p:nvGrpSpPr>
          <p:cNvPr id="150" name="Group 127">
            <a:extLst>
              <a:ext uri="{FF2B5EF4-FFF2-40B4-BE49-F238E27FC236}">
                <a16:creationId xmlns:a16="http://schemas.microsoft.com/office/drawing/2014/main" id="{3E606862-7571-4200-B8C9-5773C538BCB9}"/>
              </a:ext>
            </a:extLst>
          </p:cNvPr>
          <p:cNvGrpSpPr>
            <a:grpSpLocks/>
          </p:cNvGrpSpPr>
          <p:nvPr/>
        </p:nvGrpSpPr>
        <p:grpSpPr bwMode="auto">
          <a:xfrm>
            <a:off x="5852257" y="4320351"/>
            <a:ext cx="527552" cy="873010"/>
            <a:chOff x="6412974" y="4449747"/>
            <a:chExt cx="499" cy="635"/>
          </a:xfrm>
        </p:grpSpPr>
        <p:sp>
          <p:nvSpPr>
            <p:cNvPr id="169" name="Rectangle 128">
              <a:extLst>
                <a:ext uri="{FF2B5EF4-FFF2-40B4-BE49-F238E27FC236}">
                  <a16:creationId xmlns:a16="http://schemas.microsoft.com/office/drawing/2014/main" id="{FA4EF40C-E217-4F47-8B00-A943FAEC0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2974" y="4449986"/>
              <a:ext cx="499" cy="291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70" name="Rectangle 129">
              <a:extLst>
                <a:ext uri="{FF2B5EF4-FFF2-40B4-BE49-F238E27FC236}">
                  <a16:creationId xmlns:a16="http://schemas.microsoft.com/office/drawing/2014/main" id="{31EEA4D5-FEAD-41E7-B53D-F029AFB26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3020" y="4449918"/>
              <a:ext cx="408" cy="291"/>
            </a:xfrm>
            <a:prstGeom prst="rect">
              <a:avLst/>
            </a:prstGeom>
            <a:solidFill>
              <a:srgbClr val="99FF99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71" name="Line 130">
              <a:extLst>
                <a:ext uri="{FF2B5EF4-FFF2-40B4-BE49-F238E27FC236}">
                  <a16:creationId xmlns:a16="http://schemas.microsoft.com/office/drawing/2014/main" id="{EA2C6FA8-7165-4DEE-86E9-C4BD64065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3065" y="4449792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72" name="Line 131">
              <a:extLst>
                <a:ext uri="{FF2B5EF4-FFF2-40B4-BE49-F238E27FC236}">
                  <a16:creationId xmlns:a16="http://schemas.microsoft.com/office/drawing/2014/main" id="{2B3A1574-60BD-47EC-9DEF-BCA385537F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3065" y="4449837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73" name="Line 132">
              <a:extLst>
                <a:ext uri="{FF2B5EF4-FFF2-40B4-BE49-F238E27FC236}">
                  <a16:creationId xmlns:a16="http://schemas.microsoft.com/office/drawing/2014/main" id="{2486EF28-EAA3-48A7-8AA9-91A0B0B4B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3065" y="4449883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74" name="Line 133">
              <a:extLst>
                <a:ext uri="{FF2B5EF4-FFF2-40B4-BE49-F238E27FC236}">
                  <a16:creationId xmlns:a16="http://schemas.microsoft.com/office/drawing/2014/main" id="{1CD6C72E-C4E9-4085-8B6D-634BCB0D5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3065" y="4449928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75" name="Line 134">
              <a:extLst>
                <a:ext uri="{FF2B5EF4-FFF2-40B4-BE49-F238E27FC236}">
                  <a16:creationId xmlns:a16="http://schemas.microsoft.com/office/drawing/2014/main" id="{0BAC1356-436D-4A96-BD42-478BCE9DB6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3065" y="4449973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76" name="Line 135">
              <a:extLst>
                <a:ext uri="{FF2B5EF4-FFF2-40B4-BE49-F238E27FC236}">
                  <a16:creationId xmlns:a16="http://schemas.microsoft.com/office/drawing/2014/main" id="{D0638C37-A5C9-44EC-A075-57CF4168D3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3065" y="4450019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77" name="Line 136">
              <a:extLst>
                <a:ext uri="{FF2B5EF4-FFF2-40B4-BE49-F238E27FC236}">
                  <a16:creationId xmlns:a16="http://schemas.microsoft.com/office/drawing/2014/main" id="{0F8070BC-3676-4E9B-99AE-D7FDB75E8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3065" y="4450064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78" name="Line 137">
              <a:extLst>
                <a:ext uri="{FF2B5EF4-FFF2-40B4-BE49-F238E27FC236}">
                  <a16:creationId xmlns:a16="http://schemas.microsoft.com/office/drawing/2014/main" id="{B183D41F-EBC8-414E-A44B-8852CC0273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3065" y="4450109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79" name="Line 138">
              <a:extLst>
                <a:ext uri="{FF2B5EF4-FFF2-40B4-BE49-F238E27FC236}">
                  <a16:creationId xmlns:a16="http://schemas.microsoft.com/office/drawing/2014/main" id="{65E6EACC-13C6-45BA-9DA6-E353EE1123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3065" y="4450155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80" name="Line 139">
              <a:extLst>
                <a:ext uri="{FF2B5EF4-FFF2-40B4-BE49-F238E27FC236}">
                  <a16:creationId xmlns:a16="http://schemas.microsoft.com/office/drawing/2014/main" id="{0872340D-7A82-4C49-ABA4-979988D7C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3065" y="4450200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81" name="Line 140">
              <a:extLst>
                <a:ext uri="{FF2B5EF4-FFF2-40B4-BE49-F238E27FC236}">
                  <a16:creationId xmlns:a16="http://schemas.microsoft.com/office/drawing/2014/main" id="{D3F4B116-704E-42BA-889F-06CACF230C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3065" y="4450246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82" name="Line 141">
              <a:extLst>
                <a:ext uri="{FF2B5EF4-FFF2-40B4-BE49-F238E27FC236}">
                  <a16:creationId xmlns:a16="http://schemas.microsoft.com/office/drawing/2014/main" id="{FE6E9BA8-85F1-4AC3-A87E-D77D3E525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3065" y="4450291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83" name="Line 142">
              <a:extLst>
                <a:ext uri="{FF2B5EF4-FFF2-40B4-BE49-F238E27FC236}">
                  <a16:creationId xmlns:a16="http://schemas.microsoft.com/office/drawing/2014/main" id="{44EBAA9E-763B-4E1F-87D6-D1EB022E95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3065" y="4450336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84" name="Line 143">
              <a:extLst>
                <a:ext uri="{FF2B5EF4-FFF2-40B4-BE49-F238E27FC236}">
                  <a16:creationId xmlns:a16="http://schemas.microsoft.com/office/drawing/2014/main" id="{07B1BFCC-1FB6-4744-A901-FC2E0D086A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3065" y="4450382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85" name="Line 144">
              <a:extLst>
                <a:ext uri="{FF2B5EF4-FFF2-40B4-BE49-F238E27FC236}">
                  <a16:creationId xmlns:a16="http://schemas.microsoft.com/office/drawing/2014/main" id="{564D1CF2-F353-4F68-B68D-D2144A851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3065" y="4449747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grpSp>
        <p:nvGrpSpPr>
          <p:cNvPr id="151" name="Group 145">
            <a:extLst>
              <a:ext uri="{FF2B5EF4-FFF2-40B4-BE49-F238E27FC236}">
                <a16:creationId xmlns:a16="http://schemas.microsoft.com/office/drawing/2014/main" id="{48470122-84C6-46EC-A934-DABCFA53A737}"/>
              </a:ext>
            </a:extLst>
          </p:cNvPr>
          <p:cNvGrpSpPr>
            <a:grpSpLocks/>
          </p:cNvGrpSpPr>
          <p:nvPr/>
        </p:nvGrpSpPr>
        <p:grpSpPr bwMode="auto">
          <a:xfrm>
            <a:off x="7114243" y="4320351"/>
            <a:ext cx="529030" cy="873010"/>
            <a:chOff x="7674960" y="4449747"/>
            <a:chExt cx="501" cy="635"/>
          </a:xfrm>
        </p:grpSpPr>
        <p:sp>
          <p:nvSpPr>
            <p:cNvPr id="152" name="Rectangle 146">
              <a:extLst>
                <a:ext uri="{FF2B5EF4-FFF2-40B4-BE49-F238E27FC236}">
                  <a16:creationId xmlns:a16="http://schemas.microsoft.com/office/drawing/2014/main" id="{2BA7C446-BE80-4C28-B440-A0A52A6B2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4960" y="4449986"/>
              <a:ext cx="501" cy="291"/>
            </a:xfrm>
            <a:prstGeom prst="rect">
              <a:avLst/>
            </a:prstGeom>
            <a:solidFill>
              <a:srgbClr val="66FFFF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53" name="Rectangle 147">
              <a:extLst>
                <a:ext uri="{FF2B5EF4-FFF2-40B4-BE49-F238E27FC236}">
                  <a16:creationId xmlns:a16="http://schemas.microsoft.com/office/drawing/2014/main" id="{57BD3C96-22FD-4C65-AB6C-66C59A7A7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5010" y="4449918"/>
              <a:ext cx="409" cy="291"/>
            </a:xfrm>
            <a:prstGeom prst="rect">
              <a:avLst/>
            </a:prstGeom>
            <a:solidFill>
              <a:srgbClr val="99FF99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54" name="Line 148">
              <a:extLst>
                <a:ext uri="{FF2B5EF4-FFF2-40B4-BE49-F238E27FC236}">
                  <a16:creationId xmlns:a16="http://schemas.microsoft.com/office/drawing/2014/main" id="{7318DE62-914A-4B40-8C44-413BA3539E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5067" y="4449792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55" name="Line 149">
              <a:extLst>
                <a:ext uri="{FF2B5EF4-FFF2-40B4-BE49-F238E27FC236}">
                  <a16:creationId xmlns:a16="http://schemas.microsoft.com/office/drawing/2014/main" id="{6BDFC6EC-D21D-4152-A4C8-26C8531BF5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5067" y="4449837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56" name="Line 150">
              <a:extLst>
                <a:ext uri="{FF2B5EF4-FFF2-40B4-BE49-F238E27FC236}">
                  <a16:creationId xmlns:a16="http://schemas.microsoft.com/office/drawing/2014/main" id="{4D86C52D-B2D0-4E1E-9B85-D6B8F0E85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5067" y="4449883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57" name="Line 151">
              <a:extLst>
                <a:ext uri="{FF2B5EF4-FFF2-40B4-BE49-F238E27FC236}">
                  <a16:creationId xmlns:a16="http://schemas.microsoft.com/office/drawing/2014/main" id="{FC033598-B259-44BB-8A2F-311B9707AD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5067" y="4449928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58" name="Line 152">
              <a:extLst>
                <a:ext uri="{FF2B5EF4-FFF2-40B4-BE49-F238E27FC236}">
                  <a16:creationId xmlns:a16="http://schemas.microsoft.com/office/drawing/2014/main" id="{8733D89A-951C-4B8A-A385-E6229450B6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5067" y="4449973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59" name="Line 153">
              <a:extLst>
                <a:ext uri="{FF2B5EF4-FFF2-40B4-BE49-F238E27FC236}">
                  <a16:creationId xmlns:a16="http://schemas.microsoft.com/office/drawing/2014/main" id="{0F757419-BAB3-4227-87C7-1C1ABD632D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5067" y="4450019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60" name="Line 154">
              <a:extLst>
                <a:ext uri="{FF2B5EF4-FFF2-40B4-BE49-F238E27FC236}">
                  <a16:creationId xmlns:a16="http://schemas.microsoft.com/office/drawing/2014/main" id="{96187CFD-E846-427A-BB74-8B59FF2A1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5067" y="4450064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61" name="Line 155">
              <a:extLst>
                <a:ext uri="{FF2B5EF4-FFF2-40B4-BE49-F238E27FC236}">
                  <a16:creationId xmlns:a16="http://schemas.microsoft.com/office/drawing/2014/main" id="{ECE25A81-5340-45AA-BB10-89B56BCCE6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5067" y="4450109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62" name="Line 156">
              <a:extLst>
                <a:ext uri="{FF2B5EF4-FFF2-40B4-BE49-F238E27FC236}">
                  <a16:creationId xmlns:a16="http://schemas.microsoft.com/office/drawing/2014/main" id="{DD8232BE-A1C4-4291-A054-B6CBBDE9D1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5067" y="4450155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63" name="Line 157">
              <a:extLst>
                <a:ext uri="{FF2B5EF4-FFF2-40B4-BE49-F238E27FC236}">
                  <a16:creationId xmlns:a16="http://schemas.microsoft.com/office/drawing/2014/main" id="{68802DFC-0F5C-4F07-9EA8-9054947ED9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5067" y="4450200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64" name="Line 158">
              <a:extLst>
                <a:ext uri="{FF2B5EF4-FFF2-40B4-BE49-F238E27FC236}">
                  <a16:creationId xmlns:a16="http://schemas.microsoft.com/office/drawing/2014/main" id="{5832B036-B8B9-47B2-8A83-08885D1A23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5067" y="4450246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65" name="Line 159">
              <a:extLst>
                <a:ext uri="{FF2B5EF4-FFF2-40B4-BE49-F238E27FC236}">
                  <a16:creationId xmlns:a16="http://schemas.microsoft.com/office/drawing/2014/main" id="{839278CE-52FE-4906-B002-AAB01B5241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5067" y="4450291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66" name="Line 160">
              <a:extLst>
                <a:ext uri="{FF2B5EF4-FFF2-40B4-BE49-F238E27FC236}">
                  <a16:creationId xmlns:a16="http://schemas.microsoft.com/office/drawing/2014/main" id="{071020DB-2688-4389-8DB4-98867293C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5067" y="4450336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67" name="Line 161">
              <a:extLst>
                <a:ext uri="{FF2B5EF4-FFF2-40B4-BE49-F238E27FC236}">
                  <a16:creationId xmlns:a16="http://schemas.microsoft.com/office/drawing/2014/main" id="{C0F598F4-1B67-4FA0-90B7-62F9B26C5B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5072" y="4450382"/>
              <a:ext cx="31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68" name="Line 162">
              <a:extLst>
                <a:ext uri="{FF2B5EF4-FFF2-40B4-BE49-F238E27FC236}">
                  <a16:creationId xmlns:a16="http://schemas.microsoft.com/office/drawing/2014/main" id="{D69B25D3-EF18-437E-B2B9-147F0871EA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5067" y="4449747"/>
              <a:ext cx="318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038522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/>
          <p:cNvGrpSpPr/>
          <p:nvPr/>
        </p:nvGrpSpPr>
        <p:grpSpPr>
          <a:xfrm>
            <a:off x="61584" y="1253935"/>
            <a:ext cx="5761489" cy="5599806"/>
            <a:chOff x="3071664" y="678841"/>
            <a:chExt cx="6264696" cy="6131768"/>
          </a:xfrm>
        </p:grpSpPr>
        <p:pic>
          <p:nvPicPr>
            <p:cNvPr id="2" name="Imagem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71664" y="730508"/>
              <a:ext cx="6264696" cy="6080101"/>
            </a:xfrm>
            <a:prstGeom prst="rect">
              <a:avLst/>
            </a:prstGeom>
          </p:spPr>
        </p:pic>
        <p:sp>
          <p:nvSpPr>
            <p:cNvPr id="142" name="Text Box 171"/>
            <p:cNvSpPr txBox="1">
              <a:spLocks noChangeArrowheads="1"/>
            </p:cNvSpPr>
            <p:nvPr/>
          </p:nvSpPr>
          <p:spPr bwMode="auto">
            <a:xfrm>
              <a:off x="5639883" y="678841"/>
              <a:ext cx="1072837" cy="339019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pt-BR" sz="1600" b="1" dirty="0">
                  <a:latin typeface="+mj-lt"/>
                </a:rPr>
                <a:t>Processo</a:t>
              </a:r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711F0052-126B-49A2-AF15-3F08F2DA24B4}"/>
              </a:ext>
            </a:extLst>
          </p:cNvPr>
          <p:cNvSpPr txBox="1"/>
          <p:nvPr/>
        </p:nvSpPr>
        <p:spPr>
          <a:xfrm>
            <a:off x="6406552" y="1187571"/>
            <a:ext cx="5043576" cy="3970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ts val="750"/>
              </a:spcBef>
            </a:pPr>
            <a:r>
              <a:rPr lang="pt-BR" sz="2200" b="1" i="1">
                <a:ea typeface="+mn-lt"/>
                <a:cs typeface="+mn-lt"/>
              </a:rPr>
              <a:t>Ambiente Multithread</a:t>
            </a:r>
            <a:endParaRPr lang="pt-BR" sz="2200" b="1" i="1" dirty="0">
              <a:ea typeface="+mn-lt"/>
              <a:cs typeface="+mn-lt"/>
            </a:endParaRPr>
          </a:p>
        </p:txBody>
      </p:sp>
      <p:pic>
        <p:nvPicPr>
          <p:cNvPr id="8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A26E6F6F-D7EA-40EB-8CEB-B5396A398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B310B968-6729-460C-AFD1-77F89FCE28DF}"/>
              </a:ext>
            </a:extLst>
          </p:cNvPr>
          <p:cNvSpPr txBox="1"/>
          <p:nvPr/>
        </p:nvSpPr>
        <p:spPr>
          <a:xfrm>
            <a:off x="2610930" y="253044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Processos Independentes, Subprocessos e Threads</a:t>
            </a:r>
          </a:p>
          <a:p>
            <a:pPr algn="ctr"/>
            <a:r>
              <a:rPr lang="pt-BR" sz="2400" i="1" dirty="0">
                <a:ea typeface="+mn-lt"/>
                <a:cs typeface="+mn-lt"/>
              </a:rPr>
              <a:t>Threads</a:t>
            </a:r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D314D40-EC19-451D-B710-7D16038D5F19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3277BA4-F6F8-4D82-9B11-2DA4A6402126}"/>
              </a:ext>
            </a:extLst>
          </p:cNvPr>
          <p:cNvSpPr txBox="1"/>
          <p:nvPr/>
        </p:nvSpPr>
        <p:spPr>
          <a:xfrm>
            <a:off x="5831456" y="2021457"/>
            <a:ext cx="6208143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1">
                <a:ea typeface="+mn-lt"/>
                <a:cs typeface="+mn-lt"/>
              </a:rPr>
              <a:t>Exemplo de Programa Principal que realiza a chamada de duas sub-rotinas assíncronas (Sub_2 e Sub_3)</a:t>
            </a:r>
            <a:endParaRPr lang="pt-BR" sz="2000" dirty="0">
              <a:ea typeface="+mn-lt"/>
              <a:cs typeface="+mn-lt"/>
            </a:endParaRPr>
          </a:p>
          <a:p>
            <a:endParaRPr lang="pt-BR" sz="2000" dirty="0">
              <a:ea typeface="+mn-lt"/>
              <a:cs typeface="+mn-lt"/>
            </a:endParaRPr>
          </a:p>
          <a:p>
            <a:pPr>
              <a:buFont typeface="Arial" panose="020B0604020202020204" pitchFamily="34" charset="0"/>
            </a:pPr>
            <a:endParaRPr lang="pt-BR" sz="2000" dirty="0">
              <a:latin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>
                <a:latin typeface="Calibri"/>
                <a:cs typeface="Calibri"/>
              </a:rPr>
              <a:t>Inicialmente, o processo é criado apenas com o  Thread_1 para execução do Programa Principal;</a:t>
            </a:r>
            <a:r>
              <a:rPr lang="en-US" sz="2000">
                <a:latin typeface="Calibri"/>
                <a:cs typeface="Calibri"/>
              </a:rPr>
              <a:t>​</a:t>
            </a:r>
            <a:endParaRPr lang="pt-BR" sz="2000" dirty="0">
              <a:latin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>
              <a:latin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>
                <a:latin typeface="Calibri"/>
                <a:cs typeface="Calibri"/>
              </a:rPr>
              <a:t>Quando o Programa Principal chama as sub-rotinas Sub_2 e Sub_3, são criados os Thread_2 e Thread_3, respectivamente, e executados independentemente do programa principal;</a:t>
            </a:r>
            <a:r>
              <a:rPr lang="en-US" sz="2000" dirty="0">
                <a:latin typeface="Calibri"/>
                <a:cs typeface="Calibri"/>
              </a:rPr>
              <a:t>​</a:t>
            </a:r>
            <a:endParaRPr lang="en-US" dirty="0">
              <a:cs typeface="Calibri"/>
            </a:endParaRPr>
          </a:p>
          <a:p>
            <a:endParaRPr lang="en-US" sz="2000" dirty="0">
              <a:latin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>
                <a:latin typeface="Calibri"/>
                <a:cs typeface="Calibri"/>
              </a:rPr>
              <a:t>Neste processo, as três threads são executados concor-rentemente. </a:t>
            </a:r>
            <a:r>
              <a:rPr lang="en-US" sz="2000" dirty="0">
                <a:latin typeface="Calibri"/>
                <a:cs typeface="Calibri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1972091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/>
          <p:cNvGrpSpPr/>
          <p:nvPr/>
        </p:nvGrpSpPr>
        <p:grpSpPr>
          <a:xfrm>
            <a:off x="421746" y="1773485"/>
            <a:ext cx="10907798" cy="3312368"/>
            <a:chOff x="1235418" y="2060848"/>
            <a:chExt cx="8485862" cy="2601580"/>
          </a:xfrm>
        </p:grpSpPr>
        <p:graphicFrame>
          <p:nvGraphicFramePr>
            <p:cNvPr id="142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447693"/>
                </p:ext>
              </p:extLst>
            </p:nvPr>
          </p:nvGraphicFramePr>
          <p:xfrm>
            <a:off x="1415480" y="2060848"/>
            <a:ext cx="8305800" cy="2517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10" name="CorelDRAW" r:id="rId3" imgW="5207400" imgH="1577520" progId="CorelDRAW.Graphic.10">
                    <p:embed/>
                  </p:oleObj>
                </mc:Choice>
                <mc:Fallback>
                  <p:oleObj name="CorelDRAW" r:id="rId3" imgW="5207400" imgH="1577520" progId="CorelDRAW.Graphic.10">
                    <p:embed/>
                    <p:pic>
                      <p:nvPicPr>
                        <p:cNvPr id="142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5480" y="2060848"/>
                          <a:ext cx="8305800" cy="2517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CaixaDeTexto 2"/>
            <p:cNvSpPr txBox="1"/>
            <p:nvPr/>
          </p:nvSpPr>
          <p:spPr>
            <a:xfrm>
              <a:off x="1270789" y="2564904"/>
              <a:ext cx="50642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+mj-lt"/>
                </a:rPr>
                <a:t>E/S</a:t>
              </a:r>
            </a:p>
          </p:txBody>
        </p:sp>
        <p:sp>
          <p:nvSpPr>
            <p:cNvPr id="143" name="CaixaDeTexto 142"/>
            <p:cNvSpPr txBox="1"/>
            <p:nvPr/>
          </p:nvSpPr>
          <p:spPr>
            <a:xfrm>
              <a:off x="1235418" y="3135069"/>
              <a:ext cx="56271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+mj-lt"/>
                </a:rPr>
                <a:t>CPU</a:t>
              </a:r>
            </a:p>
          </p:txBody>
        </p:sp>
        <p:sp>
          <p:nvSpPr>
            <p:cNvPr id="144" name="CaixaDeTexto 143"/>
            <p:cNvSpPr txBox="1"/>
            <p:nvPr/>
          </p:nvSpPr>
          <p:spPr>
            <a:xfrm>
              <a:off x="5658619" y="2536329"/>
              <a:ext cx="50642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+mj-lt"/>
                </a:rPr>
                <a:t>E/S</a:t>
              </a:r>
            </a:p>
          </p:txBody>
        </p:sp>
        <p:sp>
          <p:nvSpPr>
            <p:cNvPr id="145" name="CaixaDeTexto 144"/>
            <p:cNvSpPr txBox="1"/>
            <p:nvPr/>
          </p:nvSpPr>
          <p:spPr>
            <a:xfrm>
              <a:off x="5623248" y="3106494"/>
              <a:ext cx="56271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+mj-lt"/>
                </a:rPr>
                <a:t>CPU</a:t>
              </a:r>
            </a:p>
          </p:txBody>
        </p:sp>
        <p:sp>
          <p:nvSpPr>
            <p:cNvPr id="146" name="CaixaDeTexto 145"/>
            <p:cNvSpPr txBox="1"/>
            <p:nvPr/>
          </p:nvSpPr>
          <p:spPr>
            <a:xfrm>
              <a:off x="2783632" y="4293096"/>
              <a:ext cx="154895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+mj-lt"/>
                </a:rPr>
                <a:t>(a) CPU-</a:t>
              </a:r>
              <a:r>
                <a:rPr lang="pt-BR" dirty="0" err="1">
                  <a:latin typeface="+mj-lt"/>
                </a:rPr>
                <a:t>bound</a:t>
              </a:r>
              <a:endParaRPr lang="pt-BR" dirty="0">
                <a:latin typeface="+mj-lt"/>
              </a:endParaRPr>
            </a:p>
          </p:txBody>
        </p:sp>
        <p:sp>
          <p:nvSpPr>
            <p:cNvPr id="147" name="CaixaDeTexto 146"/>
            <p:cNvSpPr txBox="1"/>
            <p:nvPr/>
          </p:nvSpPr>
          <p:spPr>
            <a:xfrm>
              <a:off x="7248128" y="4271367"/>
              <a:ext cx="145206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+mj-lt"/>
                </a:rPr>
                <a:t>(b) I/O-</a:t>
              </a:r>
              <a:r>
                <a:rPr lang="pt-BR" dirty="0" err="1">
                  <a:latin typeface="+mj-lt"/>
                </a:rPr>
                <a:t>bound</a:t>
              </a:r>
              <a:endParaRPr lang="pt-BR" dirty="0">
                <a:latin typeface="+mj-lt"/>
              </a:endParaRPr>
            </a:p>
          </p:txBody>
        </p:sp>
      </p:grpSp>
      <p:pic>
        <p:nvPicPr>
          <p:cNvPr id="2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07A77864-6BFC-4CE4-9B17-C38EA25C34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0F27DA2-6CF0-4641-8731-9470A650E440}"/>
              </a:ext>
            </a:extLst>
          </p:cNvPr>
          <p:cNvSpPr txBox="1"/>
          <p:nvPr/>
        </p:nvSpPr>
        <p:spPr>
          <a:xfrm>
            <a:off x="2610930" y="253044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Processos Independentes, Subprocessos e Threads</a:t>
            </a:r>
          </a:p>
          <a:p>
            <a:pPr algn="ctr"/>
            <a:r>
              <a:rPr lang="pt-BR" sz="2400">
                <a:ea typeface="+mn-lt"/>
                <a:cs typeface="+mn-lt"/>
              </a:rPr>
              <a:t>Tipos de Processos</a:t>
            </a:r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B45BF3B-D6DC-41C5-9D1B-3B4C63077066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A979F82-BD2D-48D0-9CC7-98E23130F6A0}"/>
              </a:ext>
            </a:extLst>
          </p:cNvPr>
          <p:cNvSpPr txBox="1"/>
          <p:nvPr/>
        </p:nvSpPr>
        <p:spPr>
          <a:xfrm>
            <a:off x="123646" y="4983192"/>
            <a:ext cx="5762445" cy="15542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900">
                <a:cs typeface="Arial"/>
              </a:rPr>
              <a:t>Passa maior parte do tempo no estado de execução ou pronto;</a:t>
            </a:r>
            <a:r>
              <a:rPr lang="en-US" sz="1900">
                <a:cs typeface="Arial"/>
              </a:rPr>
              <a:t>​</a:t>
            </a:r>
            <a:endParaRPr lang="pt-BR" sz="190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900">
                <a:cs typeface="Arial"/>
              </a:rPr>
              <a:t>Realiza poucas operações de leitura e gravação;</a:t>
            </a:r>
            <a:r>
              <a:rPr lang="en-US" sz="1900">
                <a:cs typeface="Arial"/>
              </a:rPr>
              <a:t>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900" b="1">
                <a:cs typeface="Arial"/>
              </a:rPr>
              <a:t>Ex.: </a:t>
            </a:r>
            <a:r>
              <a:rPr lang="pt-BR" sz="1900">
                <a:cs typeface="Arial"/>
              </a:rPr>
              <a:t>Aplicações científicas que efetuam  muitos cálculos.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E9316D3-91F7-4125-B58A-1563B1E4A233}"/>
              </a:ext>
            </a:extLst>
          </p:cNvPr>
          <p:cNvSpPr txBox="1"/>
          <p:nvPr/>
        </p:nvSpPr>
        <p:spPr>
          <a:xfrm>
            <a:off x="6176513" y="5069456"/>
            <a:ext cx="5776822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900">
                <a:cs typeface="Arial"/>
              </a:rPr>
              <a:t>Passa maior parte do tempo no estado de espera;</a:t>
            </a:r>
            <a:r>
              <a:rPr lang="en-US" sz="1900">
                <a:cs typeface="Arial"/>
              </a:rPr>
              <a:t>​</a:t>
            </a:r>
            <a:endParaRPr lang="pt-BR">
              <a:cs typeface="Calibri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900">
                <a:cs typeface="Arial"/>
              </a:rPr>
              <a:t>Realiza muitas operações de E/S;</a:t>
            </a:r>
            <a:r>
              <a:rPr lang="en-US" sz="1900">
                <a:cs typeface="Arial"/>
              </a:rPr>
              <a:t>​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900" b="1">
                <a:cs typeface="Arial"/>
              </a:rPr>
              <a:t>Ex.:</a:t>
            </a:r>
            <a:r>
              <a:rPr lang="pt-BR" sz="1900">
                <a:cs typeface="Arial"/>
              </a:rPr>
              <a:t> Programas que precisam da interatividade do usuário.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3563246-0033-4EE4-9010-876CD980B848}"/>
              </a:ext>
            </a:extLst>
          </p:cNvPr>
          <p:cNvSpPr txBox="1"/>
          <p:nvPr/>
        </p:nvSpPr>
        <p:spPr>
          <a:xfrm>
            <a:off x="66136" y="1115683"/>
            <a:ext cx="1204535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b="1">
                <a:latin typeface="Calibri"/>
                <a:cs typeface="Calibri"/>
              </a:rPr>
              <a:t>Processos CPU-bound x I/O-bound </a:t>
            </a:r>
            <a:endParaRPr lang="pt-BR" sz="21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364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Comunicação entre Processos</a:t>
            </a:r>
            <a:endParaRPr lang="pt-BR" dirty="0"/>
          </a:p>
          <a:p>
            <a:pPr algn="ctr"/>
            <a:r>
              <a:rPr lang="pt-BR" sz="2400" i="1" dirty="0">
                <a:cs typeface="Calibri"/>
              </a:rPr>
              <a:t>Deadlocks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906439"/>
            <a:ext cx="11987840" cy="5129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</a:t>
            </a:r>
            <a:r>
              <a:rPr lang="pt-BR" sz="2100" b="1" i="1" dirty="0">
                <a:ea typeface="+mn-lt"/>
                <a:cs typeface="+mn-lt"/>
              </a:rPr>
              <a:t>Deadlock</a:t>
            </a:r>
            <a:endParaRPr lang="pt-BR" sz="2100" i="1" dirty="0">
              <a:ea typeface="+mn-lt"/>
              <a:cs typeface="+mn-lt"/>
            </a:endParaRPr>
          </a:p>
          <a:p>
            <a:pPr marL="800100" lvl="1" indent="-342900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Situação onde um processo aguarda indefinidamente por um recurso que nunca estará disponível ou aguarda por um evento que nunca irá ocorrer;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Pode ser representado por ciclos em um diagrama de grafo: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Nós simbolizam processos e recursos;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Aresta que sai do processo X e chega ao recurso Y indica que X solicita Y;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Aresta que sai do recurso Y e chega no processo X indica que Y está alocado a X.</a:t>
            </a:r>
            <a:endParaRPr lang="pt-BR" dirty="0">
              <a:cs typeface="Calibri" panose="020F0502020204030204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algn="just">
              <a:lnSpc>
                <a:spcPct val="90000"/>
              </a:lnSpc>
              <a:spcBef>
                <a:spcPts val="750"/>
              </a:spcBef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en-US" sz="21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8995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784FE28-0C68-4370-B65B-45B7F910490C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Comunicação entre Processos</a:t>
            </a:r>
            <a:endParaRPr lang="pt-BR" dirty="0"/>
          </a:p>
          <a:p>
            <a:pPr algn="ctr"/>
            <a:r>
              <a:rPr lang="pt-BR" sz="2400" i="1" dirty="0">
                <a:cs typeface="Calibri"/>
              </a:rPr>
              <a:t>Deadlocks</a:t>
            </a:r>
          </a:p>
        </p:txBody>
      </p:sp>
      <p:sp>
        <p:nvSpPr>
          <p:cNvPr id="8196" name="Text Box 3"/>
          <p:cNvSpPr txBox="1">
            <a:spLocks noChangeArrowheads="1"/>
          </p:cNvSpPr>
          <p:nvPr/>
        </p:nvSpPr>
        <p:spPr bwMode="auto">
          <a:xfrm rot="16195233">
            <a:off x="-1269700" y="3751233"/>
            <a:ext cx="59525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Arquitetura de Sistemas Operacionais – Machado/Maia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30A8FAA2-78AD-4DFD-A827-5B5671663DFD}"/>
              </a:ext>
            </a:extLst>
          </p:cNvPr>
          <p:cNvGrpSpPr/>
          <p:nvPr/>
        </p:nvGrpSpPr>
        <p:grpSpPr>
          <a:xfrm>
            <a:off x="2515383" y="1661835"/>
            <a:ext cx="7161925" cy="4990729"/>
            <a:chOff x="2414741" y="1776854"/>
            <a:chExt cx="7161925" cy="4990729"/>
          </a:xfrm>
        </p:grpSpPr>
        <p:graphicFrame>
          <p:nvGraphicFramePr>
            <p:cNvPr id="8194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517208"/>
                </p:ext>
              </p:extLst>
            </p:nvPr>
          </p:nvGraphicFramePr>
          <p:xfrm>
            <a:off x="2884395" y="1901606"/>
            <a:ext cx="6324600" cy="4843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70" name="CorelDRAW" r:id="rId4" imgW="3945240" imgH="3020760" progId="CorelDraw.Graphic.10">
                    <p:embed/>
                  </p:oleObj>
                </mc:Choice>
                <mc:Fallback>
                  <p:oleObj name="CorelDRAW" r:id="rId4" imgW="3945240" imgH="3020760" progId="CorelDraw.Graphic.10">
                    <p:embed/>
                    <p:pic>
                      <p:nvPicPr>
                        <p:cNvPr id="8194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4395" y="1901606"/>
                          <a:ext cx="6324600" cy="4843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" name="Group 133"/>
            <p:cNvGrpSpPr>
              <a:grpSpLocks/>
            </p:cNvGrpSpPr>
            <p:nvPr/>
          </p:nvGrpSpPr>
          <p:grpSpPr bwMode="auto">
            <a:xfrm>
              <a:off x="5416739" y="2164238"/>
              <a:ext cx="1188000" cy="1188000"/>
              <a:chOff x="1834" y="1570"/>
              <a:chExt cx="2147" cy="1998"/>
            </a:xfrm>
          </p:grpSpPr>
          <p:sp>
            <p:nvSpPr>
              <p:cNvPr id="12" name="Oval 134"/>
              <p:cNvSpPr>
                <a:spLocks noChangeArrowheads="1"/>
              </p:cNvSpPr>
              <p:nvPr/>
            </p:nvSpPr>
            <p:spPr bwMode="auto">
              <a:xfrm>
                <a:off x="1834" y="1594"/>
                <a:ext cx="2147" cy="19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headEnd/>
                <a:tailEnd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13" name="Line 135"/>
              <p:cNvSpPr>
                <a:spLocks noChangeShapeType="1"/>
              </p:cNvSpPr>
              <p:nvPr/>
            </p:nvSpPr>
            <p:spPr bwMode="auto">
              <a:xfrm>
                <a:off x="2925" y="1570"/>
                <a:ext cx="0" cy="104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14" name="Line 136"/>
              <p:cNvSpPr>
                <a:spLocks noChangeShapeType="1"/>
              </p:cNvSpPr>
              <p:nvPr/>
            </p:nvSpPr>
            <p:spPr bwMode="auto">
              <a:xfrm rot="1800000" flipV="1">
                <a:off x="2854" y="2872"/>
                <a:ext cx="1058" cy="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15" name="Line 137"/>
              <p:cNvSpPr>
                <a:spLocks noChangeShapeType="1"/>
              </p:cNvSpPr>
              <p:nvPr/>
            </p:nvSpPr>
            <p:spPr bwMode="auto">
              <a:xfrm rot="-1800000">
                <a:off x="1940" y="2873"/>
                <a:ext cx="1054" cy="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grpSp>
            <p:nvGrpSpPr>
              <p:cNvPr id="16" name="Group 138"/>
              <p:cNvGrpSpPr>
                <a:grpSpLocks/>
              </p:cNvGrpSpPr>
              <p:nvPr/>
            </p:nvGrpSpPr>
            <p:grpSpPr bwMode="auto">
              <a:xfrm>
                <a:off x="2674" y="2278"/>
                <a:ext cx="499" cy="701"/>
                <a:chOff x="2674" y="2278"/>
                <a:chExt cx="499" cy="701"/>
              </a:xfrm>
            </p:grpSpPr>
            <p:sp>
              <p:nvSpPr>
                <p:cNvPr id="17" name="Rectangle 139"/>
                <p:cNvSpPr>
                  <a:spLocks noChangeArrowheads="1"/>
                </p:cNvSpPr>
                <p:nvPr/>
              </p:nvSpPr>
              <p:spPr bwMode="auto">
                <a:xfrm>
                  <a:off x="2674" y="2347"/>
                  <a:ext cx="499" cy="632"/>
                </a:xfrm>
                <a:prstGeom prst="rect">
                  <a:avLst/>
                </a:prstGeom>
                <a:solidFill>
                  <a:srgbClr val="66FFFF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18" name="Rectangle 140"/>
                <p:cNvSpPr>
                  <a:spLocks noChangeArrowheads="1"/>
                </p:cNvSpPr>
                <p:nvPr/>
              </p:nvSpPr>
              <p:spPr bwMode="auto">
                <a:xfrm>
                  <a:off x="2720" y="2279"/>
                  <a:ext cx="408" cy="633"/>
                </a:xfrm>
                <a:prstGeom prst="rect">
                  <a:avLst/>
                </a:prstGeom>
                <a:solidFill>
                  <a:srgbClr val="99FF99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19" name="Line 141"/>
                <p:cNvSpPr>
                  <a:spLocks noChangeShapeType="1"/>
                </p:cNvSpPr>
                <p:nvPr/>
              </p:nvSpPr>
              <p:spPr bwMode="auto">
                <a:xfrm>
                  <a:off x="2765" y="232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20" name="Line 142"/>
                <p:cNvSpPr>
                  <a:spLocks noChangeShapeType="1"/>
                </p:cNvSpPr>
                <p:nvPr/>
              </p:nvSpPr>
              <p:spPr bwMode="auto">
                <a:xfrm>
                  <a:off x="2765" y="236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21" name="Line 143"/>
                <p:cNvSpPr>
                  <a:spLocks noChangeShapeType="1"/>
                </p:cNvSpPr>
                <p:nvPr/>
              </p:nvSpPr>
              <p:spPr bwMode="auto">
                <a:xfrm>
                  <a:off x="2765" y="241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22" name="Line 144"/>
                <p:cNvSpPr>
                  <a:spLocks noChangeShapeType="1"/>
                </p:cNvSpPr>
                <p:nvPr/>
              </p:nvSpPr>
              <p:spPr bwMode="auto">
                <a:xfrm>
                  <a:off x="2765" y="2459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23" name="Line 145"/>
                <p:cNvSpPr>
                  <a:spLocks noChangeShapeType="1"/>
                </p:cNvSpPr>
                <p:nvPr/>
              </p:nvSpPr>
              <p:spPr bwMode="auto">
                <a:xfrm>
                  <a:off x="2765" y="250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24" name="Line 146"/>
                <p:cNvSpPr>
                  <a:spLocks noChangeShapeType="1"/>
                </p:cNvSpPr>
                <p:nvPr/>
              </p:nvSpPr>
              <p:spPr bwMode="auto">
                <a:xfrm>
                  <a:off x="2765" y="255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25" name="Line 147"/>
                <p:cNvSpPr>
                  <a:spLocks noChangeShapeType="1"/>
                </p:cNvSpPr>
                <p:nvPr/>
              </p:nvSpPr>
              <p:spPr bwMode="auto">
                <a:xfrm>
                  <a:off x="2765" y="2595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26" name="Line 148"/>
                <p:cNvSpPr>
                  <a:spLocks noChangeShapeType="1"/>
                </p:cNvSpPr>
                <p:nvPr/>
              </p:nvSpPr>
              <p:spPr bwMode="auto">
                <a:xfrm>
                  <a:off x="2765" y="264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27" name="Line 149"/>
                <p:cNvSpPr>
                  <a:spLocks noChangeShapeType="1"/>
                </p:cNvSpPr>
                <p:nvPr/>
              </p:nvSpPr>
              <p:spPr bwMode="auto">
                <a:xfrm>
                  <a:off x="2765" y="2686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28" name="Line 150"/>
                <p:cNvSpPr>
                  <a:spLocks noChangeShapeType="1"/>
                </p:cNvSpPr>
                <p:nvPr/>
              </p:nvSpPr>
              <p:spPr bwMode="auto">
                <a:xfrm>
                  <a:off x="2765" y="2731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29" name="Line 151"/>
                <p:cNvSpPr>
                  <a:spLocks noChangeShapeType="1"/>
                </p:cNvSpPr>
                <p:nvPr/>
              </p:nvSpPr>
              <p:spPr bwMode="auto">
                <a:xfrm>
                  <a:off x="2765" y="277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30" name="Line 152"/>
                <p:cNvSpPr>
                  <a:spLocks noChangeShapeType="1"/>
                </p:cNvSpPr>
                <p:nvPr/>
              </p:nvSpPr>
              <p:spPr bwMode="auto">
                <a:xfrm>
                  <a:off x="2765" y="2822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31" name="Line 153"/>
                <p:cNvSpPr>
                  <a:spLocks noChangeShapeType="1"/>
                </p:cNvSpPr>
                <p:nvPr/>
              </p:nvSpPr>
              <p:spPr bwMode="auto">
                <a:xfrm>
                  <a:off x="2765" y="286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32" name="Line 154"/>
                <p:cNvSpPr>
                  <a:spLocks noChangeShapeType="1"/>
                </p:cNvSpPr>
                <p:nvPr/>
              </p:nvSpPr>
              <p:spPr bwMode="auto">
                <a:xfrm>
                  <a:off x="2765" y="291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33" name="Line 155"/>
                <p:cNvSpPr>
                  <a:spLocks noChangeShapeType="1"/>
                </p:cNvSpPr>
                <p:nvPr/>
              </p:nvSpPr>
              <p:spPr bwMode="auto">
                <a:xfrm>
                  <a:off x="2765" y="227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</p:grpSp>
        </p:grpSp>
        <p:grpSp>
          <p:nvGrpSpPr>
            <p:cNvPr id="34" name="Group 133"/>
            <p:cNvGrpSpPr>
              <a:grpSpLocks/>
            </p:cNvGrpSpPr>
            <p:nvPr/>
          </p:nvGrpSpPr>
          <p:grpSpPr bwMode="auto">
            <a:xfrm>
              <a:off x="5427295" y="5493568"/>
              <a:ext cx="1188000" cy="1188000"/>
              <a:chOff x="1834" y="1570"/>
              <a:chExt cx="2147" cy="1998"/>
            </a:xfrm>
          </p:grpSpPr>
          <p:sp>
            <p:nvSpPr>
              <p:cNvPr id="35" name="Oval 134"/>
              <p:cNvSpPr>
                <a:spLocks noChangeArrowheads="1"/>
              </p:cNvSpPr>
              <p:nvPr/>
            </p:nvSpPr>
            <p:spPr bwMode="auto">
              <a:xfrm>
                <a:off x="1834" y="1594"/>
                <a:ext cx="2147" cy="19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headEnd/>
                <a:tailEnd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36" name="Line 135"/>
              <p:cNvSpPr>
                <a:spLocks noChangeShapeType="1"/>
              </p:cNvSpPr>
              <p:nvPr/>
            </p:nvSpPr>
            <p:spPr bwMode="auto">
              <a:xfrm>
                <a:off x="2925" y="1570"/>
                <a:ext cx="0" cy="104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37" name="Line 136"/>
              <p:cNvSpPr>
                <a:spLocks noChangeShapeType="1"/>
              </p:cNvSpPr>
              <p:nvPr/>
            </p:nvSpPr>
            <p:spPr bwMode="auto">
              <a:xfrm rot="1800000" flipV="1">
                <a:off x="2854" y="2872"/>
                <a:ext cx="1058" cy="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38" name="Line 137"/>
              <p:cNvSpPr>
                <a:spLocks noChangeShapeType="1"/>
              </p:cNvSpPr>
              <p:nvPr/>
            </p:nvSpPr>
            <p:spPr bwMode="auto">
              <a:xfrm rot="-1800000">
                <a:off x="1940" y="2873"/>
                <a:ext cx="1054" cy="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pt-BR"/>
              </a:p>
            </p:txBody>
          </p:sp>
          <p:grpSp>
            <p:nvGrpSpPr>
              <p:cNvPr id="39" name="Group 138"/>
              <p:cNvGrpSpPr>
                <a:grpSpLocks/>
              </p:cNvGrpSpPr>
              <p:nvPr/>
            </p:nvGrpSpPr>
            <p:grpSpPr bwMode="auto">
              <a:xfrm>
                <a:off x="2674" y="2278"/>
                <a:ext cx="499" cy="701"/>
                <a:chOff x="2674" y="2278"/>
                <a:chExt cx="499" cy="701"/>
              </a:xfrm>
            </p:grpSpPr>
            <p:sp>
              <p:nvSpPr>
                <p:cNvPr id="40" name="Rectangle 139"/>
                <p:cNvSpPr>
                  <a:spLocks noChangeArrowheads="1"/>
                </p:cNvSpPr>
                <p:nvPr/>
              </p:nvSpPr>
              <p:spPr bwMode="auto">
                <a:xfrm>
                  <a:off x="2674" y="2347"/>
                  <a:ext cx="499" cy="632"/>
                </a:xfrm>
                <a:prstGeom prst="rect">
                  <a:avLst/>
                </a:prstGeom>
                <a:solidFill>
                  <a:srgbClr val="66FFFF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41" name="Rectangle 140"/>
                <p:cNvSpPr>
                  <a:spLocks noChangeArrowheads="1"/>
                </p:cNvSpPr>
                <p:nvPr/>
              </p:nvSpPr>
              <p:spPr bwMode="auto">
                <a:xfrm>
                  <a:off x="2720" y="2279"/>
                  <a:ext cx="408" cy="633"/>
                </a:xfrm>
                <a:prstGeom prst="rect">
                  <a:avLst/>
                </a:prstGeom>
                <a:solidFill>
                  <a:srgbClr val="99FF99"/>
                </a:solidFill>
                <a:ln w="9525" algn="ctr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42" name="Line 141"/>
                <p:cNvSpPr>
                  <a:spLocks noChangeShapeType="1"/>
                </p:cNvSpPr>
                <p:nvPr/>
              </p:nvSpPr>
              <p:spPr bwMode="auto">
                <a:xfrm>
                  <a:off x="2765" y="232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43" name="Line 142"/>
                <p:cNvSpPr>
                  <a:spLocks noChangeShapeType="1"/>
                </p:cNvSpPr>
                <p:nvPr/>
              </p:nvSpPr>
              <p:spPr bwMode="auto">
                <a:xfrm>
                  <a:off x="2765" y="236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44" name="Line 143"/>
                <p:cNvSpPr>
                  <a:spLocks noChangeShapeType="1"/>
                </p:cNvSpPr>
                <p:nvPr/>
              </p:nvSpPr>
              <p:spPr bwMode="auto">
                <a:xfrm>
                  <a:off x="2765" y="241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45" name="Line 144"/>
                <p:cNvSpPr>
                  <a:spLocks noChangeShapeType="1"/>
                </p:cNvSpPr>
                <p:nvPr/>
              </p:nvSpPr>
              <p:spPr bwMode="auto">
                <a:xfrm>
                  <a:off x="2765" y="2459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46" name="Line 145"/>
                <p:cNvSpPr>
                  <a:spLocks noChangeShapeType="1"/>
                </p:cNvSpPr>
                <p:nvPr/>
              </p:nvSpPr>
              <p:spPr bwMode="auto">
                <a:xfrm>
                  <a:off x="2765" y="2504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47" name="Line 146"/>
                <p:cNvSpPr>
                  <a:spLocks noChangeShapeType="1"/>
                </p:cNvSpPr>
                <p:nvPr/>
              </p:nvSpPr>
              <p:spPr bwMode="auto">
                <a:xfrm>
                  <a:off x="2765" y="255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48" name="Line 147"/>
                <p:cNvSpPr>
                  <a:spLocks noChangeShapeType="1"/>
                </p:cNvSpPr>
                <p:nvPr/>
              </p:nvSpPr>
              <p:spPr bwMode="auto">
                <a:xfrm>
                  <a:off x="2765" y="2595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49" name="Line 148"/>
                <p:cNvSpPr>
                  <a:spLocks noChangeShapeType="1"/>
                </p:cNvSpPr>
                <p:nvPr/>
              </p:nvSpPr>
              <p:spPr bwMode="auto">
                <a:xfrm>
                  <a:off x="2765" y="2640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50" name="Line 149"/>
                <p:cNvSpPr>
                  <a:spLocks noChangeShapeType="1"/>
                </p:cNvSpPr>
                <p:nvPr/>
              </p:nvSpPr>
              <p:spPr bwMode="auto">
                <a:xfrm>
                  <a:off x="2765" y="2686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51" name="Line 150"/>
                <p:cNvSpPr>
                  <a:spLocks noChangeShapeType="1"/>
                </p:cNvSpPr>
                <p:nvPr/>
              </p:nvSpPr>
              <p:spPr bwMode="auto">
                <a:xfrm>
                  <a:off x="2765" y="2731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52" name="Line 151"/>
                <p:cNvSpPr>
                  <a:spLocks noChangeShapeType="1"/>
                </p:cNvSpPr>
                <p:nvPr/>
              </p:nvSpPr>
              <p:spPr bwMode="auto">
                <a:xfrm>
                  <a:off x="2765" y="277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53" name="Line 152"/>
                <p:cNvSpPr>
                  <a:spLocks noChangeShapeType="1"/>
                </p:cNvSpPr>
                <p:nvPr/>
              </p:nvSpPr>
              <p:spPr bwMode="auto">
                <a:xfrm>
                  <a:off x="2765" y="2822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54" name="Line 153"/>
                <p:cNvSpPr>
                  <a:spLocks noChangeShapeType="1"/>
                </p:cNvSpPr>
                <p:nvPr/>
              </p:nvSpPr>
              <p:spPr bwMode="auto">
                <a:xfrm>
                  <a:off x="2765" y="2867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55" name="Line 154"/>
                <p:cNvSpPr>
                  <a:spLocks noChangeShapeType="1"/>
                </p:cNvSpPr>
                <p:nvPr/>
              </p:nvSpPr>
              <p:spPr bwMode="auto">
                <a:xfrm>
                  <a:off x="2765" y="2913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56" name="Line 155"/>
                <p:cNvSpPr>
                  <a:spLocks noChangeShapeType="1"/>
                </p:cNvSpPr>
                <p:nvPr/>
              </p:nvSpPr>
              <p:spPr bwMode="auto">
                <a:xfrm>
                  <a:off x="2765" y="2278"/>
                  <a:ext cx="318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pt-BR"/>
                </a:p>
              </p:txBody>
            </p:sp>
          </p:grpSp>
        </p:grpSp>
        <p:sp>
          <p:nvSpPr>
            <p:cNvPr id="2" name="CaixaDeTexto 1"/>
            <p:cNvSpPr txBox="1"/>
            <p:nvPr/>
          </p:nvSpPr>
          <p:spPr>
            <a:xfrm>
              <a:off x="8257713" y="2045622"/>
              <a:ext cx="1318953" cy="923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+mj-lt"/>
                </a:rPr>
                <a:t>Recurso </a:t>
              </a:r>
              <a:r>
                <a:rPr lang="pt-BR" b="1" dirty="0">
                  <a:solidFill>
                    <a:srgbClr val="996600"/>
                  </a:solidFill>
                  <a:latin typeface="+mj-lt"/>
                </a:rPr>
                <a:t>1</a:t>
              </a:r>
              <a:r>
                <a:rPr lang="pt-BR" dirty="0">
                  <a:latin typeface="+mj-lt"/>
                </a:rPr>
                <a:t> alocado ao Processo </a:t>
              </a:r>
              <a:r>
                <a:rPr lang="pt-BR" b="1" dirty="0">
                  <a:solidFill>
                    <a:srgbClr val="0070C0"/>
                  </a:solidFill>
                  <a:latin typeface="+mj-lt"/>
                </a:rPr>
                <a:t>A</a:t>
              </a:r>
            </a:p>
          </p:txBody>
        </p:sp>
        <p:sp>
          <p:nvSpPr>
            <p:cNvPr id="57" name="CaixaDeTexto 56"/>
            <p:cNvSpPr txBox="1"/>
            <p:nvPr/>
          </p:nvSpPr>
          <p:spPr>
            <a:xfrm>
              <a:off x="2445095" y="2045622"/>
              <a:ext cx="1318953" cy="923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+mj-lt"/>
                </a:rPr>
                <a:t>Processo </a:t>
              </a:r>
              <a:r>
                <a:rPr lang="pt-BR" b="1" dirty="0">
                  <a:solidFill>
                    <a:srgbClr val="0070C0"/>
                  </a:solidFill>
                  <a:latin typeface="+mj-lt"/>
                </a:rPr>
                <a:t>A</a:t>
              </a:r>
              <a:r>
                <a:rPr lang="pt-BR" dirty="0">
                  <a:latin typeface="+mj-lt"/>
                </a:rPr>
                <a:t> solicita o Recurso </a:t>
              </a:r>
              <a:r>
                <a:rPr lang="pt-BR" dirty="0">
                  <a:solidFill>
                    <a:srgbClr val="F37207"/>
                  </a:solidFill>
                  <a:latin typeface="+mj-lt"/>
                </a:rPr>
                <a:t>2</a:t>
              </a:r>
            </a:p>
          </p:txBody>
        </p:sp>
        <p:sp>
          <p:nvSpPr>
            <p:cNvPr id="59" name="CaixaDeTexto 58"/>
            <p:cNvSpPr txBox="1"/>
            <p:nvPr/>
          </p:nvSpPr>
          <p:spPr>
            <a:xfrm>
              <a:off x="2414741" y="5844253"/>
              <a:ext cx="1362007" cy="923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+mj-lt"/>
                </a:rPr>
                <a:t>Recurso </a:t>
              </a:r>
              <a:r>
                <a:rPr lang="pt-BR" b="1" dirty="0">
                  <a:solidFill>
                    <a:srgbClr val="F37207"/>
                  </a:solidFill>
                  <a:latin typeface="+mj-lt"/>
                </a:rPr>
                <a:t>2</a:t>
              </a:r>
              <a:r>
                <a:rPr lang="pt-BR" dirty="0">
                  <a:latin typeface="+mj-lt"/>
                </a:rPr>
                <a:t> alocado ao Processo </a:t>
              </a:r>
              <a:r>
                <a:rPr lang="pt-BR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B</a:t>
              </a:r>
            </a:p>
          </p:txBody>
        </p:sp>
        <p:sp>
          <p:nvSpPr>
            <p:cNvPr id="61" name="CaixaDeTexto 60"/>
            <p:cNvSpPr txBox="1"/>
            <p:nvPr/>
          </p:nvSpPr>
          <p:spPr>
            <a:xfrm>
              <a:off x="8257712" y="5829850"/>
              <a:ext cx="1318953" cy="923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+mj-lt"/>
                </a:rPr>
                <a:t>Processo </a:t>
              </a:r>
              <a:r>
                <a:rPr lang="pt-BR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B</a:t>
              </a:r>
              <a:r>
                <a:rPr lang="pt-BR" dirty="0">
                  <a:latin typeface="+mj-lt"/>
                </a:rPr>
                <a:t> solicita o Recurso </a:t>
              </a:r>
              <a:r>
                <a:rPr lang="pt-BR" b="1" dirty="0">
                  <a:solidFill>
                    <a:srgbClr val="996600"/>
                  </a:solidFill>
                  <a:latin typeface="+mj-lt"/>
                </a:rPr>
                <a:t>1</a:t>
              </a:r>
            </a:p>
          </p:txBody>
        </p:sp>
        <p:sp>
          <p:nvSpPr>
            <p:cNvPr id="62" name="CaixaDeTexto 61"/>
            <p:cNvSpPr txBox="1"/>
            <p:nvPr/>
          </p:nvSpPr>
          <p:spPr>
            <a:xfrm>
              <a:off x="5387218" y="1776854"/>
              <a:ext cx="131895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+mj-lt"/>
                </a:rPr>
                <a:t>Processo </a:t>
              </a:r>
              <a:r>
                <a:rPr lang="pt-BR" b="1" dirty="0">
                  <a:solidFill>
                    <a:srgbClr val="0070C0"/>
                  </a:solidFill>
                  <a:latin typeface="+mj-lt"/>
                </a:rPr>
                <a:t>A</a:t>
              </a:r>
            </a:p>
          </p:txBody>
        </p:sp>
        <p:sp>
          <p:nvSpPr>
            <p:cNvPr id="63" name="CaixaDeTexto 62"/>
            <p:cNvSpPr txBox="1"/>
            <p:nvPr/>
          </p:nvSpPr>
          <p:spPr>
            <a:xfrm>
              <a:off x="5416739" y="5065600"/>
              <a:ext cx="131895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+mj-lt"/>
                </a:rPr>
                <a:t>Processo </a:t>
              </a:r>
              <a:r>
                <a:rPr lang="pt-BR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B</a:t>
              </a:r>
            </a:p>
          </p:txBody>
        </p:sp>
        <p:sp>
          <p:nvSpPr>
            <p:cNvPr id="64" name="CaixaDeTexto 63"/>
            <p:cNvSpPr txBox="1"/>
            <p:nvPr/>
          </p:nvSpPr>
          <p:spPr>
            <a:xfrm>
              <a:off x="3007203" y="4138671"/>
              <a:ext cx="115212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+mj-lt"/>
                </a:rPr>
                <a:t>Recurso </a:t>
              </a:r>
              <a:r>
                <a:rPr lang="pt-BR" b="1" dirty="0">
                  <a:solidFill>
                    <a:srgbClr val="F37207"/>
                  </a:solidFill>
                  <a:latin typeface="+mj-lt"/>
                </a:rPr>
                <a:t>2</a:t>
              </a:r>
            </a:p>
          </p:txBody>
        </p:sp>
        <p:sp>
          <p:nvSpPr>
            <p:cNvPr id="65" name="CaixaDeTexto 64"/>
            <p:cNvSpPr txBox="1"/>
            <p:nvPr/>
          </p:nvSpPr>
          <p:spPr>
            <a:xfrm>
              <a:off x="7886855" y="4125971"/>
              <a:ext cx="115212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+mj-lt"/>
                </a:rPr>
                <a:t>Recurso </a:t>
              </a:r>
              <a:r>
                <a:rPr lang="pt-BR" b="1" dirty="0">
                  <a:solidFill>
                    <a:srgbClr val="996600"/>
                  </a:solidFill>
                  <a:latin typeface="+mj-lt"/>
                </a:rPr>
                <a:t>1</a:t>
              </a:r>
            </a:p>
          </p:txBody>
        </p:sp>
      </p:grpSp>
      <p:pic>
        <p:nvPicPr>
          <p:cNvPr id="3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ACFDE5C2-6304-4BFE-99C8-F186C0E63E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751" y="157356"/>
            <a:ext cx="2743200" cy="907366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A7C86BC4-0280-48E9-A614-74264EE95E30}"/>
              </a:ext>
            </a:extLst>
          </p:cNvPr>
          <p:cNvSpPr/>
          <p:nvPr/>
        </p:nvSpPr>
        <p:spPr>
          <a:xfrm>
            <a:off x="117895" y="-4313"/>
            <a:ext cx="11976337" cy="23003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654D71F-6FC7-4F2E-A327-3B0A5EE8B0FA}"/>
              </a:ext>
            </a:extLst>
          </p:cNvPr>
          <p:cNvSpPr txBox="1"/>
          <p:nvPr/>
        </p:nvSpPr>
        <p:spPr>
          <a:xfrm>
            <a:off x="123646" y="1316966"/>
            <a:ext cx="734395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100" b="1">
                <a:latin typeface="Calibri"/>
                <a:cs typeface="Calibri"/>
              </a:rPr>
              <a:t>Deadlock – Espera Circular</a:t>
            </a:r>
            <a:endParaRPr lang="pt-BR" sz="21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1371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906439"/>
            <a:ext cx="11987840" cy="45956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</a:t>
            </a:r>
            <a:r>
              <a:rPr lang="pt-BR" sz="2100" b="1" dirty="0">
                <a:ea typeface="+mn-lt"/>
                <a:cs typeface="+mn-lt"/>
              </a:rPr>
              <a:t>Deadlock</a:t>
            </a:r>
            <a:endParaRPr lang="pt-BR" sz="2100" dirty="0">
              <a:ea typeface="+mn-lt"/>
              <a:cs typeface="+mn-lt"/>
            </a:endParaRPr>
          </a:p>
          <a:p>
            <a:pPr marL="800100" lvl="1" indent="-342900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Condições simultâneas para ocorrer </a:t>
            </a:r>
            <a:r>
              <a:rPr lang="pt-BR" sz="2100" i="1" dirty="0">
                <a:ea typeface="+mn-lt"/>
                <a:cs typeface="+mn-lt"/>
              </a:rPr>
              <a:t>deadlock</a:t>
            </a:r>
            <a:r>
              <a:rPr lang="pt-BR" sz="2100" dirty="0">
                <a:ea typeface="+mn-lt"/>
                <a:cs typeface="+mn-lt"/>
              </a:rPr>
              <a:t>:</a:t>
            </a:r>
            <a:endParaRPr lang="en-US" sz="2100">
              <a:ea typeface="+mn-lt"/>
              <a:cs typeface="+mn-lt"/>
            </a:endParaRPr>
          </a:p>
          <a:p>
            <a:pPr marL="1415415" lvl="2" indent="-342900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</a:t>
            </a:r>
            <a:r>
              <a:rPr lang="pt-BR" sz="2100" b="1" dirty="0">
                <a:ea typeface="+mn-lt"/>
                <a:cs typeface="+mn-lt"/>
              </a:rPr>
              <a:t>Exclusão mútua</a:t>
            </a:r>
            <a:r>
              <a:rPr lang="pt-BR" sz="2100" dirty="0">
                <a:ea typeface="+mn-lt"/>
                <a:cs typeface="+mn-lt"/>
              </a:rPr>
              <a:t>: Cada recurso só pode estar alocado a um único processo por vez;</a:t>
            </a:r>
            <a:endParaRPr lang="en-US" sz="2100">
              <a:ea typeface="+mn-lt"/>
              <a:cs typeface="+mn-lt"/>
            </a:endParaRPr>
          </a:p>
          <a:p>
            <a:pPr marL="1415415" lvl="2" indent="-342900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</a:t>
            </a:r>
            <a:r>
              <a:rPr lang="pt-BR" sz="2100" b="1" dirty="0">
                <a:ea typeface="+mn-lt"/>
                <a:cs typeface="+mn-lt"/>
              </a:rPr>
              <a:t>Espera por recurso</a:t>
            </a:r>
            <a:r>
              <a:rPr lang="pt-BR" sz="2100" dirty="0">
                <a:ea typeface="+mn-lt"/>
                <a:cs typeface="+mn-lt"/>
              </a:rPr>
              <a:t>: Um processo, apesar dos recursos alocados, pode estar esperando por um novo recurso;</a:t>
            </a:r>
            <a:endParaRPr lang="en-US" sz="2100">
              <a:ea typeface="+mn-lt"/>
              <a:cs typeface="+mn-lt"/>
            </a:endParaRPr>
          </a:p>
          <a:p>
            <a:pPr marL="1415415" lvl="2" indent="-342900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</a:t>
            </a:r>
            <a:r>
              <a:rPr lang="pt-BR" sz="2100" b="1" dirty="0">
                <a:ea typeface="+mn-lt"/>
                <a:cs typeface="+mn-lt"/>
              </a:rPr>
              <a:t>Não-preempção</a:t>
            </a:r>
            <a:r>
              <a:rPr lang="pt-BR" sz="2100" dirty="0">
                <a:ea typeface="+mn-lt"/>
                <a:cs typeface="+mn-lt"/>
              </a:rPr>
              <a:t>: Recurso não é liberado de um processo quando solicitado por outro processo;</a:t>
            </a:r>
            <a:endParaRPr lang="en-US" sz="2100">
              <a:ea typeface="+mn-lt"/>
              <a:cs typeface="+mn-lt"/>
            </a:endParaRPr>
          </a:p>
          <a:p>
            <a:pPr marL="1415415" lvl="2" indent="-342900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</a:t>
            </a:r>
            <a:r>
              <a:rPr lang="pt-BR" sz="2100" b="1" dirty="0">
                <a:ea typeface="+mn-lt"/>
                <a:cs typeface="+mn-lt"/>
              </a:rPr>
              <a:t>Espera circular</a:t>
            </a:r>
            <a:r>
              <a:rPr lang="pt-BR" sz="2100" dirty="0">
                <a:ea typeface="+mn-lt"/>
                <a:cs typeface="+mn-lt"/>
              </a:rPr>
              <a:t>: Processo pode ter que esperar por um recurso alocado a outro processo e vice-versa.</a:t>
            </a:r>
            <a:endParaRPr lang="en-US" sz="2100" dirty="0">
              <a:ea typeface="+mn-lt"/>
              <a:cs typeface="+mn-lt"/>
            </a:endParaRPr>
          </a:p>
          <a:p>
            <a:pPr algn="just">
              <a:lnSpc>
                <a:spcPct val="90000"/>
              </a:lnSpc>
              <a:spcBef>
                <a:spcPts val="750"/>
              </a:spcBef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en-US" sz="2100" dirty="0">
              <a:ea typeface="+mn-lt"/>
              <a:cs typeface="+mn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57D5B5F-6DAE-4121-8ACE-B229E75DDBBB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Comunicação entre Processos</a:t>
            </a:r>
            <a:endParaRPr lang="pt-BR" dirty="0"/>
          </a:p>
          <a:p>
            <a:pPr algn="ctr"/>
            <a:r>
              <a:rPr lang="pt-BR" sz="2400" i="1" dirty="0">
                <a:cs typeface="Calibri"/>
              </a:rPr>
              <a:t>Deadlocks</a:t>
            </a:r>
          </a:p>
        </p:txBody>
      </p:sp>
    </p:spTree>
    <p:extLst>
      <p:ext uri="{BB962C8B-B14F-4D97-AF65-F5344CB8AC3E}">
        <p14:creationId xmlns:p14="http://schemas.microsoft.com/office/powerpoint/2010/main" val="483441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906439"/>
            <a:ext cx="11987840" cy="3717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</a:t>
            </a:r>
            <a:r>
              <a:rPr lang="pt-BR" sz="2100" b="1" dirty="0">
                <a:ea typeface="+mn-lt"/>
                <a:cs typeface="+mn-lt"/>
              </a:rPr>
              <a:t>Deadlock</a:t>
            </a:r>
            <a:endParaRPr lang="pt-BR" sz="2100" dirty="0">
              <a:ea typeface="+mn-lt"/>
              <a:cs typeface="+mn-lt"/>
            </a:endParaRPr>
          </a:p>
          <a:p>
            <a:pPr marL="800100" lvl="1" indent="-342900" algn="just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Evitar que as condições para </a:t>
            </a:r>
            <a:r>
              <a:rPr lang="pt-BR" sz="2100" i="1" dirty="0">
                <a:ea typeface="+mn-lt"/>
                <a:cs typeface="+mn-lt"/>
              </a:rPr>
              <a:t>deadlock</a:t>
            </a:r>
            <a:r>
              <a:rPr lang="pt-BR" sz="2100" dirty="0">
                <a:ea typeface="+mn-lt"/>
                <a:cs typeface="+mn-lt"/>
              </a:rPr>
              <a:t> ocorram simultaneamente;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Evitar que pelo menos uma das condições para </a:t>
            </a:r>
            <a:r>
              <a:rPr lang="pt-BR" sz="2100" i="1" dirty="0">
                <a:ea typeface="+mn-lt"/>
                <a:cs typeface="+mn-lt"/>
              </a:rPr>
              <a:t>deadlock</a:t>
            </a:r>
            <a:r>
              <a:rPr lang="pt-BR" sz="2100" dirty="0">
                <a:ea typeface="+mn-lt"/>
                <a:cs typeface="+mn-lt"/>
              </a:rPr>
              <a:t> ocorra: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 algn="just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Forçar o processo a ter apenas um recurso por vez (evita a espera circular);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 algn="just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Permitir preempção;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 algn="just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Processos que possuem recurso não podem solicitar outro recurso;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 algn="just">
              <a:spcBef>
                <a:spcPct val="5000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Compartilhamento de recursos!</a:t>
            </a:r>
            <a:endParaRPr lang="pt-BR" dirty="0">
              <a:cs typeface="Calibri" panose="020F0502020204030204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en-US" sz="2100" dirty="0">
              <a:ea typeface="+mn-lt"/>
              <a:cs typeface="+mn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57D5B5F-6DAE-4121-8ACE-B229E75DDBBB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Comunicação entre Processos</a:t>
            </a:r>
            <a:endParaRPr lang="pt-BR" dirty="0"/>
          </a:p>
          <a:p>
            <a:pPr algn="ctr"/>
            <a:r>
              <a:rPr lang="pt-BR" sz="2400" i="1" dirty="0">
                <a:cs typeface="Calibri"/>
              </a:rPr>
              <a:t>Deadlocks</a:t>
            </a:r>
          </a:p>
        </p:txBody>
      </p:sp>
    </p:spTree>
    <p:extLst>
      <p:ext uri="{BB962C8B-B14F-4D97-AF65-F5344CB8AC3E}">
        <p14:creationId xmlns:p14="http://schemas.microsoft.com/office/powerpoint/2010/main" val="2179968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906439"/>
            <a:ext cx="11987840" cy="32326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Bef>
                <a:spcPct val="50000"/>
              </a:spcBef>
              <a:buFont typeface="Arial"/>
              <a:buChar char="•"/>
            </a:pPr>
            <a:r>
              <a:rPr lang="pt-BR" sz="2100" b="1">
                <a:ea typeface="+mn-lt"/>
                <a:cs typeface="+mn-lt"/>
              </a:rPr>
              <a:t>Detecção de </a:t>
            </a:r>
            <a:r>
              <a:rPr lang="pt-BR" sz="2100" b="1" i="1" dirty="0">
                <a:ea typeface="+mn-lt"/>
                <a:cs typeface="+mn-lt"/>
              </a:rPr>
              <a:t>deadlock:</a:t>
            </a:r>
            <a:endParaRPr lang="en-US" sz="2100" b="1" i="1" dirty="0">
              <a:ea typeface="+mn-lt"/>
              <a:cs typeface="+mn-lt"/>
            </a:endParaRPr>
          </a:p>
          <a:p>
            <a:pPr marL="1257300" lvl="2" indent="-342900" algn="just">
              <a:spcBef>
                <a:spcPct val="50000"/>
              </a:spcBef>
              <a:buFont typeface="Arial"/>
              <a:buChar char="•"/>
            </a:pPr>
            <a:r>
              <a:rPr lang="pt-BR" sz="2100">
                <a:ea typeface="+mn-lt"/>
                <a:cs typeface="+mn-lt"/>
              </a:rPr>
              <a:t>Se dá através da verificação de espera circular;</a:t>
            </a:r>
            <a:endParaRPr lang="en-US" sz="2100">
              <a:ea typeface="+mn-lt"/>
              <a:cs typeface="+mn-lt"/>
            </a:endParaRPr>
          </a:p>
          <a:p>
            <a:pPr marL="342900" indent="-342900" algn="just">
              <a:spcBef>
                <a:spcPct val="50000"/>
              </a:spcBef>
              <a:buFont typeface="Arial"/>
              <a:buChar char="•"/>
            </a:pPr>
            <a:r>
              <a:rPr lang="pt-BR" sz="2100" b="1">
                <a:ea typeface="+mn-lt"/>
                <a:cs typeface="+mn-lt"/>
              </a:rPr>
              <a:t>Correção de </a:t>
            </a:r>
            <a:r>
              <a:rPr lang="pt-BR" sz="2100" b="1" i="1" dirty="0">
                <a:ea typeface="+mn-lt"/>
                <a:cs typeface="+mn-lt"/>
              </a:rPr>
              <a:t>deadlocks</a:t>
            </a:r>
            <a:r>
              <a:rPr lang="pt-BR" sz="2100" b="1" dirty="0">
                <a:ea typeface="+mn-lt"/>
                <a:cs typeface="+mn-lt"/>
              </a:rPr>
              <a:t>: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spcBef>
                <a:spcPct val="50000"/>
              </a:spcBef>
              <a:buFont typeface="Arial"/>
              <a:buChar char="•"/>
            </a:pPr>
            <a:r>
              <a:rPr lang="pt-BR" sz="2100">
                <a:ea typeface="+mn-lt"/>
                <a:cs typeface="+mn-lt"/>
              </a:rPr>
              <a:t>Eliminar todos os processos envolvidos no </a:t>
            </a:r>
            <a:r>
              <a:rPr lang="pt-BR" sz="2100" i="1" dirty="0">
                <a:ea typeface="+mn-lt"/>
                <a:cs typeface="+mn-lt"/>
              </a:rPr>
              <a:t>deadlock;</a:t>
            </a:r>
            <a:endParaRPr lang="en-US" sz="2100" i="1" dirty="0">
              <a:ea typeface="+mn-lt"/>
              <a:cs typeface="+mn-lt"/>
            </a:endParaRPr>
          </a:p>
          <a:p>
            <a:pPr marL="1257300" lvl="2" indent="-342900" algn="just">
              <a:spcBef>
                <a:spcPct val="50000"/>
              </a:spcBef>
              <a:buFont typeface="Arial"/>
              <a:buChar char="•"/>
            </a:pPr>
            <a:r>
              <a:rPr lang="pt-BR" sz="2100">
                <a:ea typeface="+mn-lt"/>
                <a:cs typeface="+mn-lt"/>
              </a:rPr>
              <a:t>Eliminar apenas um dos processos envolvidos no </a:t>
            </a:r>
            <a:r>
              <a:rPr lang="pt-BR" sz="2100" i="1" dirty="0">
                <a:ea typeface="+mn-lt"/>
                <a:cs typeface="+mn-lt"/>
              </a:rPr>
              <a:t>deadlock;</a:t>
            </a:r>
            <a:endParaRPr lang="en-US" sz="2100" i="1" dirty="0">
              <a:ea typeface="+mn-lt"/>
              <a:cs typeface="+mn-lt"/>
            </a:endParaRPr>
          </a:p>
          <a:p>
            <a:pPr marL="1257300" lvl="2" indent="-342900" algn="just">
              <a:spcBef>
                <a:spcPct val="50000"/>
              </a:spcBef>
              <a:buFont typeface="Arial"/>
              <a:buChar char="•"/>
            </a:pPr>
            <a:r>
              <a:rPr lang="pt-BR" sz="2100">
                <a:ea typeface="+mn-lt"/>
                <a:cs typeface="+mn-lt"/>
              </a:rPr>
              <a:t>Liberar apenas alguns recursos alocados aos processos em </a:t>
            </a:r>
            <a:r>
              <a:rPr lang="pt-BR" sz="2100" i="1" dirty="0">
                <a:ea typeface="+mn-lt"/>
                <a:cs typeface="+mn-lt"/>
              </a:rPr>
              <a:t>deadlock.</a:t>
            </a:r>
            <a:endParaRPr lang="pt-BR" dirty="0">
              <a:cs typeface="Calibri" panose="020F0502020204030204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en-US" sz="2100" dirty="0">
              <a:ea typeface="+mn-lt"/>
              <a:cs typeface="+mn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57D5B5F-6DAE-4121-8ACE-B229E75DDBBB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Comunicação entre Processos</a:t>
            </a:r>
            <a:endParaRPr lang="pt-BR" dirty="0"/>
          </a:p>
          <a:p>
            <a:pPr algn="ctr"/>
            <a:r>
              <a:rPr lang="pt-BR" sz="2400" i="1" dirty="0">
                <a:cs typeface="Calibri"/>
              </a:rPr>
              <a:t>Deadlocks</a:t>
            </a:r>
          </a:p>
        </p:txBody>
      </p:sp>
    </p:spTree>
    <p:extLst>
      <p:ext uri="{BB962C8B-B14F-4D97-AF65-F5344CB8AC3E}">
        <p14:creationId xmlns:p14="http://schemas.microsoft.com/office/powerpoint/2010/main" val="6299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57D5B5F-6DAE-4121-8ACE-B229E75DDBBB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Comunicação entre Processos</a:t>
            </a:r>
            <a:endParaRPr lang="pt-BR" dirty="0"/>
          </a:p>
          <a:p>
            <a:pPr algn="ctr"/>
            <a:r>
              <a:rPr lang="pt-BR" sz="2400" i="1" dirty="0">
                <a:cs typeface="Calibri"/>
              </a:rPr>
              <a:t>Deadlocks</a:t>
            </a:r>
          </a:p>
        </p:txBody>
      </p:sp>
      <p:pic>
        <p:nvPicPr>
          <p:cNvPr id="5" name="Imagem 5" descr="Uma imagem contendo carro, no interior, caminhão, computador&#10;&#10;Descrição gerada automaticamente">
            <a:extLst>
              <a:ext uri="{FF2B5EF4-FFF2-40B4-BE49-F238E27FC236}">
                <a16:creationId xmlns:a16="http://schemas.microsoft.com/office/drawing/2014/main" id="{B8E7AEBB-475A-4FBA-89D5-F484E1F78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325" y="1377972"/>
            <a:ext cx="8235350" cy="515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881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9940" name="AutoShape 4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B63663D3-7F22-4EDA-93C9-D096C6C5C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8473EF7-5FA0-4FD2-8C41-5AB04D0B7A92}"/>
              </a:ext>
            </a:extLst>
          </p:cNvPr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AU" sz="2800" b="1">
                <a:ea typeface="+mn-lt"/>
                <a:cs typeface="+mn-lt"/>
              </a:rPr>
              <a:t>Wrap-up</a:t>
            </a:r>
            <a:endParaRPr lang="en-AU">
              <a:cs typeface="Calibri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4DB00C-18D5-4E09-8282-62BB63EA1769}"/>
              </a:ext>
            </a:extLst>
          </p:cNvPr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6" descr="Uma imagem contendo água, campo&#10;&#10;Descrição gerada automaticamente">
            <a:extLst>
              <a:ext uri="{FF2B5EF4-FFF2-40B4-BE49-F238E27FC236}">
                <a16:creationId xmlns:a16="http://schemas.microsoft.com/office/drawing/2014/main" id="{38D925A8-AA34-499D-9FAB-3D5BF6B25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80000">
            <a:off x="8031193" y="2636484"/>
            <a:ext cx="2743200" cy="1268730"/>
          </a:xfrm>
          <a:prstGeom prst="rect">
            <a:avLst/>
          </a:prstGeom>
        </p:spPr>
      </p:pic>
      <p:pic>
        <p:nvPicPr>
          <p:cNvPr id="7" name="Imagem 7">
            <a:extLst>
              <a:ext uri="{FF2B5EF4-FFF2-40B4-BE49-F238E27FC236}">
                <a16:creationId xmlns:a16="http://schemas.microsoft.com/office/drawing/2014/main" id="{3D1B892B-A210-4289-80DA-85D5658C0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5822189"/>
            <a:ext cx="2743200" cy="96456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3E9D260-D74B-4469-973C-3A782C3BFB24}"/>
              </a:ext>
            </a:extLst>
          </p:cNvPr>
          <p:cNvSpPr txBox="1"/>
          <p:nvPr/>
        </p:nvSpPr>
        <p:spPr>
          <a:xfrm>
            <a:off x="253041" y="1719533"/>
            <a:ext cx="11700294" cy="47377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Processos Independentes, Subprocessos e Threads</a:t>
            </a:r>
            <a:br>
              <a:rPr lang="pt-BR" sz="2100" b="1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</a:t>
            </a:r>
            <a:r>
              <a:rPr lang="pt-BR" sz="2000" dirty="0">
                <a:ea typeface="+mn-lt"/>
                <a:cs typeface="+mn-lt"/>
              </a:rPr>
              <a:t> </a:t>
            </a:r>
            <a:r>
              <a:rPr lang="pt-BR" sz="2100" dirty="0">
                <a:ea typeface="+mn-lt"/>
                <a:cs typeface="+mn-lt"/>
              </a:rPr>
              <a:t>Conceitos gerais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 Processos independentes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 Subprocessos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 </a:t>
            </a:r>
            <a:r>
              <a:rPr lang="pt-BR" sz="2100" i="1" dirty="0">
                <a:ea typeface="+mn-lt"/>
                <a:cs typeface="+mn-lt"/>
              </a:rPr>
              <a:t>Threads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     </a:t>
            </a:r>
            <a:r>
              <a:rPr lang="pt-BR" sz="2000" dirty="0">
                <a:ea typeface="+mn-lt"/>
                <a:cs typeface="+mn-lt"/>
              </a:rPr>
              <a:t>- Ambiente </a:t>
            </a:r>
            <a:r>
              <a:rPr lang="pt-BR" sz="2000" i="1" dirty="0" err="1">
                <a:ea typeface="+mn-lt"/>
                <a:cs typeface="+mn-lt"/>
              </a:rPr>
              <a:t>monothread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Ambiente </a:t>
            </a:r>
            <a:r>
              <a:rPr lang="pt-BR" sz="2000" i="1" dirty="0" err="1">
                <a:ea typeface="+mn-lt"/>
                <a:cs typeface="+mn-lt"/>
              </a:rPr>
              <a:t>multithread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Espaço de endereçamento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 Tipos de Processos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     </a:t>
            </a:r>
            <a:r>
              <a:rPr lang="pt-BR" sz="2000" dirty="0">
                <a:ea typeface="+mn-lt"/>
                <a:cs typeface="+mn-lt"/>
              </a:rPr>
              <a:t>- </a:t>
            </a:r>
            <a:r>
              <a:rPr lang="pt-BR" sz="2000" i="1" dirty="0">
                <a:ea typeface="+mn-lt"/>
                <a:cs typeface="+mn-lt"/>
              </a:rPr>
              <a:t>CPU </a:t>
            </a:r>
            <a:r>
              <a:rPr lang="pt-BR" sz="2000" i="1" dirty="0" err="1">
                <a:ea typeface="+mn-lt"/>
                <a:cs typeface="+mn-lt"/>
              </a:rPr>
              <a:t>Bound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</a:t>
            </a:r>
            <a:r>
              <a:rPr lang="pt-BR" sz="2000" i="1" dirty="0">
                <a:ea typeface="+mn-lt"/>
                <a:cs typeface="+mn-lt"/>
              </a:rPr>
              <a:t>I/O </a:t>
            </a:r>
            <a:r>
              <a:rPr lang="pt-BR" sz="2000" i="1" dirty="0" err="1">
                <a:ea typeface="+mn-lt"/>
                <a:cs typeface="+mn-lt"/>
              </a:rPr>
              <a:t>Bound</a:t>
            </a:r>
            <a:endParaRPr lang="pt-BR" sz="2000" i="1" dirty="0">
              <a:ea typeface="+mn-lt"/>
              <a:cs typeface="+mn-lt"/>
            </a:endParaRPr>
          </a:p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000" b="1" dirty="0">
                <a:ea typeface="+mn-lt"/>
                <a:cs typeface="+mn-lt"/>
              </a:rPr>
              <a:t>Comunicação entre processos</a:t>
            </a:r>
            <a:br>
              <a:rPr lang="pt-BR" sz="2000" b="1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 </a:t>
            </a:r>
            <a:r>
              <a:rPr lang="pt-BR" sz="2000" i="1" dirty="0">
                <a:ea typeface="+mn-lt"/>
                <a:cs typeface="+mn-lt"/>
              </a:rPr>
              <a:t>Deadlocks</a:t>
            </a:r>
            <a:br>
              <a:rPr lang="pt-BR" sz="2000" i="1" dirty="0">
                <a:ea typeface="+mn-lt"/>
                <a:cs typeface="+mn-lt"/>
              </a:rPr>
            </a:br>
            <a:r>
              <a:rPr lang="pt-BR" sz="2000" i="1" dirty="0">
                <a:ea typeface="+mn-lt"/>
                <a:cs typeface="+mn-lt"/>
              </a:rPr>
              <a:t>         </a:t>
            </a:r>
            <a:r>
              <a:rPr lang="pt-BR" sz="2000" dirty="0">
                <a:ea typeface="+mn-lt"/>
                <a:cs typeface="+mn-lt"/>
              </a:rPr>
              <a:t>- Ocorrência 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Prevenção</a:t>
            </a: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          - Detecção</a:t>
            </a:r>
            <a:endParaRPr lang="pt-BR" sz="2000" i="1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6407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5056759-2C96-4276-98FD-111B055E32BB}"/>
              </a:ext>
            </a:extLst>
          </p:cNvPr>
          <p:cNvSpPr txBox="1"/>
          <p:nvPr/>
        </p:nvSpPr>
        <p:spPr>
          <a:xfrm>
            <a:off x="3631722" y="281798"/>
            <a:ext cx="492855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Referências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5F49848-D5CE-4E78-BDD8-AB55CFBBAC21}"/>
              </a:ext>
            </a:extLst>
          </p:cNvPr>
          <p:cNvSpPr/>
          <p:nvPr/>
        </p:nvSpPr>
        <p:spPr>
          <a:xfrm>
            <a:off x="122610" y="1241340"/>
            <a:ext cx="11990154" cy="5439368"/>
          </a:xfrm>
          <a:prstGeom prst="rect">
            <a:avLst/>
          </a:prstGeom>
          <a:solidFill>
            <a:schemeClr val="bg1"/>
          </a:solidFill>
          <a:ln w="12700">
            <a:solidFill>
              <a:srgbClr val="030000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BÁSICA</a:t>
            </a:r>
            <a:endParaRPr lang="pt-BR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DEITEL, Harvey M.; DEITEL, Paul J.; CHOFFNES, David R. </a:t>
            </a: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Sistemas Operacionais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. 3ª Edição. São Paulo: Pearson Prentice Hall, 2005. {681.31:519.687 D325s} (5 exemplares)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SILBERSCHATZ, Abraham; GALVIN, Peter Baer; GAGNE, Greg. </a:t>
            </a: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Fundamentos de Sistemas Operacionais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. 6ª edição. Rio de Janeiro: LTC, 2004. {681.31:519.687 S582f}(4 exemplares)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TANENBAUM, Andrew S.  </a:t>
            </a: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Sistemas operacionais modernos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.  São Paulo: Pearson Prentice Hall, 2009. 5ex.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lvl="1" algn="just">
              <a:lnSpc>
                <a:spcPct val="90000"/>
              </a:lnSpc>
              <a:spcBef>
                <a:spcPts val="375"/>
              </a:spcBef>
            </a:pPr>
            <a:endParaRPr lang="pt-BR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COMPLEMENTAR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 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HILL, Benjamin Mako; BACON, Jono. </a:t>
            </a: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O livro oficial de ubuntu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. Porto Alegre: Artmed, 2008. 3ex.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MACHADO, Francis Berenger; MAIA, Luiz Paulo. </a:t>
            </a: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Arquitetura de sistemas operacionais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. Rio de Janeiro: LTC,2007. 10ex.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MACHADO, Francis B.; MAIA, Luiz Paulo</a:t>
            </a: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. Arquitetura de Sistemas Operacionais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. 5ª  Edição. Rio de Janeiro: Editora Livros Técnicos e Científicos, 2013. {681.31:519.687  M149a}(8 exemplares)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NEGUS, Christopher. </a:t>
            </a: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Linux edição especial: a bíblia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. Rio de Janeiro: Alta Books, 2007. 2ex.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OLIVEIRA, Rômulo Silva de; CARISSIMI, Alexandre da Silva; TOSCANI, Simão. Sistemas operacionais. Porto Alegre: Bookman, 2010. 5ex.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AHO, Alfred V. et al. </a:t>
            </a:r>
            <a:r>
              <a:rPr lang="pt-BR" b="1">
                <a:solidFill>
                  <a:srgbClr val="000000"/>
                </a:solidFill>
                <a:ea typeface="+mn-lt"/>
                <a:cs typeface="+mn-lt"/>
              </a:rPr>
              <a:t>Compiladores: princípios, técnicas e ferramentas</a:t>
            </a:r>
            <a:r>
              <a:rPr lang="pt-BR">
                <a:solidFill>
                  <a:srgbClr val="000000"/>
                </a:solidFill>
                <a:ea typeface="+mn-lt"/>
                <a:cs typeface="+mn-lt"/>
              </a:rPr>
              <a:t>. 2. ed. São Paulo, SP: Pearson Addison Wesley, 2008. {005.453 C737}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05004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Personalizada 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DEF32"/>
      </a:accent1>
      <a:accent2>
        <a:srgbClr val="ED7D31"/>
      </a:accent2>
      <a:accent3>
        <a:srgbClr val="A5A5A5"/>
      </a:accent3>
      <a:accent4>
        <a:srgbClr val="FFC000"/>
      </a:accent4>
      <a:accent5>
        <a:srgbClr val="2DEF32"/>
      </a:accent5>
      <a:accent6>
        <a:srgbClr val="0FC513"/>
      </a:accent6>
      <a:hlink>
        <a:srgbClr val="2DEF32"/>
      </a:hlink>
      <a:folHlink>
        <a:srgbClr val="954F72"/>
      </a:folHlink>
    </a:clrScheme>
    <a:fontScheme name="Personalizada 1">
      <a:majorFont>
        <a:latin typeface="HP Simplifie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1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21</vt:i4>
      </vt:variant>
    </vt:vector>
  </HeadingPairs>
  <TitlesOfParts>
    <vt:vector size="23" baseType="lpstr">
      <vt:lpstr>Tema do Office</vt:lpstr>
      <vt:lpstr>HDOfficeLightV0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revision>2357</cp:revision>
  <dcterms:created xsi:type="dcterms:W3CDTF">2012-07-30T23:50:35Z</dcterms:created>
  <dcterms:modified xsi:type="dcterms:W3CDTF">2020-09-22T19:00:19Z</dcterms:modified>
</cp:coreProperties>
</file>