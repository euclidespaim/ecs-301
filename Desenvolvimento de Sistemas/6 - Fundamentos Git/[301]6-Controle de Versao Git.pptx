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fd901f4e2_0_8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fd901f4e2_0_8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fd901f4e2_0_102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efd901f4e2_0_102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fd901f4e2_0_232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efd901f4e2_0_232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efd901f4e2_0_240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efd901f4e2_0_240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6b730462a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f6b730462a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fd901f4e2_0_267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efd901f4e2_0_267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4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4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4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5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5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5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6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6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6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6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6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6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efd901f4e2_0_280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g3efd901f4e2_0_280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6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6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6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6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523880" y="3602160"/>
            <a:ext cx="91440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1523880" y="3602160"/>
            <a:ext cx="91440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152388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620964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idx="1" type="subTitle"/>
          </p:nvPr>
        </p:nvSpPr>
        <p:spPr>
          <a:xfrm>
            <a:off x="1523880" y="1122480"/>
            <a:ext cx="9144000" cy="11068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2" type="body"/>
          </p:nvPr>
        </p:nvSpPr>
        <p:spPr>
          <a:xfrm>
            <a:off x="620964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3" type="body"/>
          </p:nvPr>
        </p:nvSpPr>
        <p:spPr>
          <a:xfrm>
            <a:off x="152388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1523880" y="3602160"/>
            <a:ext cx="4462200" cy="16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3" type="body"/>
          </p:nvPr>
        </p:nvSpPr>
        <p:spPr>
          <a:xfrm>
            <a:off x="620964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1523880" y="446688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1523880" y="360216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1523880" y="4466880"/>
            <a:ext cx="91440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152388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6209640" y="360216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152388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6209640" y="4466880"/>
            <a:ext cx="446220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52388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61556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7707240" y="360216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152388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61556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6" type="body"/>
          </p:nvPr>
        </p:nvSpPr>
        <p:spPr>
          <a:xfrm>
            <a:off x="7707240" y="4466880"/>
            <a:ext cx="2944080" cy="78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git-scm.com/download/win" TargetMode="External"/><Relationship Id="rId4" Type="http://schemas.openxmlformats.org/officeDocument/2006/relationships/hyperlink" Target="http://msysgit.github.io/" TargetMode="External"/><Relationship Id="rId5" Type="http://schemas.openxmlformats.org/officeDocument/2006/relationships/image" Target="../media/image21.png"/><Relationship Id="rId6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github.com/schacon/ticgit" TargetMode="External"/><Relationship Id="rId4" Type="http://schemas.openxmlformats.org/officeDocument/2006/relationships/hyperlink" Target="https://github.com/schacon/ticgit" TargetMode="External"/><Relationship Id="rId5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1.png"/><Relationship Id="rId4" Type="http://schemas.openxmlformats.org/officeDocument/2006/relationships/hyperlink" Target="https://git-scm.com/book/pt-br/v2" TargetMode="External"/><Relationship Id="rId5" Type="http://schemas.openxmlformats.org/officeDocument/2006/relationships/image" Target="../media/image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2.png"/><Relationship Id="rId4" Type="http://schemas.openxmlformats.org/officeDocument/2006/relationships/image" Target="../media/image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3.png"/><Relationship Id="rId4" Type="http://schemas.openxmlformats.org/officeDocument/2006/relationships/image" Target="../media/image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5.png"/><Relationship Id="rId4" Type="http://schemas.openxmlformats.org/officeDocument/2006/relationships/image" Target="../media/image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8.png"/><Relationship Id="rId4" Type="http://schemas.openxmlformats.org/officeDocument/2006/relationships/image" Target="../media/image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4.png"/><Relationship Id="rId4" Type="http://schemas.openxmlformats.org/officeDocument/2006/relationships/hyperlink" Target="https://github.com/" TargetMode="External"/><Relationship Id="rId5" Type="http://schemas.openxmlformats.org/officeDocument/2006/relationships/image" Target="../media/image3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2.png"/><Relationship Id="rId4" Type="http://schemas.openxmlformats.org/officeDocument/2006/relationships/image" Target="../media/image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1799280" y="2568240"/>
            <a:ext cx="8870760" cy="1768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Google Shape;64;p14"/>
          <p:cNvSpPr txBox="1"/>
          <p:nvPr/>
        </p:nvSpPr>
        <p:spPr>
          <a:xfrm>
            <a:off x="1667880" y="5240880"/>
            <a:ext cx="9144000" cy="1037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Professor: Euclides Paim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euclidespaim@</a:t>
            </a:r>
            <a:r>
              <a:rPr i="1" lang="pt-BR" sz="2400">
                <a:latin typeface="Calibri"/>
                <a:ea typeface="Calibri"/>
                <a:cs typeface="Calibri"/>
                <a:sym typeface="Calibri"/>
              </a:rPr>
              <a:t>gmail.com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733760" y="3071160"/>
            <a:ext cx="8738640" cy="70776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Desenvolvimento </a:t>
            </a:r>
            <a:r>
              <a:rPr b="1" lang="pt-BR" sz="4000">
                <a:latin typeface="Calibri"/>
                <a:ea typeface="Calibri"/>
                <a:cs typeface="Calibri"/>
                <a:sym typeface="Calibri"/>
              </a:rPr>
              <a:t>de Sistemas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67" name="Google Shape;67;p14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11325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1799280" y="2568240"/>
            <a:ext cx="8870760" cy="1768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3" name="Google Shape;73;p15"/>
          <p:cNvSpPr txBox="1"/>
          <p:nvPr/>
        </p:nvSpPr>
        <p:spPr>
          <a:xfrm>
            <a:off x="1667880" y="5240880"/>
            <a:ext cx="9144000" cy="1037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Professor: Euclides Paim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euclidespaim@</a:t>
            </a:r>
            <a:r>
              <a:rPr i="1" lang="pt-BR" sz="2400">
                <a:latin typeface="Calibri"/>
                <a:ea typeface="Calibri"/>
                <a:cs typeface="Calibri"/>
                <a:sym typeface="Calibri"/>
              </a:rPr>
              <a:t>gmail.com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372840" y="2883960"/>
            <a:ext cx="5733720" cy="107712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76" name="Google Shape;76;p15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11325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3631680" y="411120"/>
            <a:ext cx="4928400" cy="52308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Sumário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3" name="Google Shape;83;p16"/>
          <p:cNvSpPr txBox="1"/>
          <p:nvPr/>
        </p:nvSpPr>
        <p:spPr>
          <a:xfrm>
            <a:off x="339480" y="1173240"/>
            <a:ext cx="11513520" cy="550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Locais de Controle de Versão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Centralizados de Controle de Versão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Distribuídos de Controle de Versão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Uma Breve História do Git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básico do Git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 três estados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três seções principais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fluxo de trabalho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Linha de comando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Instalação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Configuração inicial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1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Criando um novo Branch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Alternando entre Braches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Mesclando (merge) Branches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Configurando uma conta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Fazendo </a:t>
            </a:r>
            <a:r>
              <a:rPr b="0" i="1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Fork </a:t>
            </a: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projetos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fluxo do Github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&#10;&#10;Descrição gerada automaticamente" id="84" name="Google Shape;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1440" y="1180440"/>
            <a:ext cx="1952280" cy="1952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, Ícone&#10;&#10;Descrição gerada automaticamente" id="85" name="Google Shape;8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7240" y="3427920"/>
            <a:ext cx="2743200" cy="1440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Gráfico, Gráfico de bolhas&#10;&#10;Descrição gerada automaticamente" id="86" name="Google Shape;8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3280" y="5288400"/>
            <a:ext cx="2743200" cy="795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sc-arma.png"/>
          <p:cNvPicPr preferRelativeResize="0"/>
          <p:nvPr/>
        </p:nvPicPr>
        <p:blipFill rotWithShape="1">
          <a:blip r:embed="rId6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94" name="Google Shape;94;p17"/>
          <p:cNvGrpSpPr/>
          <p:nvPr/>
        </p:nvGrpSpPr>
        <p:grpSpPr>
          <a:xfrm>
            <a:off x="571500" y="1524000"/>
            <a:ext cx="10858650" cy="4667400"/>
            <a:chOff x="571500" y="1524000"/>
            <a:chExt cx="10858650" cy="4667400"/>
          </a:xfrm>
        </p:grpSpPr>
        <p:sp>
          <p:nvSpPr>
            <p:cNvPr id="95" name="Google Shape;95;p17"/>
            <p:cNvSpPr/>
            <p:nvPr/>
          </p:nvSpPr>
          <p:spPr>
            <a:xfrm>
              <a:off x="571500" y="1524000"/>
              <a:ext cx="4381500" cy="4667400"/>
            </a:xfrm>
            <a:prstGeom prst="roundRect">
              <a:avLst>
                <a:gd fmla="val 3478" name="adj"/>
              </a:avLst>
            </a:prstGeom>
            <a:solidFill>
              <a:srgbClr val="F4FBF7"/>
            </a:solidFill>
            <a:ln cap="flat" cmpd="sng" w="19050">
              <a:solidFill>
                <a:srgbClr val="E2F5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96" name="Google Shape;96;p17"/>
            <p:cNvSpPr txBox="1"/>
            <p:nvPr/>
          </p:nvSpPr>
          <p:spPr>
            <a:xfrm>
              <a:off x="857250" y="1809750"/>
              <a:ext cx="3810000" cy="409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6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O que é?</a:t>
              </a:r>
              <a:endParaRPr b="1" sz="2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Um Sistema de Registro</a:t>
              </a:r>
              <a:endParaRPr b="1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pt-BR" sz="15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É um </a:t>
              </a:r>
              <a:r>
                <a:rPr b="1" lang="pt-BR" sz="15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sistema</a:t>
              </a:r>
              <a:r>
                <a:rPr lang="pt-BR" sz="15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 que registra alterações em um arquivo ou conjunto de arquivos ao longo do tempo.</a:t>
              </a:r>
              <a:endParaRPr sz="15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Acesso ao Passado</a:t>
              </a:r>
              <a:endParaRPr b="1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pt-BR" sz="15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Possibilita o acesso a versões específicas de qualquer arquivo registrado mais tarde, garantindo segurança e controle.</a:t>
              </a:r>
              <a:endParaRPr sz="15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5334000" y="1524000"/>
              <a:ext cx="29529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98" name="Google Shape;98;p17"/>
            <p:cNvSpPr txBox="1"/>
            <p:nvPr/>
          </p:nvSpPr>
          <p:spPr>
            <a:xfrm>
              <a:off x="5524500" y="1714500"/>
              <a:ext cx="25719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00B05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settings_backup_restore</a:t>
              </a:r>
              <a:endParaRPr sz="2200">
                <a:solidFill>
                  <a:srgbClr val="00B05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 sz="17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Reverter Estados</a:t>
              </a:r>
              <a:endParaRPr b="1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Permite reverter arquivos ou até mesmo um projeto inteiro para um estado anterior de forma segura.</a:t>
              </a:r>
              <a:endParaRPr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8477250" y="1524000"/>
              <a:ext cx="29529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100" name="Google Shape;100;p17"/>
            <p:cNvSpPr txBox="1"/>
            <p:nvPr/>
          </p:nvSpPr>
          <p:spPr>
            <a:xfrm>
              <a:off x="8667750" y="1714500"/>
              <a:ext cx="25719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00B05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compare_arrows</a:t>
              </a:r>
              <a:endParaRPr sz="2200">
                <a:solidFill>
                  <a:srgbClr val="00B05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 sz="17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Comparar Mudanças</a:t>
              </a:r>
              <a:endParaRPr b="1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Analise detalhadamente as modificações e a evolução do projeto ao longo de todo o tempo de desenvolvimento.</a:t>
              </a:r>
              <a:endParaRPr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5334000" y="4000500"/>
              <a:ext cx="29529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5524500" y="4191000"/>
              <a:ext cx="25719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00B05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history_toggle_off</a:t>
              </a:r>
              <a:endParaRPr sz="2200">
                <a:solidFill>
                  <a:srgbClr val="00B05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 sz="17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Histórico e Autoria</a:t>
              </a:r>
              <a:endParaRPr b="1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Identifique com precisão quem modificou qualquer parte do código ou arquivo pela última vez.</a:t>
              </a:r>
              <a:endParaRPr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8477250" y="4000500"/>
              <a:ext cx="29529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104" name="Google Shape;104;p17"/>
            <p:cNvSpPr txBox="1"/>
            <p:nvPr/>
          </p:nvSpPr>
          <p:spPr>
            <a:xfrm>
              <a:off x="8667750" y="4191000"/>
              <a:ext cx="25719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>
                  <a:solidFill>
                    <a:srgbClr val="00B05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bug_report</a:t>
              </a:r>
              <a:endParaRPr sz="2200">
                <a:solidFill>
                  <a:srgbClr val="00B05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 sz="17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Rastrear Problemas</a:t>
              </a:r>
              <a:endParaRPr b="1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Descubra exatamente quando um problema foi inserido no sistema e quem foi o responsável por ele.</a:t>
              </a:r>
              <a:endParaRPr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5" name="Google Shape;105;p17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12" name="Google Shape;112;p18"/>
          <p:cNvGrpSpPr/>
          <p:nvPr/>
        </p:nvGrpSpPr>
        <p:grpSpPr>
          <a:xfrm>
            <a:off x="952500" y="1523962"/>
            <a:ext cx="4857900" cy="4661040"/>
            <a:chOff x="952500" y="1524000"/>
            <a:chExt cx="4857900" cy="4381500"/>
          </a:xfrm>
        </p:grpSpPr>
        <p:sp>
          <p:nvSpPr>
            <p:cNvPr id="113" name="Google Shape;113;p18"/>
            <p:cNvSpPr/>
            <p:nvPr/>
          </p:nvSpPr>
          <p:spPr>
            <a:xfrm>
              <a:off x="952500" y="1524000"/>
              <a:ext cx="4857900" cy="43815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" name="Google Shape;114;p18"/>
            <p:cNvSpPr txBox="1"/>
            <p:nvPr/>
          </p:nvSpPr>
          <p:spPr>
            <a:xfrm>
              <a:off x="1238250" y="1809750"/>
              <a:ext cx="42864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00B05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</a:t>
              </a:r>
              <a:endParaRPr sz="4000">
                <a:solidFill>
                  <a:srgbClr val="00B05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26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Abordagem Tradicional</a:t>
              </a:r>
              <a:endParaRPr b="1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pt-BR" sz="19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Cópia Manual de Arquivos</a:t>
              </a:r>
              <a:endParaRPr b="1" sz="19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65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A4A4A"/>
                </a:buClr>
                <a:buSzPts val="1700"/>
                <a:buFont typeface="Calibri"/>
                <a:buChar char="●"/>
              </a:pPr>
              <a:r>
                <a:rPr b="0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O método de controle de versão de muitas pessoas consiste em copiar os arquivos para outro diretório.</a:t>
              </a:r>
              <a:endParaRPr b="0" sz="17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65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A4A4A"/>
                </a:buClr>
                <a:buSzPts val="1700"/>
                <a:buFont typeface="Calibri"/>
                <a:buChar char="●"/>
              </a:pPr>
              <a:r>
                <a:rPr b="0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É extremamente comum utilizar um segundo diretório identificando-o com um carimbo de tempo.</a:t>
              </a:r>
              <a:endParaRPr b="0" sz="17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655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4A4A4A"/>
                </a:buClr>
                <a:buSzPts val="1700"/>
                <a:buFont typeface="Calibri"/>
                <a:buChar char="●"/>
              </a:pPr>
              <a:r>
                <a:rPr b="0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Esta abordagem é amplamente utilizada devido à sua extrema simplicidade de execução no dia a dia.</a:t>
              </a:r>
              <a:endParaRPr b="0" sz="17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5" name="Google Shape;115;p18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8"/>
          <p:cNvGrpSpPr/>
          <p:nvPr/>
        </p:nvGrpSpPr>
        <p:grpSpPr>
          <a:xfrm>
            <a:off x="6381750" y="1524063"/>
            <a:ext cx="4857900" cy="4596632"/>
            <a:chOff x="6381750" y="1524000"/>
            <a:chExt cx="4857900" cy="4381500"/>
          </a:xfrm>
        </p:grpSpPr>
        <p:sp>
          <p:nvSpPr>
            <p:cNvPr id="117" name="Google Shape;117;p18"/>
            <p:cNvSpPr/>
            <p:nvPr/>
          </p:nvSpPr>
          <p:spPr>
            <a:xfrm>
              <a:off x="6381750" y="1524000"/>
              <a:ext cx="4857900" cy="4381500"/>
            </a:xfrm>
            <a:prstGeom prst="roundRect">
              <a:avLst>
                <a:gd fmla="val 3478" name="adj"/>
              </a:avLst>
            </a:prstGeom>
            <a:solidFill>
              <a:srgbClr val="FFF5F5"/>
            </a:solidFill>
            <a:ln cap="flat" cmpd="sng" w="14300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18"/>
            <p:cNvSpPr txBox="1"/>
            <p:nvPr/>
          </p:nvSpPr>
          <p:spPr>
            <a:xfrm>
              <a:off x="6667500" y="1809750"/>
              <a:ext cx="42864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DC262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4000">
                <a:solidFill>
                  <a:srgbClr val="DC262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26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Altamente Propensa a Erros</a:t>
              </a:r>
              <a:endParaRPr b="1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pt-BR" sz="1900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Riscos e Vulnerabilidades</a:t>
              </a:r>
              <a:endParaRPr b="1" sz="19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65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A4A4A"/>
                </a:buClr>
                <a:buSzPts val="1700"/>
                <a:buFont typeface="Calibri"/>
                <a:buChar char="●"/>
              </a:pPr>
              <a:r>
                <a:rPr b="0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A ausência de automação torna o processo manual vulnerável a falhas humanas constantes.</a:t>
              </a:r>
              <a:endParaRPr b="0" sz="17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65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A4A4A"/>
                </a:buClr>
                <a:buSzPts val="1700"/>
                <a:buFont typeface="Calibri"/>
                <a:buChar char="●"/>
              </a:pPr>
              <a:r>
                <a:rPr b="0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É muito fácil esquecer em qual diretório você está trabalhando no momento atual.</a:t>
              </a:r>
              <a:endParaRPr b="0" sz="17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655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4A4A4A"/>
                </a:buClr>
                <a:buSzPts val="1700"/>
                <a:buFont typeface="Calibri"/>
                <a:buChar char="●"/>
              </a:pPr>
              <a:r>
                <a:rPr b="0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Risco iminente de acidentalmente sobreescrever o arquivo errado ou realizar a cópia de arquivos indesejados.</a:t>
              </a:r>
              <a:endParaRPr b="0" sz="17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VCS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25" name="Google Shape;125;p19"/>
          <p:cNvGrpSpPr/>
          <p:nvPr/>
        </p:nvGrpSpPr>
        <p:grpSpPr>
          <a:xfrm>
            <a:off x="952500" y="1524000"/>
            <a:ext cx="10287150" cy="4381500"/>
            <a:chOff x="952500" y="1524000"/>
            <a:chExt cx="10287150" cy="4381500"/>
          </a:xfrm>
        </p:grpSpPr>
        <p:sp>
          <p:nvSpPr>
            <p:cNvPr id="126" name="Google Shape;126;p19"/>
            <p:cNvSpPr/>
            <p:nvPr/>
          </p:nvSpPr>
          <p:spPr>
            <a:xfrm>
              <a:off x="952500" y="1524000"/>
              <a:ext cx="4857900" cy="4381500"/>
            </a:xfrm>
            <a:prstGeom prst="roundRect">
              <a:avLst>
                <a:gd fmla="val 3478" name="adj"/>
              </a:avLst>
            </a:prstGeom>
            <a:solidFill>
              <a:srgbClr val="F4FBF7"/>
            </a:solidFill>
            <a:ln cap="flat" cmpd="sng" w="19050">
              <a:solidFill>
                <a:srgbClr val="E2F5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127" name="Google Shape;127;p19"/>
            <p:cNvSpPr txBox="1"/>
            <p:nvPr/>
          </p:nvSpPr>
          <p:spPr>
            <a:xfrm>
              <a:off x="1238250" y="1809750"/>
              <a:ext cx="4286400" cy="38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3900">
                  <a:solidFill>
                    <a:srgbClr val="00B05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laptop</a:t>
              </a:r>
              <a:endParaRPr b="0" sz="3900">
                <a:solidFill>
                  <a:srgbClr val="00B05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25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Sistemas Locais</a:t>
              </a:r>
              <a:endParaRPr b="0" sz="2500">
                <a:solidFill>
                  <a:srgbClr val="00B05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Banco de Dados no Computador</a:t>
              </a:r>
              <a:endParaRPr b="0" sz="1800">
                <a:solidFill>
                  <a:srgbClr val="00B05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Para lidar com os problemas de controle manual de arquivos, programadores desenvolveram os </a:t>
              </a:r>
              <a:r>
                <a:rPr b="1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VCSs locais</a:t>
              </a:r>
              <a:r>
                <a:rPr b="0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br>
                <a:rPr b="0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br>
                <a:rPr b="0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Estes sistemas possuem um </a:t>
              </a:r>
              <a:r>
                <a:rPr b="1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banco de dados simples</a:t>
              </a:r>
              <a:r>
                <a:rPr b="0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 que registra e mantém todas as alterações nos arquivos sob controle de revisão, diretamente no disco local.</a:t>
              </a:r>
              <a:endParaRPr b="0" sz="17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6381750" y="1524000"/>
              <a:ext cx="4857900" cy="43815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9"/>
            <p:cNvSpPr txBox="1"/>
            <p:nvPr/>
          </p:nvSpPr>
          <p:spPr>
            <a:xfrm>
              <a:off x="6667500" y="1762125"/>
              <a:ext cx="4286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9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Visualização do Fluxo de Trabalho Local</a:t>
              </a:r>
              <a:endParaRPr b="1" sz="19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0" name="Google Shape;130;p19"/>
            <p:cNvPicPr preferRelativeResize="0"/>
            <p:nvPr/>
          </p:nvPicPr>
          <p:blipFill rotWithShape="1">
            <a:blip r:embed="rId3">
              <a:alphaModFix/>
            </a:blip>
            <a:srcRect b="120" l="0" r="0" t="130"/>
            <a:stretch/>
          </p:blipFill>
          <p:spPr>
            <a:xfrm>
              <a:off x="6715125" y="2190750"/>
              <a:ext cx="4191000" cy="3569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1" name="Google Shape;131;p19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VCS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38" name="Google Shape;138;p20"/>
          <p:cNvGrpSpPr/>
          <p:nvPr/>
        </p:nvGrpSpPr>
        <p:grpSpPr>
          <a:xfrm>
            <a:off x="952500" y="1524000"/>
            <a:ext cx="4857900" cy="4381500"/>
            <a:chOff x="952500" y="1524000"/>
            <a:chExt cx="4857900" cy="4381500"/>
          </a:xfrm>
        </p:grpSpPr>
        <p:sp>
          <p:nvSpPr>
            <p:cNvPr id="139" name="Google Shape;139;p20"/>
            <p:cNvSpPr/>
            <p:nvPr/>
          </p:nvSpPr>
          <p:spPr>
            <a:xfrm>
              <a:off x="952500" y="1524000"/>
              <a:ext cx="4857900" cy="4381500"/>
            </a:xfrm>
            <a:prstGeom prst="roundRect">
              <a:avLst>
                <a:gd fmla="val 3478" name="adj"/>
              </a:avLst>
            </a:prstGeom>
            <a:solidFill>
              <a:srgbClr val="F4FBF7"/>
            </a:solidFill>
            <a:ln cap="flat" cmpd="sng" w="19050">
              <a:solidFill>
                <a:srgbClr val="E2F5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140" name="Google Shape;140;p20"/>
            <p:cNvSpPr txBox="1"/>
            <p:nvPr/>
          </p:nvSpPr>
          <p:spPr>
            <a:xfrm>
              <a:off x="1238250" y="1809750"/>
              <a:ext cx="4286400" cy="38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3900">
                  <a:solidFill>
                    <a:srgbClr val="00B05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b="0" sz="3900">
                <a:solidFill>
                  <a:srgbClr val="00B05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25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Vantagens</a:t>
              </a:r>
              <a:endParaRPr b="1" sz="2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Simplicidade no Processo</a:t>
              </a:r>
              <a:endParaRPr b="1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6550" lvl="0" marL="457200" rtl="0" algn="l">
                <a:spcBef>
                  <a:spcPts val="1500"/>
                </a:spcBef>
                <a:spcAft>
                  <a:spcPts val="900"/>
                </a:spcAft>
                <a:buClr>
                  <a:srgbClr val="4A4A4A"/>
                </a:buClr>
                <a:buSzPts val="1700"/>
                <a:buFont typeface="Calibri"/>
                <a:buChar char="●"/>
              </a:pPr>
              <a:r>
                <a:rPr b="0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Implementação mais simples</a:t>
              </a:r>
              <a:endParaRPr b="0" sz="17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1" name="Google Shape;141;p20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20"/>
          <p:cNvGrpSpPr/>
          <p:nvPr/>
        </p:nvGrpSpPr>
        <p:grpSpPr>
          <a:xfrm>
            <a:off x="6381750" y="1524000"/>
            <a:ext cx="4857900" cy="4381500"/>
            <a:chOff x="6381750" y="1524000"/>
            <a:chExt cx="4857900" cy="4381500"/>
          </a:xfrm>
        </p:grpSpPr>
        <p:sp>
          <p:nvSpPr>
            <p:cNvPr id="143" name="Google Shape;143;p20"/>
            <p:cNvSpPr/>
            <p:nvPr/>
          </p:nvSpPr>
          <p:spPr>
            <a:xfrm>
              <a:off x="6381750" y="1524000"/>
              <a:ext cx="4857900" cy="4381500"/>
            </a:xfrm>
            <a:prstGeom prst="roundRect">
              <a:avLst>
                <a:gd fmla="val 3478" name="adj"/>
              </a:avLst>
            </a:prstGeom>
            <a:solidFill>
              <a:srgbClr val="FFF5F5"/>
            </a:solidFill>
            <a:ln cap="flat" cmpd="sng" w="19050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144" name="Google Shape;144;p20"/>
            <p:cNvSpPr txBox="1"/>
            <p:nvPr/>
          </p:nvSpPr>
          <p:spPr>
            <a:xfrm>
              <a:off x="6667500" y="1809750"/>
              <a:ext cx="4286400" cy="38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3900">
                  <a:solidFill>
                    <a:srgbClr val="DC262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cancel</a:t>
              </a:r>
              <a:endParaRPr b="0" sz="3900">
                <a:solidFill>
                  <a:srgbClr val="DC262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25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Desvantagens</a:t>
              </a:r>
              <a:endParaRPr b="1" sz="2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Restrições de Ambiente</a:t>
              </a:r>
              <a:endParaRPr b="1" sz="18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6550" lvl="0" marL="457200" rtl="0" algn="l">
                <a:spcBef>
                  <a:spcPts val="1500"/>
                </a:spcBef>
                <a:spcAft>
                  <a:spcPts val="900"/>
                </a:spcAft>
                <a:buClr>
                  <a:srgbClr val="4A4A4A"/>
                </a:buClr>
                <a:buSzPts val="1700"/>
                <a:buFont typeface="Calibri"/>
                <a:buChar char="●"/>
              </a:pPr>
              <a:r>
                <a:rPr b="0" lang="pt-BR" sz="17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Aplicável somente ao desenvolvimento local</a:t>
              </a:r>
              <a:endParaRPr b="0" sz="17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CVCS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51" name="Google Shape;151;p21"/>
          <p:cNvGrpSpPr/>
          <p:nvPr/>
        </p:nvGrpSpPr>
        <p:grpSpPr>
          <a:xfrm>
            <a:off x="762000" y="1714500"/>
            <a:ext cx="10668000" cy="4286400"/>
            <a:chOff x="762000" y="1714500"/>
            <a:chExt cx="10668000" cy="4286400"/>
          </a:xfrm>
        </p:grpSpPr>
        <p:sp>
          <p:nvSpPr>
            <p:cNvPr id="152" name="Google Shape;152;p21"/>
            <p:cNvSpPr/>
            <p:nvPr/>
          </p:nvSpPr>
          <p:spPr>
            <a:xfrm>
              <a:off x="762000" y="1714500"/>
              <a:ext cx="3238500" cy="42864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53" name="Google Shape;153;p21"/>
            <p:cNvSpPr txBox="1"/>
            <p:nvPr/>
          </p:nvSpPr>
          <p:spPr>
            <a:xfrm>
              <a:off x="1000125" y="2000250"/>
              <a:ext cx="2762400" cy="3714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700">
                  <a:solidFill>
                    <a:srgbClr val="4A4A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3700">
                <a:solidFill>
                  <a:srgbClr val="4A4A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25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O Desafio</a:t>
              </a:r>
              <a:endParaRPr b="1" sz="2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pt-BR" sz="1900">
                  <a:solidFill>
                    <a:srgbClr val="718096"/>
                  </a:solidFill>
                  <a:latin typeface="Calibri"/>
                  <a:ea typeface="Calibri"/>
                  <a:cs typeface="Calibri"/>
                  <a:sym typeface="Calibri"/>
                </a:rPr>
                <a:t>Colaboração Externa</a:t>
              </a:r>
              <a:endParaRPr b="1" sz="190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A próxima questão importante que os desenvolvedores encontram é a necessidade de colaborar de forma eficiente com equipes em outros sistemas.</a:t>
              </a:r>
              <a:endParaRPr sz="18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1"/>
            <p:cNvSpPr/>
            <p:nvPr/>
          </p:nvSpPr>
          <p:spPr>
            <a:xfrm>
              <a:off x="4476750" y="1714500"/>
              <a:ext cx="3238500" cy="4286400"/>
            </a:xfrm>
            <a:prstGeom prst="roundRect">
              <a:avLst>
                <a:gd fmla="val 4705" name="adj"/>
              </a:avLst>
            </a:prstGeom>
            <a:solidFill>
              <a:srgbClr val="F4FBF7"/>
            </a:solidFill>
            <a:ln cap="flat" cmpd="sng" w="19050">
              <a:solidFill>
                <a:srgbClr val="E2F5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55" name="Google Shape;155;p21"/>
            <p:cNvSpPr txBox="1"/>
            <p:nvPr/>
          </p:nvSpPr>
          <p:spPr>
            <a:xfrm>
              <a:off x="4714875" y="2000250"/>
              <a:ext cx="2762400" cy="3714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700">
                  <a:solidFill>
                    <a:srgbClr val="00B05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cloud_done</a:t>
              </a:r>
              <a:endParaRPr sz="3700">
                <a:solidFill>
                  <a:srgbClr val="00B05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25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A Solução</a:t>
              </a:r>
              <a:endParaRPr b="1" sz="2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pt-BR" sz="19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Surgimento do CVCS</a:t>
              </a:r>
              <a:endParaRPr b="1" sz="19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Para resolver essa barreira, foram criados os Sistemas Centralizados de Controle de Versão (CVCSs), permitindo o trabalho conjunto.</a:t>
              </a:r>
              <a:endParaRPr sz="18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1"/>
            <p:cNvSpPr/>
            <p:nvPr/>
          </p:nvSpPr>
          <p:spPr>
            <a:xfrm>
              <a:off x="8191500" y="1714500"/>
              <a:ext cx="3238500" cy="42864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57" name="Google Shape;157;p21"/>
            <p:cNvSpPr txBox="1"/>
            <p:nvPr/>
          </p:nvSpPr>
          <p:spPr>
            <a:xfrm>
              <a:off x="8429625" y="2000250"/>
              <a:ext cx="2762400" cy="3714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700">
                  <a:solidFill>
                    <a:srgbClr val="4A4A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3700">
                <a:solidFill>
                  <a:srgbClr val="4A4A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25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O Funcionamento</a:t>
              </a:r>
              <a:endParaRPr b="1" sz="2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pt-BR" sz="1900">
                  <a:solidFill>
                    <a:srgbClr val="718096"/>
                  </a:solidFill>
                  <a:latin typeface="Calibri"/>
                  <a:ea typeface="Calibri"/>
                  <a:cs typeface="Calibri"/>
                  <a:sym typeface="Calibri"/>
                </a:rPr>
                <a:t>Servidor Central Único</a:t>
              </a:r>
              <a:endParaRPr b="1" sz="190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Sistemas como </a:t>
              </a:r>
              <a:r>
                <a:rPr i="1" lang="pt-BR" sz="18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CVS</a:t>
              </a:r>
              <a:r>
                <a:rPr lang="pt-BR" sz="18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i="1" lang="pt-BR" sz="18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Subversion</a:t>
              </a:r>
              <a:r>
                <a:rPr lang="pt-BR" sz="18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 e </a:t>
              </a:r>
              <a:r>
                <a:rPr i="1" lang="pt-BR" sz="18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Perforce</a:t>
              </a:r>
              <a:r>
                <a:rPr lang="pt-BR" sz="1800">
                  <a:solidFill>
                    <a:srgbClr val="4A4A4A"/>
                  </a:solidFill>
                  <a:latin typeface="Calibri"/>
                  <a:ea typeface="Calibri"/>
                  <a:cs typeface="Calibri"/>
                  <a:sym typeface="Calibri"/>
                </a:rPr>
                <a:t> centralizam todos os arquivos em um único servidor, conectando diversos clientes a esse ponto.</a:t>
              </a:r>
              <a:endParaRPr sz="18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8" name="Google Shape;158;p21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CVCS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5" name="Google Shape;165;p22"/>
          <p:cNvSpPr txBox="1"/>
          <p:nvPr/>
        </p:nvSpPr>
        <p:spPr>
          <a:xfrm>
            <a:off x="224280" y="1259280"/>
            <a:ext cx="11743560" cy="430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Centralizados de Controle de Versão</a:t>
            </a:r>
            <a:endParaRPr b="1" i="0" sz="2200" u="none" cap="none" strike="noStrike"/>
          </a:p>
        </p:txBody>
      </p:sp>
      <p:pic>
        <p:nvPicPr>
          <p:cNvPr descr="Diagrama&#10;&#10;Descrição gerada automaticamente"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2360" y="2159280"/>
            <a:ext cx="6121800" cy="426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23"/>
          <p:cNvGrpSpPr/>
          <p:nvPr/>
        </p:nvGrpSpPr>
        <p:grpSpPr>
          <a:xfrm>
            <a:off x="-47625" y="0"/>
            <a:ext cx="12192000" cy="6804841"/>
            <a:chOff x="-47625" y="0"/>
            <a:chExt cx="12192000" cy="6804841"/>
          </a:xfrm>
        </p:grpSpPr>
        <p:pic>
          <p:nvPicPr>
            <p:cNvPr descr="Deixe mais bonito como imagem" id="173" name="Google Shape;173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47625" y="0"/>
              <a:ext cx="12192000" cy="68048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23"/>
            <p:cNvSpPr txBox="1"/>
            <p:nvPr/>
          </p:nvSpPr>
          <p:spPr>
            <a:xfrm>
              <a:off x="2333475" y="3867200"/>
              <a:ext cx="1500900" cy="25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CVCS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1" name="Google Shape;181;p24"/>
          <p:cNvSpPr txBox="1"/>
          <p:nvPr/>
        </p:nvSpPr>
        <p:spPr>
          <a:xfrm>
            <a:off x="476250" y="1238250"/>
            <a:ext cx="11239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Sistemas Centralizados de Controle de Versão</a:t>
            </a:r>
            <a:endParaRPr b="1" i="0" sz="20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24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24"/>
          <p:cNvGrpSpPr/>
          <p:nvPr/>
        </p:nvGrpSpPr>
        <p:grpSpPr>
          <a:xfrm>
            <a:off x="476250" y="1905000"/>
            <a:ext cx="5334000" cy="4191000"/>
            <a:chOff x="476250" y="1905000"/>
            <a:chExt cx="5334000" cy="4191000"/>
          </a:xfrm>
        </p:grpSpPr>
        <p:sp>
          <p:nvSpPr>
            <p:cNvPr id="184" name="Google Shape;184;p24"/>
            <p:cNvSpPr/>
            <p:nvPr/>
          </p:nvSpPr>
          <p:spPr>
            <a:xfrm>
              <a:off x="476250" y="1905000"/>
              <a:ext cx="5334000" cy="4191000"/>
            </a:xfrm>
            <a:prstGeom prst="roundRect">
              <a:avLst>
                <a:gd fmla="val 272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4"/>
            <p:cNvSpPr/>
            <p:nvPr/>
          </p:nvSpPr>
          <p:spPr>
            <a:xfrm>
              <a:off x="476250" y="1905000"/>
              <a:ext cx="76200" cy="4191000"/>
            </a:xfrm>
            <a:prstGeom prst="roundRect">
              <a:avLst>
                <a:gd fmla="val 50000" name="adj"/>
              </a:avLst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4"/>
            <p:cNvSpPr txBox="1"/>
            <p:nvPr/>
          </p:nvSpPr>
          <p:spPr>
            <a:xfrm>
              <a:off x="762000" y="2190750"/>
              <a:ext cx="4762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Vantagens</a:t>
              </a:r>
              <a:endParaRPr b="1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23850" lvl="0" marL="457200" rtl="0" algn="l">
                <a:spcBef>
                  <a:spcPts val="1875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Calibri"/>
                <a:buChar char="●"/>
              </a:pPr>
              <a:r>
                <a:rPr b="1" lang="pt-BR" sz="15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Fácil controle</a:t>
              </a:r>
              <a:r>
                <a:rPr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do que cada um no projeto está fazendo.</a:t>
              </a:r>
              <a:endParaRPr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23850" lvl="0" marL="457200" rtl="0" algn="l">
                <a:spcBef>
                  <a:spcPts val="1875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Calibri"/>
                <a:buChar char="●"/>
              </a:pPr>
              <a:r>
                <a:rPr b="1" lang="pt-BR" sz="15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Maior controle</a:t>
              </a:r>
              <a:r>
                <a:rPr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para delegar atividades aos colaboradores.</a:t>
              </a:r>
              <a:endParaRPr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23850" lvl="0" marL="457200" rtl="0" algn="l">
                <a:spcBef>
                  <a:spcPts val="1875"/>
                </a:spcBef>
                <a:spcAft>
                  <a:spcPts val="1875"/>
                </a:spcAft>
                <a:buClr>
                  <a:srgbClr val="334155"/>
                </a:buClr>
                <a:buSzPts val="1500"/>
                <a:buFont typeface="Calibri"/>
                <a:buChar char="●"/>
              </a:pPr>
              <a:r>
                <a:rPr b="1" lang="pt-BR" sz="15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Administração simples</a:t>
              </a:r>
              <a:r>
                <a:rPr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de um CVCS do que lidar com bancos de dados locais em cada cliente.</a:t>
              </a:r>
              <a:endParaRPr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24"/>
          <p:cNvGrpSpPr/>
          <p:nvPr/>
        </p:nvGrpSpPr>
        <p:grpSpPr>
          <a:xfrm>
            <a:off x="6381750" y="1905000"/>
            <a:ext cx="5334000" cy="4191000"/>
            <a:chOff x="6381750" y="1905000"/>
            <a:chExt cx="5334000" cy="4191000"/>
          </a:xfrm>
        </p:grpSpPr>
        <p:sp>
          <p:nvSpPr>
            <p:cNvPr id="188" name="Google Shape;188;p24"/>
            <p:cNvSpPr/>
            <p:nvPr/>
          </p:nvSpPr>
          <p:spPr>
            <a:xfrm>
              <a:off x="6381750" y="1905000"/>
              <a:ext cx="5334000" cy="4191000"/>
            </a:xfrm>
            <a:prstGeom prst="roundRect">
              <a:avLst>
                <a:gd fmla="val 272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4"/>
            <p:cNvSpPr/>
            <p:nvPr/>
          </p:nvSpPr>
          <p:spPr>
            <a:xfrm>
              <a:off x="6381750" y="1905000"/>
              <a:ext cx="76200" cy="41910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4"/>
            <p:cNvSpPr txBox="1"/>
            <p:nvPr/>
          </p:nvSpPr>
          <p:spPr>
            <a:xfrm>
              <a:off x="6667500" y="2190750"/>
              <a:ext cx="4762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Desvantagens</a:t>
              </a:r>
              <a:endParaRPr b="1" sz="24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23850" lvl="0" marL="457200" rtl="0" algn="l">
                <a:spcBef>
                  <a:spcPts val="1875"/>
                </a:spcBef>
                <a:spcAft>
                  <a:spcPts val="1875"/>
                </a:spcAft>
                <a:buClr>
                  <a:srgbClr val="334155"/>
                </a:buClr>
                <a:buSzPts val="1500"/>
                <a:buFont typeface="Calibri"/>
                <a:buChar char="●"/>
              </a:pPr>
              <a:r>
                <a:rPr b="1" lang="pt-BR" sz="15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Ponto Único de Falha:</a:t>
              </a:r>
              <a:r>
                <a:rPr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O mais óbvio é o ponto único de falha que o servidor centralizado representa.</a:t>
              </a:r>
              <a:endParaRPr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DVCS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7" name="Google Shape;197;p25"/>
          <p:cNvSpPr txBox="1"/>
          <p:nvPr/>
        </p:nvSpPr>
        <p:spPr>
          <a:xfrm>
            <a:off x="224280" y="1259280"/>
            <a:ext cx="11743560" cy="286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Distribuídos de Controle de Versão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just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 Sistemas Distribuídos de Controle de Versão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DVCS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como Git, Mercurial, Bazaar ou Darcs, os clientes não somente usam o estado mais recente dos arquivos: eles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duplicam localmente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 repositório completo.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Assim, se qualquer servidor morrer, e esses sistemas estiverem colaborando por meio dele, qualquer um dos repositórios de clientes podem ser copiado de volta para o servidor para restaurá-lo. Cada clone é de fato um backup completo de todos os dados.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5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DVCS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05" name="Google Shape;205;p26"/>
          <p:cNvSpPr txBox="1"/>
          <p:nvPr/>
        </p:nvSpPr>
        <p:spPr>
          <a:xfrm>
            <a:off x="476250" y="1238250"/>
            <a:ext cx="11239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Sistemas Distribuídos de Controle de Versão</a:t>
            </a:r>
            <a:endParaRPr b="1" sz="20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6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26"/>
          <p:cNvGrpSpPr/>
          <p:nvPr/>
        </p:nvGrpSpPr>
        <p:grpSpPr>
          <a:xfrm>
            <a:off x="476250" y="1905000"/>
            <a:ext cx="5334000" cy="4191000"/>
            <a:chOff x="476250" y="1905000"/>
            <a:chExt cx="5334000" cy="4191000"/>
          </a:xfrm>
        </p:grpSpPr>
        <p:sp>
          <p:nvSpPr>
            <p:cNvPr id="208" name="Google Shape;208;p26"/>
            <p:cNvSpPr/>
            <p:nvPr/>
          </p:nvSpPr>
          <p:spPr>
            <a:xfrm>
              <a:off x="476250" y="1905000"/>
              <a:ext cx="5334000" cy="4191000"/>
            </a:xfrm>
            <a:prstGeom prst="roundRect">
              <a:avLst>
                <a:gd fmla="val 272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476250" y="1905000"/>
              <a:ext cx="76200" cy="41910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6"/>
            <p:cNvSpPr txBox="1"/>
            <p:nvPr/>
          </p:nvSpPr>
          <p:spPr>
            <a:xfrm>
              <a:off x="762000" y="2190750"/>
              <a:ext cx="47625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0284C7"/>
                  </a:solidFill>
                  <a:latin typeface="Calibri"/>
                  <a:ea typeface="Calibri"/>
                  <a:cs typeface="Calibri"/>
                  <a:sym typeface="Calibri"/>
                </a:rPr>
                <a:t>Duplicação Local</a:t>
              </a:r>
              <a:endParaRPr b="1" sz="2400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0" lvl="0" marL="457200" rtl="0" algn="l">
                <a:spcBef>
                  <a:spcPts val="1875"/>
                </a:spcBef>
                <a:spcAft>
                  <a:spcPts val="0"/>
                </a:spcAft>
                <a:buClr>
                  <a:srgbClr val="0284C7"/>
                </a:buClr>
                <a:buSzPts val="2400"/>
                <a:buFont typeface="Calibri"/>
                <a:buChar char="●"/>
              </a:pPr>
              <a:r>
                <a:rPr b="1" lang="pt-BR" sz="15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Repositório Completo: 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Os clientes não usam apenas o estado mais recente dos arquivos; eles duplicam localmente o repositório completo.</a:t>
              </a:r>
              <a:endParaRPr b="1" sz="2400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0" lvl="0" marL="457200" rtl="0" algn="l">
                <a:spcBef>
                  <a:spcPts val="1500"/>
                </a:spcBef>
                <a:spcAft>
                  <a:spcPts val="1500"/>
                </a:spcAft>
                <a:buClr>
                  <a:srgbClr val="0284C7"/>
                </a:buClr>
                <a:buSzPts val="2400"/>
                <a:buFont typeface="Calibri"/>
                <a:buChar char="●"/>
              </a:pPr>
              <a:r>
                <a:rPr b="1" lang="pt-BR" sz="15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Tecnologias: 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Utilizado por sistemas modernos de DVCS como Git, Mercurial, Bazaar ou Darcs.</a:t>
              </a:r>
              <a:endParaRPr b="1" sz="2400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26"/>
          <p:cNvGrpSpPr/>
          <p:nvPr/>
        </p:nvGrpSpPr>
        <p:grpSpPr>
          <a:xfrm>
            <a:off x="6381750" y="1905000"/>
            <a:ext cx="5334000" cy="4191000"/>
            <a:chOff x="6381750" y="1905000"/>
            <a:chExt cx="5334000" cy="4191000"/>
          </a:xfrm>
        </p:grpSpPr>
        <p:sp>
          <p:nvSpPr>
            <p:cNvPr id="212" name="Google Shape;212;p26"/>
            <p:cNvSpPr/>
            <p:nvPr/>
          </p:nvSpPr>
          <p:spPr>
            <a:xfrm>
              <a:off x="6381750" y="1905000"/>
              <a:ext cx="5334000" cy="4191000"/>
            </a:xfrm>
            <a:prstGeom prst="roundRect">
              <a:avLst>
                <a:gd fmla="val 272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6381750" y="1905000"/>
              <a:ext cx="76200" cy="4191000"/>
            </a:xfrm>
            <a:prstGeom prst="roundRect">
              <a:avLst>
                <a:gd fmla="val 50000" name="adj"/>
              </a:avLst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6"/>
            <p:cNvSpPr txBox="1"/>
            <p:nvPr/>
          </p:nvSpPr>
          <p:spPr>
            <a:xfrm>
              <a:off x="6667500" y="2190750"/>
              <a:ext cx="47625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Tolerância a Falhas</a:t>
              </a:r>
              <a:endParaRPr b="1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0" lvl="0" marL="457200" rtl="0" algn="l">
                <a:spcBef>
                  <a:spcPts val="1875"/>
                </a:spcBef>
                <a:spcAft>
                  <a:spcPts val="0"/>
                </a:spcAft>
                <a:buClr>
                  <a:srgbClr val="00B050"/>
                </a:buClr>
                <a:buSzPts val="2400"/>
                <a:buFont typeface="Calibri"/>
                <a:buChar char="●"/>
              </a:pPr>
              <a:r>
                <a:rPr b="1" lang="pt-BR" sz="15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Restauração Simples: 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Se qualquer servidor morrer, qualquer um dos repositórios dos clientes pode ser copiado de volta para o servidor para restaurá-lo.</a:t>
              </a:r>
              <a:endParaRPr b="1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0" lvl="0" marL="457200" rtl="0" algn="l">
                <a:spcBef>
                  <a:spcPts val="1500"/>
                </a:spcBef>
                <a:spcAft>
                  <a:spcPts val="1500"/>
                </a:spcAft>
                <a:buClr>
                  <a:srgbClr val="00B050"/>
                </a:buClr>
                <a:buSzPts val="2400"/>
                <a:buFont typeface="Calibri"/>
                <a:buChar char="●"/>
              </a:pPr>
              <a:r>
                <a:rPr b="1" lang="pt-BR" sz="15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Backup de Fato: 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Cada clone local é, na verdade, um backup completo de todos os dados do projeto.</a:t>
              </a:r>
              <a:endParaRPr b="1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/>
        </p:nvSpPr>
        <p:spPr>
          <a:xfrm>
            <a:off x="3631680" y="224280"/>
            <a:ext cx="4928400" cy="49248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7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descr="Diagrama&#10;&#10;Descrição gerada automaticamente" id="221" name="Google Shape;22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3640" y="607320"/>
            <a:ext cx="5244840" cy="624708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7"/>
          <p:cNvSpPr txBox="1"/>
          <p:nvPr/>
        </p:nvSpPr>
        <p:spPr>
          <a:xfrm>
            <a:off x="123480" y="1403280"/>
            <a:ext cx="7344000" cy="39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Distribuídos de Controle de Versão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27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0" name="Google Shape;230;p28"/>
          <p:cNvSpPr txBox="1"/>
          <p:nvPr/>
        </p:nvSpPr>
        <p:spPr>
          <a:xfrm>
            <a:off x="476250" y="1238250"/>
            <a:ext cx="11239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Sistemas Distribuídos de Controle de Versão</a:t>
            </a:r>
            <a:endParaRPr b="1" sz="20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28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28"/>
          <p:cNvGrpSpPr/>
          <p:nvPr/>
        </p:nvGrpSpPr>
        <p:grpSpPr>
          <a:xfrm>
            <a:off x="476250" y="1905000"/>
            <a:ext cx="5334000" cy="4191000"/>
            <a:chOff x="476250" y="1905000"/>
            <a:chExt cx="5334000" cy="4191000"/>
          </a:xfrm>
        </p:grpSpPr>
        <p:sp>
          <p:nvSpPr>
            <p:cNvPr id="233" name="Google Shape;233;p28"/>
            <p:cNvSpPr/>
            <p:nvPr/>
          </p:nvSpPr>
          <p:spPr>
            <a:xfrm>
              <a:off x="476250" y="1905000"/>
              <a:ext cx="5334000" cy="4191000"/>
            </a:xfrm>
            <a:prstGeom prst="roundRect">
              <a:avLst>
                <a:gd fmla="val 272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476250" y="1905000"/>
              <a:ext cx="76200" cy="41910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8"/>
            <p:cNvSpPr txBox="1"/>
            <p:nvPr/>
          </p:nvSpPr>
          <p:spPr>
            <a:xfrm>
              <a:off x="762000" y="2190750"/>
              <a:ext cx="47625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0284C7"/>
                  </a:solidFill>
                  <a:latin typeface="Calibri"/>
                  <a:ea typeface="Calibri"/>
                  <a:cs typeface="Calibri"/>
                  <a:sym typeface="Calibri"/>
                </a:rPr>
                <a:t>Repositórios Remotos</a:t>
              </a:r>
              <a:endParaRPr b="1" sz="2400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0" lvl="0" marL="457200" rtl="0" algn="l">
                <a:spcBef>
                  <a:spcPts val="1875"/>
                </a:spcBef>
                <a:spcAft>
                  <a:spcPts val="0"/>
                </a:spcAft>
                <a:buClr>
                  <a:srgbClr val="0284C7"/>
                </a:buClr>
                <a:buSzPts val="2400"/>
                <a:buFont typeface="Calibri"/>
                <a:buChar char="●"/>
              </a:pPr>
              <a:r>
                <a:rPr b="1" lang="pt-BR" sz="15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Colaboração Paralela: 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Trabalha de forma excelente com múltiplos repositórios remotos simultaneamente.</a:t>
              </a:r>
              <a:endParaRPr b="1" sz="2400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0" lvl="0" marL="457200" rtl="0" algn="l">
                <a:spcBef>
                  <a:spcPts val="1500"/>
                </a:spcBef>
                <a:spcAft>
                  <a:spcPts val="1500"/>
                </a:spcAft>
                <a:buClr>
                  <a:srgbClr val="0284C7"/>
                </a:buClr>
                <a:buSzPts val="2400"/>
                <a:buFont typeface="Calibri"/>
                <a:buChar char="●"/>
              </a:pPr>
              <a:r>
                <a:rPr b="1" lang="pt-BR" sz="15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Grupos Diversos: 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Permite colaborar com diferentes grupos de pessoas, de maneiras distintas, dentro do mesmo projeto.</a:t>
              </a:r>
              <a:endParaRPr b="1" sz="2400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28"/>
          <p:cNvGrpSpPr/>
          <p:nvPr/>
        </p:nvGrpSpPr>
        <p:grpSpPr>
          <a:xfrm>
            <a:off x="6381750" y="1905000"/>
            <a:ext cx="5334000" cy="4191000"/>
            <a:chOff x="6381750" y="1905000"/>
            <a:chExt cx="5334000" cy="4191000"/>
          </a:xfrm>
        </p:grpSpPr>
        <p:sp>
          <p:nvSpPr>
            <p:cNvPr id="237" name="Google Shape;237;p28"/>
            <p:cNvSpPr/>
            <p:nvPr/>
          </p:nvSpPr>
          <p:spPr>
            <a:xfrm>
              <a:off x="6381750" y="1905000"/>
              <a:ext cx="5334000" cy="4191000"/>
            </a:xfrm>
            <a:prstGeom prst="roundRect">
              <a:avLst>
                <a:gd fmla="val 272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8"/>
            <p:cNvSpPr/>
            <p:nvPr/>
          </p:nvSpPr>
          <p:spPr>
            <a:xfrm>
              <a:off x="6381750" y="1905000"/>
              <a:ext cx="76200" cy="4191000"/>
            </a:xfrm>
            <a:prstGeom prst="roundRect">
              <a:avLst>
                <a:gd fmla="val 50000" name="adj"/>
              </a:avLst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8"/>
            <p:cNvSpPr txBox="1"/>
            <p:nvPr/>
          </p:nvSpPr>
          <p:spPr>
            <a:xfrm>
              <a:off x="6667500" y="2190750"/>
              <a:ext cx="47625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Fluxos de Trabalho</a:t>
              </a:r>
              <a:endParaRPr b="1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0" lvl="0" marL="457200" rtl="0" algn="l">
                <a:spcBef>
                  <a:spcPts val="1875"/>
                </a:spcBef>
                <a:spcAft>
                  <a:spcPts val="0"/>
                </a:spcAft>
                <a:buClr>
                  <a:srgbClr val="00B050"/>
                </a:buClr>
                <a:buSzPts val="2400"/>
                <a:buFont typeface="Calibri"/>
                <a:buChar char="●"/>
              </a:pPr>
              <a:r>
                <a:rPr b="1" lang="pt-BR" sz="15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Flexibilidade de Processo: 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Permite configurar diversos tipos de fluxos de trabalho customizados para a equipe.</a:t>
              </a:r>
              <a:endParaRPr b="1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0" lvl="0" marL="457200" rtl="0" algn="l">
                <a:spcBef>
                  <a:spcPts val="1500"/>
                </a:spcBef>
                <a:spcAft>
                  <a:spcPts val="1500"/>
                </a:spcAft>
                <a:buClr>
                  <a:srgbClr val="00B050"/>
                </a:buClr>
                <a:buSzPts val="2400"/>
                <a:buFont typeface="Calibri"/>
                <a:buChar char="●"/>
              </a:pPr>
              <a:r>
                <a:rPr b="1" lang="pt-BR" sz="15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Modelos Hierárquicos: 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Suporta estruturas organizacionais complexas que seriam impossíveis em sistemas centralizados.</a:t>
              </a:r>
              <a:endParaRPr b="1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46" name="Google Shape;246;p29"/>
          <p:cNvSpPr txBox="1"/>
          <p:nvPr/>
        </p:nvSpPr>
        <p:spPr>
          <a:xfrm>
            <a:off x="224280" y="1259280"/>
            <a:ext cx="11743560" cy="45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esenho de um cachorro&#10;&#10;Descrição gerada automaticamente" id="247" name="Google Shape;24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8025" y="2281763"/>
            <a:ext cx="7255700" cy="302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Histórico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0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255" name="Google Shape;255;p30"/>
          <p:cNvGrpSpPr/>
          <p:nvPr/>
        </p:nvGrpSpPr>
        <p:grpSpPr>
          <a:xfrm>
            <a:off x="476250" y="2095500"/>
            <a:ext cx="5334000" cy="4000500"/>
            <a:chOff x="476250" y="2095500"/>
            <a:chExt cx="5334000" cy="4000500"/>
          </a:xfrm>
        </p:grpSpPr>
        <p:sp>
          <p:nvSpPr>
            <p:cNvPr id="256" name="Google Shape;256;p30"/>
            <p:cNvSpPr/>
            <p:nvPr/>
          </p:nvSpPr>
          <p:spPr>
            <a:xfrm>
              <a:off x="476250" y="2095500"/>
              <a:ext cx="5334000" cy="40005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0"/>
            <p:cNvSpPr/>
            <p:nvPr/>
          </p:nvSpPr>
          <p:spPr>
            <a:xfrm>
              <a:off x="476250" y="2095500"/>
              <a:ext cx="76200" cy="4000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0"/>
            <p:cNvSpPr txBox="1"/>
            <p:nvPr/>
          </p:nvSpPr>
          <p:spPr>
            <a:xfrm>
              <a:off x="762000" y="2381250"/>
              <a:ext cx="4762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0284C7"/>
                  </a:solidFill>
                  <a:latin typeface="Calibri"/>
                  <a:ea typeface="Calibri"/>
                  <a:cs typeface="Calibri"/>
                  <a:sym typeface="Calibri"/>
                </a:rPr>
                <a:t>2002: A Era BitKeeper</a:t>
              </a:r>
              <a:endParaRPr b="1" sz="2400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O núcleo do Linux é um projeto de código aberto com um escopo bastante grande. Na maior parte da manutenção inicial, as mudanças no código eram compartilhadas apenas como correções e arquivos comuns de texto.</a:t>
              </a:r>
              <a:endParaRPr b="0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Em 2002, para viabilizar a colaboração em larga escala, o projeto do Linux começou a usar um </a:t>
              </a:r>
              <a:r>
                <a:rPr b="1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DVCS proprietário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chamado </a:t>
              </a:r>
              <a:r>
                <a:rPr b="0" i="1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BitKeeper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p30"/>
          <p:cNvGrpSpPr/>
          <p:nvPr/>
        </p:nvGrpSpPr>
        <p:grpSpPr>
          <a:xfrm>
            <a:off x="6381750" y="2095500"/>
            <a:ext cx="5334000" cy="4000500"/>
            <a:chOff x="6381750" y="2095500"/>
            <a:chExt cx="5334000" cy="4000500"/>
          </a:xfrm>
        </p:grpSpPr>
        <p:sp>
          <p:nvSpPr>
            <p:cNvPr id="260" name="Google Shape;260;p30"/>
            <p:cNvSpPr/>
            <p:nvPr/>
          </p:nvSpPr>
          <p:spPr>
            <a:xfrm>
              <a:off x="6381750" y="2095500"/>
              <a:ext cx="5334000" cy="40005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0"/>
            <p:cNvSpPr/>
            <p:nvPr/>
          </p:nvSpPr>
          <p:spPr>
            <a:xfrm>
              <a:off x="6381750" y="2095500"/>
              <a:ext cx="76200" cy="4000500"/>
            </a:xfrm>
            <a:prstGeom prst="roundRect">
              <a:avLst>
                <a:gd fmla="val 50000" name="adj"/>
              </a:avLst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0"/>
            <p:cNvSpPr txBox="1"/>
            <p:nvPr/>
          </p:nvSpPr>
          <p:spPr>
            <a:xfrm>
              <a:off x="6667500" y="2381250"/>
              <a:ext cx="4762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97316"/>
                  </a:solidFill>
                  <a:latin typeface="Calibri"/>
                  <a:ea typeface="Calibri"/>
                  <a:cs typeface="Calibri"/>
                  <a:sym typeface="Calibri"/>
                </a:rPr>
                <a:t>2005: A Ruptura e o Git</a:t>
              </a:r>
              <a:endParaRPr b="1" sz="24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Em 2005, a relação entre a comunidade que desenvolvia o núcleo do Linux e a empresa proprietária do </a:t>
              </a:r>
              <a:r>
                <a:rPr b="0" i="1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BitKeeper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quebrou em pedaços, e a ferramenta gratuita passou a ser estritamente paga.</a:t>
              </a:r>
              <a:endParaRPr b="0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104775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Isto alertou a comunidade e especialmente </a:t>
              </a:r>
              <a:r>
                <a:rPr b="1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Linus Torvalds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, o criador do Linux, a iniciar o desenvolvimento urgente de sua própria ferramenta: o </a:t>
              </a:r>
              <a:r>
                <a:rPr b="1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Git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3" name="Google Shape;263;p30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6500" y="4429125"/>
            <a:ext cx="1333500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Histórico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71" name="Google Shape;271;p31"/>
          <p:cNvSpPr txBox="1"/>
          <p:nvPr/>
        </p:nvSpPr>
        <p:spPr>
          <a:xfrm>
            <a:off x="571500" y="1428750"/>
            <a:ext cx="3810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Metas do Novo Sistema</a:t>
            </a:r>
            <a:endParaRPr b="1" sz="2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 base nas lições do uso do </a:t>
            </a:r>
            <a:r>
              <a:rPr b="0" i="1" lang="pt-BR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BitKeeper</a:t>
            </a:r>
            <a:r>
              <a:rPr b="0" lang="pt-BR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, estes objetivos principais guiaram a criação da nova ferramenta.</a:t>
            </a:r>
            <a:endParaRPr b="0"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" y="342900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1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31"/>
          <p:cNvGrpSpPr/>
          <p:nvPr/>
        </p:nvGrpSpPr>
        <p:grpSpPr>
          <a:xfrm>
            <a:off x="4953000" y="1428750"/>
            <a:ext cx="6667500" cy="4572150"/>
            <a:chOff x="4953000" y="1428750"/>
            <a:chExt cx="6667500" cy="4572150"/>
          </a:xfrm>
        </p:grpSpPr>
        <p:sp>
          <p:nvSpPr>
            <p:cNvPr id="275" name="Google Shape;275;p31"/>
            <p:cNvSpPr/>
            <p:nvPr/>
          </p:nvSpPr>
          <p:spPr>
            <a:xfrm>
              <a:off x="4953000" y="1428750"/>
              <a:ext cx="6667500" cy="762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4953000" y="1428750"/>
              <a:ext cx="57300" cy="762000"/>
            </a:xfrm>
            <a:prstGeom prst="roundRect">
              <a:avLst>
                <a:gd fmla="val 50000" name="adj"/>
              </a:avLst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1"/>
            <p:cNvSpPr txBox="1"/>
            <p:nvPr/>
          </p:nvSpPr>
          <p:spPr>
            <a:xfrm>
              <a:off x="5200650" y="1428750"/>
              <a:ext cx="6229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F97316"/>
                  </a:solidFill>
                  <a:latin typeface="Calibri"/>
                  <a:ea typeface="Calibri"/>
                  <a:cs typeface="Calibri"/>
                  <a:sym typeface="Calibri"/>
                </a:rPr>
                <a:t>01.</a:t>
              </a:r>
              <a:r>
                <a:rPr b="1" lang="pt-BR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 Velocidade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4953000" y="2333625"/>
              <a:ext cx="6667500" cy="762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4953000" y="2333625"/>
              <a:ext cx="57300" cy="762000"/>
            </a:xfrm>
            <a:prstGeom prst="roundRect">
              <a:avLst>
                <a:gd fmla="val 50000" name="adj"/>
              </a:avLst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1"/>
            <p:cNvSpPr txBox="1"/>
            <p:nvPr/>
          </p:nvSpPr>
          <p:spPr>
            <a:xfrm>
              <a:off x="5200650" y="2333625"/>
              <a:ext cx="6229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F97316"/>
                  </a:solidFill>
                  <a:latin typeface="Calibri"/>
                  <a:ea typeface="Calibri"/>
                  <a:cs typeface="Calibri"/>
                  <a:sym typeface="Calibri"/>
                </a:rPr>
                <a:t>02.</a:t>
              </a:r>
              <a:r>
                <a:rPr b="1" lang="pt-BR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 Projeto Simples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4953000" y="3238500"/>
              <a:ext cx="6667500" cy="8574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4953000" y="323850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1"/>
            <p:cNvSpPr txBox="1"/>
            <p:nvPr/>
          </p:nvSpPr>
          <p:spPr>
            <a:xfrm>
              <a:off x="5200650" y="3238500"/>
              <a:ext cx="6229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F97316"/>
                  </a:solidFill>
                  <a:latin typeface="Calibri"/>
                  <a:ea typeface="Calibri"/>
                  <a:cs typeface="Calibri"/>
                  <a:sym typeface="Calibri"/>
                </a:rPr>
                <a:t>03.</a:t>
              </a:r>
              <a:r>
                <a:rPr b="1" lang="pt-BR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 Desenvolvimento Não-Linear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t-BR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Forte suporte para milhares de ramos (branches) paralelos</a:t>
              </a:r>
              <a:endParaRPr b="0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4953000" y="4238625"/>
              <a:ext cx="6667500" cy="762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953000" y="4238625"/>
              <a:ext cx="57300" cy="762000"/>
            </a:xfrm>
            <a:prstGeom prst="roundRect">
              <a:avLst>
                <a:gd fmla="val 50000" name="adj"/>
              </a:avLst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1"/>
            <p:cNvSpPr txBox="1"/>
            <p:nvPr/>
          </p:nvSpPr>
          <p:spPr>
            <a:xfrm>
              <a:off x="5200650" y="4238625"/>
              <a:ext cx="6229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F97316"/>
                  </a:solidFill>
                  <a:latin typeface="Calibri"/>
                  <a:ea typeface="Calibri"/>
                  <a:cs typeface="Calibri"/>
                  <a:sym typeface="Calibri"/>
                </a:rPr>
                <a:t>04.</a:t>
              </a:r>
              <a:r>
                <a:rPr b="1" lang="pt-BR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 Completamente Distribuído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4953000" y="5143500"/>
              <a:ext cx="6667500" cy="8574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4953000" y="514350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1"/>
            <p:cNvSpPr txBox="1"/>
            <p:nvPr/>
          </p:nvSpPr>
          <p:spPr>
            <a:xfrm>
              <a:off x="5200650" y="5143500"/>
              <a:ext cx="6229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F97316"/>
                  </a:solidFill>
                  <a:latin typeface="Calibri"/>
                  <a:ea typeface="Calibri"/>
                  <a:cs typeface="Calibri"/>
                  <a:sym typeface="Calibri"/>
                </a:rPr>
                <a:t>05.</a:t>
              </a:r>
              <a:r>
                <a:rPr b="1" lang="pt-BR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 Alta Capacidade e Escalabilidade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t-BR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Eficiência total para lidar com projetos gigantescos como o núcleo do Linux</a:t>
              </a:r>
              <a:endParaRPr b="0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2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Histórico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2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296" name="Google Shape;296;p32"/>
          <p:cNvGrpSpPr/>
          <p:nvPr/>
        </p:nvGrpSpPr>
        <p:grpSpPr>
          <a:xfrm>
            <a:off x="571500" y="1714500"/>
            <a:ext cx="11049000" cy="4381500"/>
            <a:chOff x="571500" y="1714500"/>
            <a:chExt cx="11049000" cy="4381500"/>
          </a:xfrm>
        </p:grpSpPr>
        <p:sp>
          <p:nvSpPr>
            <p:cNvPr id="297" name="Google Shape;297;p32"/>
            <p:cNvSpPr/>
            <p:nvPr/>
          </p:nvSpPr>
          <p:spPr>
            <a:xfrm>
              <a:off x="571500" y="1714500"/>
              <a:ext cx="5334000" cy="4381500"/>
            </a:xfrm>
            <a:prstGeom prst="roundRect">
              <a:avLst>
                <a:gd fmla="val 260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2"/>
            <p:cNvSpPr/>
            <p:nvPr/>
          </p:nvSpPr>
          <p:spPr>
            <a:xfrm>
              <a:off x="571500" y="1714500"/>
              <a:ext cx="76200" cy="4381500"/>
            </a:xfrm>
            <a:prstGeom prst="roundRect">
              <a:avLst>
                <a:gd fmla="val 50000" name="adj"/>
              </a:avLst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2"/>
            <p:cNvSpPr txBox="1"/>
            <p:nvPr/>
          </p:nvSpPr>
          <p:spPr>
            <a:xfrm>
              <a:off x="904875" y="2000250"/>
              <a:ext cx="46674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97316"/>
                  </a:solidFill>
                  <a:latin typeface="Calibri"/>
                  <a:ea typeface="Calibri"/>
                  <a:cs typeface="Calibri"/>
                  <a:sym typeface="Calibri"/>
                </a:rPr>
                <a:t>O Impacto do Git</a:t>
              </a:r>
              <a:endParaRPr b="1" sz="24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Revolucionando o Controle de Versão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Desde seu nascimento em 2005, o </a:t>
              </a:r>
              <a:r>
                <a:rPr b="1" lang="pt-BR" sz="1500">
                  <a:solidFill>
                    <a:srgbClr val="F97316"/>
                  </a:solidFill>
                  <a:latin typeface="Calibri"/>
                  <a:ea typeface="Calibri"/>
                  <a:cs typeface="Calibri"/>
                  <a:sym typeface="Calibri"/>
                </a:rPr>
                <a:t>Git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evoluiu e amadureceu para ser fácil de usar e ainda reter essas qualidades iniciais.</a:t>
              </a:r>
              <a:endParaRPr b="0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Ele é </a:t>
              </a:r>
              <a:r>
                <a:rPr b="1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incrivelmente rápido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, muito eficiente com projetos grandes, e possui um incrível sistema de ramos para desenvolvimento não linear.</a:t>
              </a:r>
              <a:endParaRPr b="0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32"/>
            <p:cNvSpPr/>
            <p:nvPr/>
          </p:nvSpPr>
          <p:spPr>
            <a:xfrm>
              <a:off x="6286500" y="1714500"/>
              <a:ext cx="5334000" cy="4381500"/>
            </a:xfrm>
            <a:prstGeom prst="roundRect">
              <a:avLst>
                <a:gd fmla="val 260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2"/>
            <p:cNvSpPr/>
            <p:nvPr/>
          </p:nvSpPr>
          <p:spPr>
            <a:xfrm>
              <a:off x="6286500" y="1714500"/>
              <a:ext cx="76200" cy="4381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2"/>
            <p:cNvSpPr txBox="1"/>
            <p:nvPr/>
          </p:nvSpPr>
          <p:spPr>
            <a:xfrm>
              <a:off x="6619875" y="2000250"/>
              <a:ext cx="4667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0284C7"/>
                  </a:solidFill>
                  <a:latin typeface="Calibri"/>
                  <a:ea typeface="Calibri"/>
                  <a:cs typeface="Calibri"/>
                  <a:sym typeface="Calibri"/>
                </a:rPr>
                <a:t>Desenvolvimento Não Linear</a:t>
              </a:r>
              <a:endParaRPr b="1" sz="2400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3" name="Google Shape;303;p32"/>
            <p:cNvPicPr preferRelativeResize="0"/>
            <p:nvPr/>
          </p:nvPicPr>
          <p:blipFill rotWithShape="1">
            <a:blip r:embed="rId3">
              <a:alphaModFix/>
            </a:blip>
            <a:srcRect b="0" l="524" r="534" t="0"/>
            <a:stretch/>
          </p:blipFill>
          <p:spPr>
            <a:xfrm>
              <a:off x="6524625" y="2571750"/>
              <a:ext cx="4857900" cy="30003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4" name="Google Shape;304;p32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3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3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11" name="Google Shape;311;p33"/>
          <p:cNvSpPr/>
          <p:nvPr/>
        </p:nvSpPr>
        <p:spPr>
          <a:xfrm>
            <a:off x="571500" y="1714500"/>
            <a:ext cx="5334000" cy="4381500"/>
          </a:xfrm>
          <a:prstGeom prst="roundRect">
            <a:avLst>
              <a:gd fmla="val 260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3"/>
          <p:cNvSpPr/>
          <p:nvPr/>
        </p:nvSpPr>
        <p:spPr>
          <a:xfrm>
            <a:off x="6286500" y="1714500"/>
            <a:ext cx="5334000" cy="4381500"/>
          </a:xfrm>
          <a:prstGeom prst="roundRect">
            <a:avLst>
              <a:gd fmla="val 260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3"/>
          <p:cNvSpPr/>
          <p:nvPr/>
        </p:nvSpPr>
        <p:spPr>
          <a:xfrm>
            <a:off x="571500" y="1714500"/>
            <a:ext cx="76200" cy="4381500"/>
          </a:xfrm>
          <a:prstGeom prst="roundRect">
            <a:avLst>
              <a:gd fmla="val 5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3"/>
          <p:cNvSpPr/>
          <p:nvPr/>
        </p:nvSpPr>
        <p:spPr>
          <a:xfrm>
            <a:off x="6286500" y="1714500"/>
            <a:ext cx="76200" cy="43815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5" name="Google Shape;315;p33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3"/>
          <p:cNvSpPr txBox="1"/>
          <p:nvPr/>
        </p:nvSpPr>
        <p:spPr>
          <a:xfrm>
            <a:off x="904875" y="2000250"/>
            <a:ext cx="46674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O Básico do Git</a:t>
            </a:r>
            <a:endParaRPr b="1" sz="2400">
              <a:solidFill>
                <a:srgbClr val="F973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Então, o que é o Git em poucas palavras?</a:t>
            </a:r>
            <a:endParaRPr b="1"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 Git trata seus dados como um conjunto de </a:t>
            </a:r>
            <a:r>
              <a:rPr b="1" lang="pt-BR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imagens</a:t>
            </a:r>
            <a:r>
              <a:rPr b="0" lang="pt-BR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 um sistema de arquivos em miniatura. Toda vez que você faz um </a:t>
            </a:r>
            <a:r>
              <a:rPr b="1" lang="pt-BR" sz="15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0" lang="pt-BR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ele tira uma foto e armazena uma referência.</a:t>
            </a:r>
            <a:endParaRPr b="0" sz="15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Para ser eficiente, se os arquivos não mudaram, ele apenas aponta para o arquivo anterior. O Git gerencia seus dados mais como um </a:t>
            </a:r>
            <a:r>
              <a:rPr b="1" lang="pt-BR" sz="15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fluxo do estado dos arquivos</a:t>
            </a:r>
            <a:r>
              <a:rPr b="0" lang="pt-BR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15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3"/>
          <p:cNvSpPr txBox="1"/>
          <p:nvPr/>
        </p:nvSpPr>
        <p:spPr>
          <a:xfrm>
            <a:off x="6619875" y="2000250"/>
            <a:ext cx="46674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Em Caso de Emergência</a:t>
            </a:r>
            <a:endParaRPr b="1" sz="2400">
              <a:solidFill>
                <a:srgbClr val="0284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2619375"/>
            <a:ext cx="4191000" cy="2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325" name="Google Shape;325;p34"/>
          <p:cNvGrpSpPr/>
          <p:nvPr/>
        </p:nvGrpSpPr>
        <p:grpSpPr>
          <a:xfrm>
            <a:off x="571500" y="1714500"/>
            <a:ext cx="5334000" cy="4381500"/>
            <a:chOff x="571500" y="1714500"/>
            <a:chExt cx="5334000" cy="4381500"/>
          </a:xfrm>
        </p:grpSpPr>
        <p:sp>
          <p:nvSpPr>
            <p:cNvPr id="326" name="Google Shape;326;p34"/>
            <p:cNvSpPr/>
            <p:nvPr/>
          </p:nvSpPr>
          <p:spPr>
            <a:xfrm>
              <a:off x="571500" y="1714500"/>
              <a:ext cx="5334000" cy="4381500"/>
            </a:xfrm>
            <a:prstGeom prst="roundRect">
              <a:avLst>
                <a:gd fmla="val 260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4"/>
            <p:cNvSpPr/>
            <p:nvPr/>
          </p:nvSpPr>
          <p:spPr>
            <a:xfrm>
              <a:off x="571500" y="1714500"/>
              <a:ext cx="76200" cy="4381500"/>
            </a:xfrm>
            <a:prstGeom prst="roundRect">
              <a:avLst>
                <a:gd fmla="val 50000" name="adj"/>
              </a:avLst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4"/>
            <p:cNvSpPr txBox="1"/>
            <p:nvPr/>
          </p:nvSpPr>
          <p:spPr>
            <a:xfrm>
              <a:off x="904875" y="2000250"/>
              <a:ext cx="4667400" cy="38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97316"/>
                  </a:solidFill>
                  <a:latin typeface="Calibri"/>
                  <a:ea typeface="Calibri"/>
                  <a:cs typeface="Calibri"/>
                  <a:sym typeface="Calibri"/>
                </a:rPr>
                <a:t>Operações Locais &amp; Offline</a:t>
              </a:r>
              <a:endParaRPr b="1" sz="24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Controle total sem dependência de rede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500">
                  <a:solidFill>
                    <a:srgbClr val="F97316"/>
                  </a:solidFill>
                  <a:latin typeface="Calibri"/>
                  <a:ea typeface="Calibri"/>
                  <a:cs typeface="Calibri"/>
                  <a:sym typeface="Calibri"/>
                </a:rPr>
                <a:t>• Independência de Rede: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A maioria das operações no Git só precisa de arquivos e recursos locais para operar, sem necessidade de outro computador na rede.</a:t>
              </a:r>
              <a:endParaRPr b="0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500">
                  <a:solidFill>
                    <a:srgbClr val="F97316"/>
                  </a:solidFill>
                  <a:latin typeface="Calibri"/>
                  <a:ea typeface="Calibri"/>
                  <a:cs typeface="Calibri"/>
                  <a:sym typeface="Calibri"/>
                </a:rPr>
                <a:t>• Commits Offline: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Você pode fazer commits mesmo sem conexão para enviar os arquivos. Em outros sistemas, isso é impossível ou doloroso.</a:t>
              </a:r>
              <a:endParaRPr b="0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9" name="Google Shape;329;p34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" name="Google Shape;330;p34"/>
          <p:cNvGrpSpPr/>
          <p:nvPr/>
        </p:nvGrpSpPr>
        <p:grpSpPr>
          <a:xfrm>
            <a:off x="6286500" y="1714500"/>
            <a:ext cx="5334000" cy="4381500"/>
            <a:chOff x="6286500" y="1714500"/>
            <a:chExt cx="5334000" cy="4381500"/>
          </a:xfrm>
        </p:grpSpPr>
        <p:sp>
          <p:nvSpPr>
            <p:cNvPr id="331" name="Google Shape;331;p34"/>
            <p:cNvSpPr/>
            <p:nvPr/>
          </p:nvSpPr>
          <p:spPr>
            <a:xfrm>
              <a:off x="6286500" y="1714500"/>
              <a:ext cx="5334000" cy="4381500"/>
            </a:xfrm>
            <a:prstGeom prst="roundRect">
              <a:avLst>
                <a:gd fmla="val 260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4"/>
            <p:cNvSpPr/>
            <p:nvPr/>
          </p:nvSpPr>
          <p:spPr>
            <a:xfrm>
              <a:off x="6286500" y="1714500"/>
              <a:ext cx="76200" cy="4381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4"/>
            <p:cNvSpPr txBox="1"/>
            <p:nvPr/>
          </p:nvSpPr>
          <p:spPr>
            <a:xfrm>
              <a:off x="6619875" y="2000250"/>
              <a:ext cx="4667400" cy="38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0284C7"/>
                  </a:solidFill>
                  <a:latin typeface="Calibri"/>
                  <a:ea typeface="Calibri"/>
                  <a:cs typeface="Calibri"/>
                  <a:sym typeface="Calibri"/>
                </a:rPr>
                <a:t>Velocidade &amp; Histórico</a:t>
              </a:r>
              <a:endParaRPr b="1" sz="2400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Processamento local ultra-rápido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500">
                  <a:solidFill>
                    <a:srgbClr val="0284C7"/>
                  </a:solidFill>
                  <a:latin typeface="Calibri"/>
                  <a:ea typeface="Calibri"/>
                  <a:cs typeface="Calibri"/>
                  <a:sym typeface="Calibri"/>
                </a:rPr>
                <a:t>• Operações Instantâneas: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Como você tem todo o histórico do projeto em seu disco local, a maioria das operações parece quase instantânea.</a:t>
              </a:r>
              <a:endParaRPr b="0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500">
                  <a:solidFill>
                    <a:srgbClr val="0284C7"/>
                  </a:solidFill>
                  <a:latin typeface="Calibri"/>
                  <a:ea typeface="Calibri"/>
                  <a:cs typeface="Calibri"/>
                  <a:sym typeface="Calibri"/>
                </a:rPr>
                <a:t>• Diferença Local:</a:t>
              </a:r>
              <a:r>
                <a:rPr b="0" lang="pt-BR" sz="15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Para ver as alterações entre a versão atual e um arquivo de um mês atrás, o Git faz um cálculo de diferença local imediato.</a:t>
              </a:r>
              <a:endParaRPr b="0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5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40" name="Google Shape;340;p35"/>
          <p:cNvSpPr/>
          <p:nvPr/>
        </p:nvSpPr>
        <p:spPr>
          <a:xfrm>
            <a:off x="571500" y="1714500"/>
            <a:ext cx="6875700" cy="4381500"/>
          </a:xfrm>
          <a:prstGeom prst="roundRect">
            <a:avLst>
              <a:gd fmla="val 260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5"/>
          <p:cNvSpPr/>
          <p:nvPr/>
        </p:nvSpPr>
        <p:spPr>
          <a:xfrm>
            <a:off x="8107050" y="1714500"/>
            <a:ext cx="3513300" cy="4381500"/>
          </a:xfrm>
          <a:prstGeom prst="roundRect">
            <a:avLst>
              <a:gd fmla="val 260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35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5"/>
          <p:cNvSpPr/>
          <p:nvPr/>
        </p:nvSpPr>
        <p:spPr>
          <a:xfrm>
            <a:off x="571500" y="1714500"/>
            <a:ext cx="76200" cy="4381500"/>
          </a:xfrm>
          <a:prstGeom prst="roundRect">
            <a:avLst>
              <a:gd fmla="val 5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5"/>
          <p:cNvSpPr/>
          <p:nvPr/>
        </p:nvSpPr>
        <p:spPr>
          <a:xfrm>
            <a:off x="7739000" y="1714500"/>
            <a:ext cx="76200" cy="43815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5"/>
          <p:cNvSpPr txBox="1"/>
          <p:nvPr/>
        </p:nvSpPr>
        <p:spPr>
          <a:xfrm>
            <a:off x="904875" y="2000250"/>
            <a:ext cx="63381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Git Tem Integridade</a:t>
            </a:r>
            <a:endParaRPr b="1" sz="2600">
              <a:solidFill>
                <a:srgbClr val="F973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Verificação por Checksum</a:t>
            </a:r>
            <a:endParaRPr b="1" sz="18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• Rastreabilidade Total:</a:t>
            </a:r>
            <a:r>
              <a:rPr b="0" lang="pt-BR"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Tudo no Git passa por uma soma de verificações antes de ser armazenado e é referenciado por um hash SHA-1 ou SHA-256.</a:t>
            </a:r>
            <a:endParaRPr b="0" sz="16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• Conteúdo Protegido:</a:t>
            </a:r>
            <a:r>
              <a:rPr b="0" lang="pt-BR"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É impossível mudar o conteúdo de qualquer arquivo ou pasta sem que o Git saiba.</a:t>
            </a:r>
            <a:endParaRPr b="0" sz="16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• Filosofia Nativa:</a:t>
            </a:r>
            <a:r>
              <a:rPr b="0" lang="pt-BR"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Proteção incorporada nos níveis mais baixos. Você não perderá informação na transferência nem receberá arquivos corrompidos.</a:t>
            </a:r>
            <a:endParaRPr b="0" sz="16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5"/>
          <p:cNvSpPr txBox="1"/>
          <p:nvPr/>
        </p:nvSpPr>
        <p:spPr>
          <a:xfrm>
            <a:off x="8311300" y="2000250"/>
            <a:ext cx="3173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Mapeamento de Arquivos</a:t>
            </a:r>
            <a:endParaRPr b="1" sz="2300">
              <a:solidFill>
                <a:srgbClr val="0284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35"/>
          <p:cNvPicPr preferRelativeResize="0"/>
          <p:nvPr/>
        </p:nvPicPr>
        <p:blipFill rotWithShape="1">
          <a:blip r:embed="rId4">
            <a:alphaModFix/>
          </a:blip>
          <a:srcRect b="0" l="9839" r="9847" t="0"/>
          <a:stretch/>
        </p:blipFill>
        <p:spPr>
          <a:xfrm>
            <a:off x="8702400" y="3092400"/>
            <a:ext cx="2322600" cy="1625700"/>
          </a:xfrm>
          <a:prstGeom prst="roundRect">
            <a:avLst>
              <a:gd fmla="val 389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6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6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54" name="Google Shape;354;p36"/>
          <p:cNvSpPr txBox="1"/>
          <p:nvPr/>
        </p:nvSpPr>
        <p:spPr>
          <a:xfrm>
            <a:off x="571500" y="1238250"/>
            <a:ext cx="11049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Agora, preste atenção!</a:t>
            </a:r>
            <a:r>
              <a:rPr b="0" lang="pt-BR"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Esta é a principal coisa a lembrar sobre Git. O Git tem três estados principais em que seus arquivos podem estar: </a:t>
            </a:r>
            <a:r>
              <a:rPr b="1" lang="pt-BR" sz="18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committed</a:t>
            </a:r>
            <a:r>
              <a:rPr b="0" lang="pt-BR"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pt-BR" sz="18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modified</a:t>
            </a:r>
            <a:r>
              <a:rPr b="0" lang="pt-BR"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lang="pt-BR" sz="18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staged</a:t>
            </a:r>
            <a:r>
              <a:rPr b="0" lang="pt-BR"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18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36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36"/>
          <p:cNvGrpSpPr/>
          <p:nvPr/>
        </p:nvGrpSpPr>
        <p:grpSpPr>
          <a:xfrm>
            <a:off x="8317900" y="2232000"/>
            <a:ext cx="3486300" cy="4000500"/>
            <a:chOff x="571500" y="2095500"/>
            <a:chExt cx="3486300" cy="4000500"/>
          </a:xfrm>
        </p:grpSpPr>
        <p:sp>
          <p:nvSpPr>
            <p:cNvPr id="357" name="Google Shape;357;p36"/>
            <p:cNvSpPr/>
            <p:nvPr/>
          </p:nvSpPr>
          <p:spPr>
            <a:xfrm>
              <a:off x="571500" y="2095500"/>
              <a:ext cx="3486300" cy="4000500"/>
            </a:xfrm>
            <a:prstGeom prst="roundRect">
              <a:avLst>
                <a:gd fmla="val 327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71500" y="2095500"/>
              <a:ext cx="76200" cy="40005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6"/>
            <p:cNvSpPr txBox="1"/>
            <p:nvPr/>
          </p:nvSpPr>
          <p:spPr>
            <a:xfrm>
              <a:off x="809625" y="2333625"/>
              <a:ext cx="30099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300">
                  <a:solidFill>
                    <a:srgbClr val="10B981"/>
                  </a:solidFill>
                  <a:latin typeface="Calibri"/>
                  <a:ea typeface="Calibri"/>
                  <a:cs typeface="Calibri"/>
                  <a:sym typeface="Calibri"/>
                </a:rPr>
                <a:t>Committed</a:t>
              </a:r>
              <a:endParaRPr b="1" sz="23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pt-BR" sz="17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Significa que os dados estão armazenados de forma segura em seu banco de dados </a:t>
              </a:r>
              <a:r>
                <a:rPr b="1" lang="pt-BR" sz="1700" u="sng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local</a:t>
              </a:r>
              <a:r>
                <a:rPr b="0" lang="pt-BR" sz="17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sz="17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36"/>
          <p:cNvGrpSpPr/>
          <p:nvPr/>
        </p:nvGrpSpPr>
        <p:grpSpPr>
          <a:xfrm>
            <a:off x="407750" y="2232000"/>
            <a:ext cx="3486300" cy="4000500"/>
            <a:chOff x="4343400" y="2095500"/>
            <a:chExt cx="3486300" cy="4000500"/>
          </a:xfrm>
        </p:grpSpPr>
        <p:sp>
          <p:nvSpPr>
            <p:cNvPr id="361" name="Google Shape;361;p36"/>
            <p:cNvSpPr/>
            <p:nvPr/>
          </p:nvSpPr>
          <p:spPr>
            <a:xfrm>
              <a:off x="4343400" y="2095500"/>
              <a:ext cx="3486300" cy="4000500"/>
            </a:xfrm>
            <a:prstGeom prst="roundRect">
              <a:avLst>
                <a:gd fmla="val 327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>
              <a:off x="4343400" y="2095500"/>
              <a:ext cx="76200" cy="40005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6"/>
            <p:cNvSpPr txBox="1"/>
            <p:nvPr/>
          </p:nvSpPr>
          <p:spPr>
            <a:xfrm>
              <a:off x="4581525" y="2333625"/>
              <a:ext cx="30099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300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Modified</a:t>
              </a:r>
              <a:endParaRPr b="1" sz="23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pt-BR" sz="17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Significa que você alterou o arquivo, mas ainda não fez o commit no seu banco de dados.</a:t>
              </a:r>
              <a:endParaRPr b="0" sz="17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36"/>
          <p:cNvGrpSpPr/>
          <p:nvPr/>
        </p:nvGrpSpPr>
        <p:grpSpPr>
          <a:xfrm>
            <a:off x="4362825" y="2232000"/>
            <a:ext cx="3486300" cy="4000500"/>
            <a:chOff x="8115300" y="2095500"/>
            <a:chExt cx="3486300" cy="4000500"/>
          </a:xfrm>
        </p:grpSpPr>
        <p:sp>
          <p:nvSpPr>
            <p:cNvPr id="365" name="Google Shape;365;p36"/>
            <p:cNvSpPr/>
            <p:nvPr/>
          </p:nvSpPr>
          <p:spPr>
            <a:xfrm>
              <a:off x="8115300" y="2095500"/>
              <a:ext cx="3486300" cy="4000500"/>
            </a:xfrm>
            <a:prstGeom prst="roundRect">
              <a:avLst>
                <a:gd fmla="val 327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8115300" y="2095500"/>
              <a:ext cx="76200" cy="40005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367" name="Google Shape;367;p36"/>
            <p:cNvSpPr txBox="1"/>
            <p:nvPr/>
          </p:nvSpPr>
          <p:spPr>
            <a:xfrm>
              <a:off x="8353425" y="2333625"/>
              <a:ext cx="30099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300">
                  <a:solidFill>
                    <a:srgbClr val="3B82F6"/>
                  </a:solidFill>
                  <a:latin typeface="Calibri"/>
                  <a:ea typeface="Calibri"/>
                  <a:cs typeface="Calibri"/>
                  <a:sym typeface="Calibri"/>
                </a:rPr>
                <a:t>Staged</a:t>
              </a:r>
              <a:endParaRPr b="1" sz="23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pt-BR" sz="17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Significa que você marcou a versão atual de um arquivo modificado para fazer parte de seu próximo commit.</a:t>
              </a:r>
              <a:endParaRPr b="0" sz="17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7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74" name="Google Shape;374;p37"/>
          <p:cNvSpPr txBox="1"/>
          <p:nvPr/>
        </p:nvSpPr>
        <p:spPr>
          <a:xfrm>
            <a:off x="571500" y="1238250"/>
            <a:ext cx="1104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Isso nos leva a três </a:t>
            </a:r>
            <a:r>
              <a:rPr b="1" lang="pt-BR" sz="18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seções principais</a:t>
            </a:r>
            <a:r>
              <a:rPr b="0" lang="pt-BR" sz="1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de um projeto Git:</a:t>
            </a:r>
            <a:endParaRPr b="0" sz="18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37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" name="Google Shape;376;p37"/>
          <p:cNvGrpSpPr/>
          <p:nvPr/>
        </p:nvGrpSpPr>
        <p:grpSpPr>
          <a:xfrm>
            <a:off x="571500" y="2095500"/>
            <a:ext cx="3486300" cy="4000500"/>
            <a:chOff x="571500" y="2095500"/>
            <a:chExt cx="3486300" cy="4000500"/>
          </a:xfrm>
        </p:grpSpPr>
        <p:sp>
          <p:nvSpPr>
            <p:cNvPr id="377" name="Google Shape;377;p37"/>
            <p:cNvSpPr/>
            <p:nvPr/>
          </p:nvSpPr>
          <p:spPr>
            <a:xfrm>
              <a:off x="571500" y="2095500"/>
              <a:ext cx="3486300" cy="4000500"/>
            </a:xfrm>
            <a:prstGeom prst="roundRect">
              <a:avLst>
                <a:gd fmla="val 327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571500" y="2095500"/>
              <a:ext cx="76200" cy="4000500"/>
            </a:xfrm>
            <a:prstGeom prst="roundRect">
              <a:avLst>
                <a:gd fmla="val 50000" name="adj"/>
              </a:avLst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7"/>
            <p:cNvSpPr txBox="1"/>
            <p:nvPr/>
          </p:nvSpPr>
          <p:spPr>
            <a:xfrm>
              <a:off x="809625" y="2333625"/>
              <a:ext cx="3009900" cy="3524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300">
                  <a:solidFill>
                    <a:srgbClr val="F97316"/>
                  </a:solidFill>
                  <a:latin typeface="Calibri"/>
                  <a:ea typeface="Calibri"/>
                  <a:cs typeface="Calibri"/>
                  <a:sym typeface="Calibri"/>
                </a:rPr>
                <a:t>Working Directory</a:t>
              </a:r>
              <a:endParaRPr b="1" sz="23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pt-BR" sz="16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Uma cópia simples de uma versão do projeto. Estes arquivos são recuperados do banco de dados compactado do diretório Git e colocados no disco para você usar ou modificar.</a:t>
              </a:r>
              <a:endParaRPr b="0"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" name="Google Shape;380;p37"/>
          <p:cNvGrpSpPr/>
          <p:nvPr/>
        </p:nvGrpSpPr>
        <p:grpSpPr>
          <a:xfrm>
            <a:off x="4343400" y="2095500"/>
            <a:ext cx="3486300" cy="4000500"/>
            <a:chOff x="4343400" y="2095500"/>
            <a:chExt cx="3486300" cy="4000500"/>
          </a:xfrm>
        </p:grpSpPr>
        <p:sp>
          <p:nvSpPr>
            <p:cNvPr id="381" name="Google Shape;381;p37"/>
            <p:cNvSpPr/>
            <p:nvPr/>
          </p:nvSpPr>
          <p:spPr>
            <a:xfrm>
              <a:off x="4343400" y="2095500"/>
              <a:ext cx="3486300" cy="4000500"/>
            </a:xfrm>
            <a:prstGeom prst="roundRect">
              <a:avLst>
                <a:gd fmla="val 327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4343400" y="2095500"/>
              <a:ext cx="76200" cy="4000500"/>
            </a:xfrm>
            <a:prstGeom prst="roundRect">
              <a:avLst>
                <a:gd fmla="val 50000" name="adj"/>
              </a:avLst>
            </a:prstGeom>
            <a:solidFill>
              <a:srgbClr val="0891B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7"/>
            <p:cNvSpPr txBox="1"/>
            <p:nvPr/>
          </p:nvSpPr>
          <p:spPr>
            <a:xfrm>
              <a:off x="4581525" y="2333625"/>
              <a:ext cx="3009900" cy="3524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300">
                  <a:solidFill>
                    <a:srgbClr val="0891B2"/>
                  </a:solidFill>
                  <a:latin typeface="Calibri"/>
                  <a:ea typeface="Calibri"/>
                  <a:cs typeface="Calibri"/>
                  <a:sym typeface="Calibri"/>
                </a:rPr>
                <a:t>Staging Area</a:t>
              </a:r>
              <a:endParaRPr b="1" sz="2300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pt-BR" sz="16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Um arquivo, geralmente contido no diretório Git, que armazena informações sobre o que vai entrar no seu próximo </a:t>
              </a:r>
              <a:r>
                <a:rPr b="1" lang="pt-BR" sz="16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commit</a:t>
              </a:r>
              <a:r>
                <a:rPr b="0" lang="pt-BR" sz="16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. É por vezes referido como o "índice".</a:t>
              </a:r>
              <a:endParaRPr b="0"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37"/>
          <p:cNvGrpSpPr/>
          <p:nvPr/>
        </p:nvGrpSpPr>
        <p:grpSpPr>
          <a:xfrm>
            <a:off x="8115300" y="2095500"/>
            <a:ext cx="3486300" cy="4000500"/>
            <a:chOff x="8115300" y="2095500"/>
            <a:chExt cx="3486300" cy="4000500"/>
          </a:xfrm>
        </p:grpSpPr>
        <p:sp>
          <p:nvSpPr>
            <p:cNvPr id="385" name="Google Shape;385;p37"/>
            <p:cNvSpPr/>
            <p:nvPr/>
          </p:nvSpPr>
          <p:spPr>
            <a:xfrm>
              <a:off x="8115300" y="2095500"/>
              <a:ext cx="3486300" cy="4000500"/>
            </a:xfrm>
            <a:prstGeom prst="roundRect">
              <a:avLst>
                <a:gd fmla="val 327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8115300" y="2095500"/>
              <a:ext cx="76200" cy="4000500"/>
            </a:xfrm>
            <a:prstGeom prst="roundRect">
              <a:avLst>
                <a:gd fmla="val 50000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7"/>
            <p:cNvSpPr txBox="1"/>
            <p:nvPr/>
          </p:nvSpPr>
          <p:spPr>
            <a:xfrm>
              <a:off x="8353425" y="2333625"/>
              <a:ext cx="3009900" cy="3524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3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.git directory</a:t>
              </a:r>
              <a:endParaRPr b="1" sz="2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pt-BR" sz="16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Onde o Git armazena os metadados e o banco de dados de objetos de seu projeto. É a parte mais importante, copiada integralmente quando você realiza o </a:t>
              </a:r>
              <a:r>
                <a:rPr b="0" i="1" lang="pt-BR" sz="16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clone</a:t>
              </a:r>
              <a:r>
                <a:rPr b="0" lang="pt-BR" sz="16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de um repositório.</a:t>
              </a:r>
              <a:endParaRPr b="0"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8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descr="Linha do tempo&#10;&#10;Descrição gerada automaticamente" id="394" name="Google Shape;39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3720" y="1652040"/>
            <a:ext cx="9213120" cy="50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8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9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vetorial e minimalista com base nas informações deste slida" id="401" name="Google Shape;40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6" y="35724"/>
            <a:ext cx="12192000" cy="67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0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0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08" name="Google Shape;408;p40"/>
          <p:cNvSpPr txBox="1"/>
          <p:nvPr/>
        </p:nvSpPr>
        <p:spPr>
          <a:xfrm>
            <a:off x="224280" y="1776960"/>
            <a:ext cx="11743560" cy="2123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fluxo de trabalho básico Git é algo assim: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AutoNum type="arabicPeriod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Você modifica arquivos no seu diretório de trabalho.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AutoNum type="arabicPeriod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Você prepara os arquivos, adicionando imagens deles à sua área de preparo.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AutoNum type="arabicPeriod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Você faz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 que leva os arquivos como eles estão na área de preparo e armazena essa imagens de forma permanente para o diretório do Git.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ce gráfica do usuário, Aplicativo&#10;&#10;Descrição gerada automaticamente" id="409" name="Google Shape;40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0520" y="408600"/>
            <a:ext cx="3720960" cy="215856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0"/>
          <p:cNvSpPr txBox="1"/>
          <p:nvPr/>
        </p:nvSpPr>
        <p:spPr>
          <a:xfrm>
            <a:off x="181080" y="4091760"/>
            <a:ext cx="11844000" cy="110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 uma versão específica de um arquivo está no diretório Git, é considerado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commited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Se for modificado, mas foi adicionado à área de preparo, é considerado preparado. E se ele for alterado depois de ter sido carregado, mas não foi preparado, ele é considerado modificado.​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1" name="Google Shape;411;p40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1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418" name="Google Shape;418;p41"/>
          <p:cNvGrpSpPr/>
          <p:nvPr/>
        </p:nvGrpSpPr>
        <p:grpSpPr>
          <a:xfrm>
            <a:off x="476250" y="1524000"/>
            <a:ext cx="11239500" cy="4286400"/>
            <a:chOff x="476250" y="1524000"/>
            <a:chExt cx="11239500" cy="4286400"/>
          </a:xfrm>
        </p:grpSpPr>
        <p:sp>
          <p:nvSpPr>
            <p:cNvPr id="419" name="Google Shape;419;p41"/>
            <p:cNvSpPr/>
            <p:nvPr/>
          </p:nvSpPr>
          <p:spPr>
            <a:xfrm>
              <a:off x="476250" y="1524000"/>
              <a:ext cx="3429000" cy="42864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1"/>
            <p:cNvSpPr/>
            <p:nvPr/>
          </p:nvSpPr>
          <p:spPr>
            <a:xfrm>
              <a:off x="476250" y="1524000"/>
              <a:ext cx="3429000" cy="95400"/>
            </a:xfrm>
            <a:prstGeom prst="roundRect">
              <a:avLst>
                <a:gd fmla="val 50000" name="adj"/>
              </a:avLst>
            </a:prstGeom>
            <a:solidFill>
              <a:srgbClr val="F051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1"/>
            <p:cNvSpPr txBox="1"/>
            <p:nvPr/>
          </p:nvSpPr>
          <p:spPr>
            <a:xfrm>
              <a:off x="714375" y="1857375"/>
              <a:ext cx="29529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Passo 01</a:t>
              </a:r>
              <a:endParaRPr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pt-BR" sz="21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Diretório de Trabalho</a:t>
              </a:r>
              <a:endParaRPr b="1" sz="2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Estado: Modificado</a:t>
              </a:r>
              <a:endParaRPr sz="1700">
                <a:highlight>
                  <a:srgbClr val="FEF2F2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pt-BR" sz="15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Você modifica arquivos diretamente no seu diretório local. Se um arquivo for alterado mas ainda não adicionado à área de preparo, ele é considerado </a:t>
              </a:r>
              <a:r>
                <a:rPr b="1" lang="pt-BR" sz="1550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modificado</a:t>
              </a:r>
              <a:r>
                <a:rPr lang="pt-BR" sz="15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1"/>
            <p:cNvSpPr/>
            <p:nvPr/>
          </p:nvSpPr>
          <p:spPr>
            <a:xfrm>
              <a:off x="4381500" y="1524000"/>
              <a:ext cx="3429000" cy="42864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1"/>
            <p:cNvSpPr/>
            <p:nvPr/>
          </p:nvSpPr>
          <p:spPr>
            <a:xfrm>
              <a:off x="4381500" y="1524000"/>
              <a:ext cx="3429000" cy="95400"/>
            </a:xfrm>
            <a:prstGeom prst="roundRect">
              <a:avLst>
                <a:gd fmla="val 50000" name="adj"/>
              </a:avLst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1"/>
            <p:cNvSpPr txBox="1"/>
            <p:nvPr/>
          </p:nvSpPr>
          <p:spPr>
            <a:xfrm>
              <a:off x="4619625" y="1857375"/>
              <a:ext cx="29529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Passo 02</a:t>
              </a:r>
              <a:endParaRPr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pt-BR" sz="21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Área de Preparo</a:t>
              </a:r>
              <a:endParaRPr b="1" sz="2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Estado: Preparado</a:t>
              </a:r>
              <a:endParaRPr sz="1700">
                <a:highlight>
                  <a:srgbClr val="F0F9FF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pt-BR" sz="15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Área temporária onde você junta as modificações prontas para salvar. Se os arquivos foram adicionados aqui, estão prontos e são considerados </a:t>
              </a:r>
              <a:r>
                <a:rPr b="1" lang="pt-BR" sz="155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preparados</a:t>
              </a:r>
              <a:r>
                <a:rPr lang="pt-BR" sz="15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41"/>
            <p:cNvSpPr/>
            <p:nvPr/>
          </p:nvSpPr>
          <p:spPr>
            <a:xfrm>
              <a:off x="8286750" y="1524000"/>
              <a:ext cx="3429000" cy="42864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1"/>
            <p:cNvSpPr/>
            <p:nvPr/>
          </p:nvSpPr>
          <p:spPr>
            <a:xfrm>
              <a:off x="8286750" y="1524000"/>
              <a:ext cx="3429000" cy="954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1"/>
            <p:cNvSpPr txBox="1"/>
            <p:nvPr/>
          </p:nvSpPr>
          <p:spPr>
            <a:xfrm>
              <a:off x="8524875" y="1857375"/>
              <a:ext cx="29529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Passo 03</a:t>
              </a:r>
              <a:endParaRPr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pt-BR" sz="21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Diretório Git</a:t>
              </a:r>
              <a:endParaRPr b="1" sz="2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10B981"/>
                  </a:solidFill>
                  <a:latin typeface="Calibri"/>
                  <a:ea typeface="Calibri"/>
                  <a:cs typeface="Calibri"/>
                  <a:sym typeface="Calibri"/>
                </a:rPr>
                <a:t>Estado: Commitado</a:t>
              </a:r>
              <a:endParaRPr sz="1700">
                <a:highlight>
                  <a:srgbClr val="ECFDF5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pt-BR" sz="15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O banco de dados permanente onde o Git armazena o histórico do projeto. Após realizar o commit, os arquivos salvos de forma definitiva são considerados </a:t>
              </a:r>
              <a:r>
                <a:rPr b="1" lang="pt-BR" sz="1550">
                  <a:solidFill>
                    <a:srgbClr val="10B981"/>
                  </a:solidFill>
                  <a:latin typeface="Calibri"/>
                  <a:ea typeface="Calibri"/>
                  <a:cs typeface="Calibri"/>
                  <a:sym typeface="Calibri"/>
                </a:rPr>
                <a:t>commitados</a:t>
              </a:r>
              <a:r>
                <a:rPr lang="pt-BR" sz="15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5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28" name="Google Shape;428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05263" y="3595688"/>
              <a:ext cx="2763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10513" y="3595688"/>
              <a:ext cx="276300" cy="142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30" name="Google Shape;430;p41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2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Instalação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2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437" name="Google Shape;437;p42"/>
          <p:cNvGrpSpPr/>
          <p:nvPr/>
        </p:nvGrpSpPr>
        <p:grpSpPr>
          <a:xfrm>
            <a:off x="1152900" y="1129749"/>
            <a:ext cx="9906150" cy="5261985"/>
            <a:chOff x="1143000" y="1714500"/>
            <a:chExt cx="9906150" cy="4286400"/>
          </a:xfrm>
        </p:grpSpPr>
        <p:sp>
          <p:nvSpPr>
            <p:cNvPr id="438" name="Google Shape;438;p42"/>
            <p:cNvSpPr/>
            <p:nvPr/>
          </p:nvSpPr>
          <p:spPr>
            <a:xfrm>
              <a:off x="1143000" y="1714500"/>
              <a:ext cx="4667400" cy="4286400"/>
            </a:xfrm>
            <a:prstGeom prst="roundRect">
              <a:avLst>
                <a:gd fmla="val 355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42"/>
            <p:cNvSpPr/>
            <p:nvPr/>
          </p:nvSpPr>
          <p:spPr>
            <a:xfrm>
              <a:off x="1143000" y="1714500"/>
              <a:ext cx="4667400" cy="95400"/>
            </a:xfrm>
            <a:prstGeom prst="roundRect">
              <a:avLst>
                <a:gd fmla="val 50000" name="adj"/>
              </a:avLst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42"/>
            <p:cNvSpPr txBox="1"/>
            <p:nvPr/>
          </p:nvSpPr>
          <p:spPr>
            <a:xfrm>
              <a:off x="1428750" y="2047875"/>
              <a:ext cx="40959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Ferramenta Original</a:t>
              </a:r>
              <a:endParaRPr b="1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pt-BR" sz="25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A Linha de Comando</a:t>
              </a:r>
              <a:endParaRPr b="1" sz="2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pt-BR" sz="175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1. Controle Total </a:t>
              </a:r>
              <a:r>
                <a:rPr lang="pt-BR" sz="17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Único lugar onde iremos rodar todos os comandos do Git. A maioria das GUIs implementa somente um subconjunto de funções.</a:t>
              </a:r>
              <a:endParaRPr sz="17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75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2. Aprendizado Progressivo</a:t>
              </a:r>
              <a:r>
                <a:rPr lang="pt-BR" sz="17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Se você sabe usar o Git na linha de comando, provavelmente descobrirá como rodar versões GUI (o oposto não é necessariamente verdade).</a:t>
              </a:r>
              <a:endParaRPr sz="17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75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3. Universalidade</a:t>
              </a:r>
              <a:r>
                <a:rPr lang="pt-BR" sz="17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Independente de gosto pessoal, todos os usuários terão as ferramentas de linha de comando instaladas e disponíveis por padrão.</a:t>
              </a:r>
              <a:endParaRPr sz="17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42"/>
            <p:cNvSpPr/>
            <p:nvPr/>
          </p:nvSpPr>
          <p:spPr>
            <a:xfrm>
              <a:off x="6381750" y="1714500"/>
              <a:ext cx="4667400" cy="4286400"/>
            </a:xfrm>
            <a:prstGeom prst="roundRect">
              <a:avLst>
                <a:gd fmla="val 355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" name="Google Shape;442;p42"/>
            <p:cNvSpPr/>
            <p:nvPr/>
          </p:nvSpPr>
          <p:spPr>
            <a:xfrm>
              <a:off x="6381750" y="1714500"/>
              <a:ext cx="4667400" cy="95400"/>
            </a:xfrm>
            <a:prstGeom prst="roundRect">
              <a:avLst>
                <a:gd fmla="val 50000" name="adj"/>
              </a:avLst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42"/>
            <p:cNvSpPr txBox="1"/>
            <p:nvPr/>
          </p:nvSpPr>
          <p:spPr>
            <a:xfrm>
              <a:off x="6667500" y="2047875"/>
              <a:ext cx="40959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Alternativas Visuais</a:t>
              </a:r>
              <a:endParaRPr b="1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pt-BR" sz="25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Interfaces Gráficas (GUI)</a:t>
              </a:r>
              <a:endParaRPr b="1" sz="2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pt-BR" sz="175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1. Recursos Limitados </a:t>
              </a:r>
              <a:r>
                <a:rPr lang="pt-BR" sz="17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As GUIs geralmente oferecem apenas uma parte simplificada do poder total do Git, agilizando tarefas comuns, mas não todas.</a:t>
              </a:r>
              <a:endParaRPr sz="17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75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2. Dependência Operacional</a:t>
              </a:r>
              <a:r>
                <a:rPr lang="pt-BR" sz="17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Dominar uma ferramenta gráfica específica cria uma dependência de interface, dificultando a migração ou depuração profunda de problemas.</a:t>
              </a:r>
              <a:endParaRPr sz="17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75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3. Preferência Pessoal</a:t>
              </a:r>
              <a:r>
                <a:rPr lang="pt-BR" sz="17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 escolha da interface gráfica é uma decisão puramente de gosto pessoal, enquanto a CLI permanece a fundação estável e comum a todos.</a:t>
              </a:r>
              <a:endParaRPr sz="17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4" name="Google Shape;444;p42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3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Instalação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3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51" name="Google Shape;451;p43"/>
          <p:cNvSpPr txBox="1"/>
          <p:nvPr/>
        </p:nvSpPr>
        <p:spPr>
          <a:xfrm>
            <a:off x="224280" y="1719360"/>
            <a:ext cx="11743560" cy="381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Instalando no Linux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1" marL="7430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 você deseja instalar o Git no Linux através de um instalador binário, você pode geralmente fazê-lo através da ferramenta básica de gerenciamento de pacotes que vem com sua distribuição. Se você usar Fedora por exemplo, você pode usar o yum: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    </a:t>
            </a:r>
            <a:r>
              <a:rPr b="0" i="0" lang="pt-BR" sz="2000" u="none" cap="none" strike="noStrike">
                <a:solidFill>
                  <a:srgbClr val="000000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$ sudo yum install git-all</a:t>
            </a:r>
            <a:endParaRPr b="0" i="0" sz="2000" u="none" cap="none" strike="noStrike">
              <a:highlight>
                <a:srgbClr val="F3F3F3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 a distribuição for baseada em Debian como o Ubuntu, use o apt-get: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   </a:t>
            </a:r>
            <a:r>
              <a:rPr lang="pt-BR" sz="2000"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 $ sudo apt-get install git-all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" name="Google Shape;45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4680" y="3616200"/>
            <a:ext cx="2743200" cy="3248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3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4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Instalação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4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60" name="Google Shape;460;p44"/>
          <p:cNvSpPr txBox="1"/>
          <p:nvPr/>
        </p:nvSpPr>
        <p:spPr>
          <a:xfrm>
            <a:off x="224280" y="1719360"/>
            <a:ext cx="117435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Instalando </a:t>
            </a:r>
            <a:r>
              <a:rPr b="1" lang="pt-BR" sz="2200">
                <a:latin typeface="Calibri"/>
                <a:ea typeface="Calibri"/>
                <a:cs typeface="Calibri"/>
                <a:sym typeface="Calibri"/>
              </a:rPr>
              <a:t>o Git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Antes de explorarmos tudo o que o Git tem a oferecer, precisamos preparar o ambiente. Isso significa instalar a ferramenta no seu sistema operacional e realizar a configuração inicial do usuário global e suas credenciais.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1" name="Google Shape;46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4680" y="3616200"/>
            <a:ext cx="2743200" cy="3248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4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5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Instalação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5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69" name="Google Shape;469;p45"/>
          <p:cNvSpPr txBox="1"/>
          <p:nvPr/>
        </p:nvSpPr>
        <p:spPr>
          <a:xfrm>
            <a:off x="224280" y="1719360"/>
            <a:ext cx="11743560" cy="246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Instalando no Windows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Há também algumas maneiras de instalar o Git no Windows. A compilação mais oficial está disponível para download no site do Git. Basta ir ao </a:t>
            </a:r>
            <a:r>
              <a:rPr b="0" i="0" lang="pt-BR" sz="2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http://git-scm.com/download/win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e o download começará automaticamente. Note que este é um projeto chamado Git para Windows (também chamado msysGit), que é algo separado do Git; para mais informações sobre isso, vá para </a:t>
            </a:r>
            <a:r>
              <a:rPr b="0" i="0" lang="pt-BR" sz="2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http://msysgit.github.io/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edifício, janela&#10;&#10;Descrição gerada automaticamente" id="470" name="Google Shape;470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48920" y="4094280"/>
            <a:ext cx="2743200" cy="2378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5" title="sc-arma.png"/>
          <p:cNvPicPr preferRelativeResize="0"/>
          <p:nvPr/>
        </p:nvPicPr>
        <p:blipFill rotWithShape="1">
          <a:blip r:embed="rId6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6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Configuração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6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78" name="Google Shape;478;p46"/>
          <p:cNvSpPr txBox="1"/>
          <p:nvPr/>
        </p:nvSpPr>
        <p:spPr>
          <a:xfrm>
            <a:off x="224280" y="1719360"/>
            <a:ext cx="11743560" cy="3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Configuração Inicial do Git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1" marL="7430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Agora que você tem o Git em seu sistema, você deve fazer algumas coisas para personalizar o ambiente Git. Você fará isso apenas uma vez por computador e o efeito se manterá após atualizações. Você também pode mudá-las em qualquer momento rodando esses comandos novamente.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1" marL="7430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Git vem com uma ferramenta chamada </a:t>
            </a: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config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que permite ver e atribuir variáveis de configuração que controlam todos os aspectos de como o Git aparece e opera.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9" name="Google Shape;479;p46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7"/>
          <p:cNvSpPr txBox="1"/>
          <p:nvPr/>
        </p:nvSpPr>
        <p:spPr>
          <a:xfrm>
            <a:off x="3631680" y="224280"/>
            <a:ext cx="4928400" cy="892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Configuração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7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486" name="Google Shape;486;p47"/>
          <p:cNvGrpSpPr/>
          <p:nvPr/>
        </p:nvGrpSpPr>
        <p:grpSpPr>
          <a:xfrm>
            <a:off x="762000" y="1714500"/>
            <a:ext cx="10668150" cy="4381500"/>
            <a:chOff x="762000" y="1714500"/>
            <a:chExt cx="10668150" cy="4381500"/>
          </a:xfrm>
        </p:grpSpPr>
        <p:sp>
          <p:nvSpPr>
            <p:cNvPr id="487" name="Google Shape;487;p47"/>
            <p:cNvSpPr/>
            <p:nvPr/>
          </p:nvSpPr>
          <p:spPr>
            <a:xfrm>
              <a:off x="762000" y="1714500"/>
              <a:ext cx="5048400" cy="4381500"/>
            </a:xfrm>
            <a:prstGeom prst="roundRect">
              <a:avLst>
                <a:gd fmla="val 3478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8" name="Google Shape;488;p47"/>
            <p:cNvSpPr/>
            <p:nvPr/>
          </p:nvSpPr>
          <p:spPr>
            <a:xfrm>
              <a:off x="6381750" y="1714500"/>
              <a:ext cx="5048400" cy="4381500"/>
            </a:xfrm>
            <a:prstGeom prst="roundRect">
              <a:avLst>
                <a:gd fmla="val 3478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9" name="Google Shape;489;p47"/>
            <p:cNvSpPr/>
            <p:nvPr/>
          </p:nvSpPr>
          <p:spPr>
            <a:xfrm>
              <a:off x="762000" y="1714500"/>
              <a:ext cx="5048400" cy="76200"/>
            </a:xfrm>
            <a:prstGeom prst="roundRect">
              <a:avLst>
                <a:gd fmla="val 50000" name="adj"/>
              </a:avLst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0" name="Google Shape;490;p47"/>
            <p:cNvSpPr/>
            <p:nvPr/>
          </p:nvSpPr>
          <p:spPr>
            <a:xfrm>
              <a:off x="6381750" y="1714500"/>
              <a:ext cx="5048400" cy="76200"/>
            </a:xfrm>
            <a:prstGeom prst="roundRect">
              <a:avLst>
                <a:gd fmla="val 50000" name="adj"/>
              </a:avLst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1" name="Google Shape;491;p47"/>
            <p:cNvSpPr txBox="1"/>
            <p:nvPr/>
          </p:nvSpPr>
          <p:spPr>
            <a:xfrm>
              <a:off x="1047750" y="2000250"/>
              <a:ext cx="44769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00B05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</a:t>
              </a:r>
              <a:r>
                <a:rPr lang="pt-BR" sz="4000">
                  <a:solidFill>
                    <a:srgbClr val="00B05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ptop  </a:t>
              </a:r>
              <a:r>
                <a:rPr b="1" lang="pt-BR" sz="2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Personalização Única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pt-BR" sz="19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Agora que o Git está em seu sistema, é hora de adequá-lo ao seu fluxo de trabalho:</a:t>
              </a:r>
              <a:endParaRPr sz="19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Calibri"/>
                <a:buChar char="●"/>
              </a:pPr>
              <a:r>
                <a:rPr b="1" lang="pt-BR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Apenas uma vez:</a:t>
              </a:r>
              <a:r>
                <a:rPr lang="pt-BR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A configuração é feita uma única vez por computador e persiste após atualizações do sistema.</a:t>
              </a:r>
              <a:endParaRPr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334155"/>
                </a:buClr>
                <a:buSzPts val="1800"/>
                <a:buFont typeface="Calibri"/>
                <a:buChar char="●"/>
              </a:pPr>
              <a:r>
                <a:rPr b="1" lang="pt-BR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Flexibilidade:</a:t>
              </a:r>
              <a:r>
                <a:rPr lang="pt-BR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Você tem total liberdade para alterar as definições a qualquer momento, bastando executar os comandos novamente.</a:t>
              </a:r>
              <a:endParaRPr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47"/>
            <p:cNvSpPr txBox="1"/>
            <p:nvPr/>
          </p:nvSpPr>
          <p:spPr>
            <a:xfrm>
              <a:off x="6667500" y="2000250"/>
              <a:ext cx="44769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00B05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settings_applications  </a:t>
              </a:r>
              <a:r>
                <a:rPr b="1" lang="pt-BR" sz="2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Controle e Variáveis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pt-BR" sz="19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O gerenciamento de comportamento do Git é centralizado e direto:</a:t>
              </a:r>
              <a:endParaRPr sz="19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Calibri"/>
                <a:buChar char="●"/>
              </a:pPr>
              <a:r>
                <a:rPr b="1" lang="pt-BR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Ferramenta nativa:</a:t>
              </a:r>
              <a:r>
                <a:rPr lang="pt-BR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O Git disponibiliza a poderosa ferramenta </a:t>
              </a:r>
              <a:r>
                <a:rPr b="1" lang="pt-BR" sz="1800">
                  <a:solidFill>
                    <a:srgbClr val="0F172A"/>
                  </a:solidFill>
                  <a:highlight>
                    <a:srgbClr val="E2E8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config</a:t>
              </a:r>
              <a:r>
                <a:rPr lang="pt-BR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334155"/>
                </a:buClr>
                <a:buSzPts val="1800"/>
                <a:buFont typeface="Calibri"/>
                <a:buChar char="●"/>
              </a:pPr>
              <a:r>
                <a:rPr b="1" lang="pt-BR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Customização total:</a:t>
              </a:r>
              <a:r>
                <a:rPr lang="pt-BR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Permite visualizar e atribuir variáveis de configuração que determinam exatamente como o Git aparece e opera no seu dia a dia.</a:t>
              </a:r>
              <a:endParaRPr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93" name="Google Shape;493;p47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8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Configuração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8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00" name="Google Shape;500;p48"/>
          <p:cNvSpPr txBox="1"/>
          <p:nvPr/>
        </p:nvSpPr>
        <p:spPr>
          <a:xfrm>
            <a:off x="117725" y="1546925"/>
            <a:ext cx="11976600" cy="48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Sua Identidade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primeira coisa que </a:t>
            </a: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devemos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fazer ao instalar Git é configurar </a:t>
            </a: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ome de usuário e endereço de e-mail. Isto é importante porque cada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usa esta informação carimbada de forma imutável nos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que você </a:t>
            </a: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vai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criar: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config --global user.name "Fulano de Tal"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config --global user.email fulanodetal@exemplo.br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Reiterando, isso somente precisará ser feito uma vez se tiver usado a opção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--global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porque o Git usará esta informação para qualquer tarefa naquele sistema.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48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9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Configuração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9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08" name="Google Shape;508;p49"/>
          <p:cNvSpPr txBox="1"/>
          <p:nvPr/>
        </p:nvSpPr>
        <p:spPr>
          <a:xfrm>
            <a:off x="224280" y="1719360"/>
            <a:ext cx="11743560" cy="30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Testando Suas Configurações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 você quiser testar as suas configurações, você pode usar o comando git config --list para listar todas as configurações que o Git conseguir encontrar naquele momento: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config –list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   user.name=Fulano de Tal    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user.email=fulanodetal@exemplo.br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&#10;&#10;Descrição gerada automaticamente" id="509" name="Google Shape;50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8040" y="3837960"/>
            <a:ext cx="27432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49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0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Configuração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50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17" name="Google Shape;517;p50"/>
          <p:cNvSpPr txBox="1"/>
          <p:nvPr/>
        </p:nvSpPr>
        <p:spPr>
          <a:xfrm>
            <a:off x="238680" y="1475280"/>
            <a:ext cx="11743560" cy="47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Pedindo Ajuda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 você precisar de ajuda para usar o Git, há três formas de acessar a página do manual de ajuda (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manpage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para qualquer um dos comandos Git: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help &lt;verb&gt; $ git &lt;verb&gt; --help $ man git-&lt;verb&gt;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 exemplo, você pode ver a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manpage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do commando config rodando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help config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Estes comandos podem ser acessados de qualquer lugar, mesmo desconectado.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p50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1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51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25" name="Google Shape;525;p51"/>
          <p:cNvSpPr txBox="1"/>
          <p:nvPr/>
        </p:nvSpPr>
        <p:spPr>
          <a:xfrm>
            <a:off x="224280" y="1273680"/>
            <a:ext cx="11743560" cy="477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Inicializando um Repositório em um Diretório Existente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 você começar a monitorar um projeto existente com Git, você deve ir para o diretório desse projeto executando: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cd /home/user/your_repository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depois digite: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init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Isso cria um novo subdiretório chamado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.git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que contém todos os arquivos necessários de seu repositório – um esqueleto de repositório Git. Neste ponto, nada em seu projeto é monitorado ainda. 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6" name="Google Shape;526;p51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2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52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33" name="Google Shape;533;p52"/>
          <p:cNvSpPr txBox="1"/>
          <p:nvPr/>
        </p:nvSpPr>
        <p:spPr>
          <a:xfrm>
            <a:off x="224280" y="1273680"/>
            <a:ext cx="11743560" cy="443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Inicializando um Repositório em um Diretório Existente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 começar a controlar o versionamento dos arquivos existentes e necessário fazer um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inicial. </a:t>
            </a:r>
            <a:b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1" marL="7430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Podemos fazer isso com alguns comandos </a:t>
            </a: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add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que especificam os arquivos que você quer monitorar, seguido de um </a:t>
            </a: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add *.c</a:t>
            </a:r>
            <a:br>
              <a:rPr b="0" i="0" lang="pt-BR" sz="1800" u="none" cap="none" strike="noStrike"/>
            </a:b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   $ git add index.html</a:t>
            </a:r>
            <a:br>
              <a:rPr b="0" i="0" lang="pt-BR" sz="1800" u="none" cap="none" strike="noStrike"/>
            </a:b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   $ git commit -m 'initial project version'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Veremos mais a frente o que esses comandos fazem. Mas neste ponto já temos um repositório Git com arquivos monitorados e um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inicial.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4" name="Google Shape;534;p52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3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53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41" name="Google Shape;541;p53"/>
          <p:cNvSpPr txBox="1"/>
          <p:nvPr/>
        </p:nvSpPr>
        <p:spPr>
          <a:xfrm>
            <a:off x="224218" y="1129680"/>
            <a:ext cx="11743500" cy="4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Clonando um Repositório Existente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Caso você queira obter a cópia de um </a:t>
            </a:r>
            <a:r>
              <a:rPr b="0" i="0" lang="pt-BR" sz="2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repositório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existente o comando para isso é </a:t>
            </a: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clone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 Cada versão de cada arquivo no histórico do projeto é obtida por padrão quando você executa </a:t>
            </a: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clone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 </a:t>
            </a:r>
            <a:b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1" marL="7430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Você clona um repositório com </a:t>
            </a: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clone [url]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Por exemplo, caso você queria clonar a biblioteca chamada </a:t>
            </a:r>
            <a:r>
              <a:rPr i="1" lang="pt-BR" sz="2200">
                <a:latin typeface="Calibri"/>
                <a:ea typeface="Calibri"/>
                <a:cs typeface="Calibri"/>
                <a:sym typeface="Calibri"/>
              </a:rPr>
              <a:t>codex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você pode fazer da seguinte forma: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clone </a:t>
            </a:r>
            <a:r>
              <a:rPr lang="pt-BR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https://github.com/openai/codex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Isso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cria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um diretório chamado </a:t>
            </a:r>
            <a:r>
              <a:rPr i="1" lang="pt-BR" sz="2200">
                <a:latin typeface="Calibri"/>
                <a:ea typeface="Calibri"/>
                <a:cs typeface="Calibri"/>
                <a:sym typeface="Calibri"/>
              </a:rPr>
              <a:t>codex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inicializa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um diretório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.git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dentro dele,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recebe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todos os dados deste repositório e deixa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disponível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cópia da última versão. Se você entrar no novo diretório </a:t>
            </a:r>
            <a:r>
              <a:rPr i="1" lang="pt-BR" sz="2200">
                <a:latin typeface="Calibri"/>
                <a:ea typeface="Calibri"/>
                <a:cs typeface="Calibri"/>
                <a:sym typeface="Calibri"/>
              </a:rPr>
              <a:t>codex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você verá os arquivos</a:t>
            </a: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prontos para serem utilizados.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2" name="Google Shape;542;p53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4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4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49" name="Google Shape;549;p54"/>
          <p:cNvSpPr txBox="1"/>
          <p:nvPr/>
        </p:nvSpPr>
        <p:spPr>
          <a:xfrm>
            <a:off x="224280" y="1273680"/>
            <a:ext cx="11743560" cy="446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Clonando um Repositório Existente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Caso você queira clonar o repositório em um diretório diferente de </a:t>
            </a:r>
            <a:r>
              <a:rPr i="1" lang="pt-BR" sz="2200">
                <a:latin typeface="Calibri"/>
                <a:ea typeface="Calibri"/>
                <a:cs typeface="Calibri"/>
                <a:sym typeface="Calibri"/>
              </a:rPr>
              <a:t>codex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é possível especificar esse diretório utilizando a opção abaixo: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    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clone </a:t>
            </a:r>
            <a:r>
              <a:rPr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git clone https://github.com/openai/codex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codex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1" marL="7430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Este comando faz exatamente a mesma coisa que o anterior, mas o diretório de destino será chamado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my</a:t>
            </a:r>
            <a:r>
              <a:rPr b="1" lang="pt-BR" sz="2200">
                <a:latin typeface="Calibri"/>
                <a:ea typeface="Calibri"/>
                <a:cs typeface="Calibri"/>
                <a:sym typeface="Calibri"/>
              </a:rPr>
              <a:t>codex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Git possui diversos protocolos de transferência que podemos utilizar. O exemplo anterior usa o protocolo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mas também podemos usar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git://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ou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user@server:path/to/repo.git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que usam o protocolo de transferência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SSH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0" name="Google Shape;550;p54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5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55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57" name="Google Shape;557;p55"/>
          <p:cNvSpPr txBox="1"/>
          <p:nvPr/>
        </p:nvSpPr>
        <p:spPr>
          <a:xfrm>
            <a:off x="224280" y="1273680"/>
            <a:ext cx="11743560" cy="51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Gravando Alterações em Seu Repositório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Uma vez criado o repositório Git para nosso projeto. P</a:t>
            </a: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oderemos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adicionar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alterações em nosso repositório cada vez que o projeto chegar a um estado que queiramos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registrar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Lembre-se que cada arquivo em seu diretório de trabalho pode estar em um dos seguintes estados: </a:t>
            </a:r>
            <a:b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pt-BR" sz="2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Rastreado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 Arquivos rastreados são arquivos que foram incluídos no último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snapshot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 eles podem ser</a:t>
            </a:r>
            <a:r>
              <a:rPr b="0" i="1" lang="pt-BR" sz="2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não modificados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pt-BR" sz="2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modificados</a:t>
            </a:r>
            <a:r>
              <a:rPr b="0" i="0" lang="pt-BR" sz="2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ou </a:t>
            </a:r>
            <a:r>
              <a:rPr b="0" i="1" lang="pt-BR" sz="2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preparados</a:t>
            </a:r>
            <a:r>
              <a:rPr b="0" i="0" lang="pt-BR" sz="2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(adicionados ao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Arquivos rastreados são os arquivos que o Git conhece.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pt-BR" sz="2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b="0" i="0" lang="pt-BR" sz="2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pt-BR" sz="2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rastreado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 Arquivos não rastreados são todos os outros - quaisquer arquivos em seu diretório de trabalho que não foram incluídos em seu último snapshot e não estão na área de stage. 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8" name="Google Shape;558;p55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6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56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5" name="Google Shape;565;p56"/>
          <p:cNvSpPr txBox="1"/>
          <p:nvPr/>
        </p:nvSpPr>
        <p:spPr>
          <a:xfrm>
            <a:off x="224280" y="1273680"/>
            <a:ext cx="11743560" cy="110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Assim que você </a:t>
            </a:r>
            <a:r>
              <a:rPr b="1" lang="pt-BR" sz="2200">
                <a:latin typeface="Calibri"/>
                <a:ea typeface="Calibri"/>
                <a:cs typeface="Calibri"/>
                <a:sym typeface="Calibri"/>
              </a:rPr>
              <a:t>editar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alguns arquivos, Git os considera modificados, porque você os editou desde o seu último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Você prepara os arquivos editados e então faz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das suas alterações, e o ciclo se repete.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ha do tempo&#10;&#10;Descrição gerada automaticamente" id="566" name="Google Shape;56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4480" y="2590200"/>
            <a:ext cx="9457560" cy="3920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56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7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7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4" name="Google Shape;574;p57"/>
          <p:cNvSpPr txBox="1"/>
          <p:nvPr/>
        </p:nvSpPr>
        <p:spPr>
          <a:xfrm>
            <a:off x="224280" y="1273680"/>
            <a:ext cx="11743560" cy="5355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Verificando os Status de Seus Arquivos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principal ferramenta que você vai usar para determinar quais arquivos estão em qual estado é o comando git status. Se você executar esse comando imediatamente após clonar um repositório, você vai ver algo assim: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status On branch master Your branch is up-to-date with 'origin/master'. nothing to commit, working directory clean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Isso significa que você tem um diretório de trabalho limpo - em outras palavras, nenhum de seus arquivos rastreados foi modificado.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também não está vendo nenhum arquivo não rastreado, senão eles estariam listados aqui.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Finalmente, o comando lhe diz qual o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 você está e diz que ele não divergiu do mesmo branch no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servidor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p57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8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58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82" name="Google Shape;582;p58"/>
          <p:cNvSpPr txBox="1"/>
          <p:nvPr/>
        </p:nvSpPr>
        <p:spPr>
          <a:xfrm>
            <a:off x="224280" y="1273680"/>
            <a:ext cx="11743560" cy="538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Verificando os Status de Seus Arquivos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Digamos que você adiciona um novo arquivo no seu projeto, um simples arquivo 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README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Se o arquivo não existia antes, ao executar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status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você verá seu arquivo não rastreado da seguinte forma: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echo 'My Project' &gt; README </a:t>
            </a:r>
            <a:br>
              <a:rPr b="0" i="0" lang="pt-BR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pt-BR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status </a:t>
            </a:r>
            <a:br>
              <a:rPr b="0" i="0" lang="pt-BR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pt-BR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pt-BR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On branch master Your branch is up-to-date with 'origin/master'. Untracked files:   (use "git add &lt;file&gt;..." to include in what will be committed)     </a:t>
            </a:r>
            <a:r>
              <a:rPr b="0" i="1" lang="pt-BR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README</a:t>
            </a:r>
            <a:r>
              <a:rPr b="0" i="0" lang="pt-BR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nothing added to commit but untracked files present (use "git add" to track)</a:t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3" name="Google Shape;583;p58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9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59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90" name="Google Shape;590;p59"/>
          <p:cNvSpPr txBox="1"/>
          <p:nvPr/>
        </p:nvSpPr>
        <p:spPr>
          <a:xfrm>
            <a:off x="224280" y="1273680"/>
            <a:ext cx="11743560" cy="5262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Rastreando Arquivos Novos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começar a rastrear um novo arquivo, você deve usar o comando git add. Para começar começar a rastrear o arquivo README, você deve executar o seguinte: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add README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Executando o comando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novamente, você pode ver que seu README agora está sendo rastreado e preparado (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staged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para o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status On branch master Your branch is up-to-date with 'origin/master'. Changes to be committed:   (use "git reset HEAD &lt;file&gt;..." to unstage)     new file:   README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1" name="Google Shape;591;p59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0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60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98" name="Google Shape;598;p60"/>
          <p:cNvSpPr txBox="1"/>
          <p:nvPr/>
        </p:nvSpPr>
        <p:spPr>
          <a:xfrm>
            <a:off x="224280" y="1273680"/>
            <a:ext cx="11743560" cy="444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 possível saber que o arquivo está preparado porque ele aparece sob o título 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“Changes to be </a:t>
            </a:r>
            <a:br>
              <a:rPr b="0" i="0" lang="pt-BR" sz="1800" u="none" cap="none" strike="noStrike"/>
            </a:b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committed”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Se você fizer um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neste momento, a versão do arquivo que existia no instante em que você executou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 add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é a que será armazenada no histórico de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snapshots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Você deve se lembrar que, quando executou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init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anteriormente, em seguida, você também executou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add (arquivos)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- isso foi para começar a rastrear os arquivos em seu diretório. 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comando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add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recebe o caminho de um arquivo ou de um diretório. Se for um diretório, o comando adiciona todos os arquivos contidos nesse diretório recursivamente.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 você modificar um arquivo depois de executar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add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você tem que executar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add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de novo para por sua versão mais recente no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9" name="Google Shape;599;p60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a imagem contendo faca, mesa&#10;&#10;Descrição gerada com muito alta confiança" id="604" name="Google Shape;60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40" y="214920"/>
            <a:ext cx="2743200" cy="90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61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07" name="Google Shape;607;p61"/>
          <p:cNvSpPr txBox="1"/>
          <p:nvPr/>
        </p:nvSpPr>
        <p:spPr>
          <a:xfrm>
            <a:off x="224280" y="1273680"/>
            <a:ext cx="11743560" cy="4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Ignorando Arquivos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Frequentemente você terá uma classe de arquivos que não quer que sejam adicionados automaticamente pelo Git e nem mesmo que ele os mostre como não-rastreados. Nesses casos, você pode criar um arquivo chamado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.gitignore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contendo uma lista de padrões de nomes de arquivo que devem ser ignorados. Aqui está um exemplo de arquivo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.gitignore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ignorar arquivos com extensão .a *.a </a:t>
            </a:r>
            <a:b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rastrear o arquivo lib.a, mesmo ignorando os arquivos .a acima !lib.a </a:t>
            </a:r>
            <a:b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ignorar todos os arquivos no diretório build/ build/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2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62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14" name="Google Shape;614;p62"/>
          <p:cNvSpPr txBox="1"/>
          <p:nvPr/>
        </p:nvSpPr>
        <p:spPr>
          <a:xfrm>
            <a:off x="224093" y="1191755"/>
            <a:ext cx="11743500" cy="53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Fazendo Commit das Suas Alterações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Agora que sua área de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está preparada, você pode fazer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das suas alterações.</a:t>
            </a:r>
            <a:b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1" marL="7430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Lembre-se que qualquer coisa que ainda não tenha sido mandada para o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 — qualquer arquivo criado ou alterado e que ainda não tenha sido </a:t>
            </a:r>
            <a:r>
              <a:rPr b="0" i="0" lang="pt-BR" sz="2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adicionado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add 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— não entrará nesse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1" marL="7430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jeito mais simples de fazer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é digitar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commit –m "Meu primeiro Commit!"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[master 463dc4f] Story 182: Fix benchmarks for speed 2 files changed, 2 insertions(+)  create mode 100644 README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 que a saída do comando fornece algumas informações: em qual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foi feito o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(master), seu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checksum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SHA-1 (463dc4f), quantos arquivos foram alterados e estatísticas sobre o número de linhas adicionadas e removidas.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5" name="Google Shape;615;p62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3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63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2" name="Google Shape;622;p63"/>
          <p:cNvSpPr txBox="1"/>
          <p:nvPr/>
        </p:nvSpPr>
        <p:spPr>
          <a:xfrm>
            <a:off x="224280" y="1273680"/>
            <a:ext cx="11743560" cy="5232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Removendo Arquivos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2200"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remover um arquivo do Git, você tem que removê-lo dos seus arquivos rastreados (mais precisamente, removê-lo da sua área de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e então fazer um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comando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rm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faz isso, e também remove o arquivo do seu diretório de trabalho para que você não o veja como um arquivo não-rastreado nas suas próximas interações.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rm PROJECTS.md </a:t>
            </a:r>
            <a:br>
              <a:rPr lang="pt-BR" sz="18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status </a:t>
            </a:r>
            <a:b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On branch master Your branch is up-to-date with 'origin/master'. Changes to be committed:(use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"git reset HEAD &lt;file&gt;" to unstage)deleted: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PROJECTS.md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 próxima vez que você fizer um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 arquivo será eliminado e não será mais rastreado.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3" name="Google Shape;623;p63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4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64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0" name="Google Shape;630;p64"/>
          <p:cNvSpPr txBox="1"/>
          <p:nvPr/>
        </p:nvSpPr>
        <p:spPr>
          <a:xfrm>
            <a:off x="224280" y="1273680"/>
            <a:ext cx="11743560" cy="446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Vendo o histórico de Commits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Depois de você ter criado vários commits, ou se você clonou um repositório com um histórico de commits pré-existente, você vai provavelmente querer olhar para trás e ver o que aconteceu.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85840" lvl="1" marL="7430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ferramenta mais básica e poderosa para fazer isso é o comando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log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log commit ca82a6dff817ec66f44342007202690a93763949 Author: Scott Chacon &lt;schacon@gee-mail.com&gt; Date: Mon Mar 17 21:52:11 2008 -0700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Meu primeiro Commit!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1" name="Google Shape;631;p64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5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5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8" name="Google Shape;638;p65"/>
          <p:cNvSpPr txBox="1"/>
          <p:nvPr/>
        </p:nvSpPr>
        <p:spPr>
          <a:xfrm>
            <a:off x="224280" y="1273680"/>
            <a:ext cx="11743560" cy="52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Trabalhando de Forma Remota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colaborar com qualquer projeto Git, você precisará saber como gerenciar seus repositórios remotos. Repositórios remotos são versões de seu repositório hospedado na Internet ou em uma rede qualquer. 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1" marL="7430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Você pode ter vários deles, cada um dos quais geralmente é ou somente leitura ou leitura/escrita.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Colaborar com outras pessoas envolve o gerenciamento destes repositórios remotos, fazer: 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2" marL="125748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pushing 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(atualizar) dados no repositório remoto.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2" marL="12574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pulling 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(obter) dados do repositório remoto. 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Gerenciar repositórios remotos inclui saber como adicioná-los remotamente, remover aqueles que não são mais válidos, gerenciar vários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branches 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(ramos) e </a:t>
            </a: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defini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-los como 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rastreados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ou 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 mais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9" name="Google Shape;639;p65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6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66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6" name="Google Shape;646;p66"/>
          <p:cNvSpPr txBox="1"/>
          <p:nvPr/>
        </p:nvSpPr>
        <p:spPr>
          <a:xfrm>
            <a:off x="224280" y="1273680"/>
            <a:ext cx="11743560" cy="5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Exibindo seus repositórios remotos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ver quais servidores remotos você configurou, você pode executar o comando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remote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Ele lista os nomes abreviados de cada repositório remoto manejado que você especificou. Se você clonou seu repositório, você deve pelo menos ver 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origin 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(origem) – que é o </a:t>
            </a:r>
            <a:r>
              <a:rPr b="0" i="0" lang="pt-BR" sz="2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nome padrão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dado pelo Git ao servidor que você clonou: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remote origin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Você também pode especificar -v, que mostra as URLs que o Git tem armazenado pelo nome abreviado a ser usado para ler ou gravar naquele repositório remoto: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remote -v origin	</a:t>
            </a:r>
            <a:r>
              <a:rPr b="0" i="0" lang="pt-BR" sz="2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https://github.com/schacon/ticgit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(fetch) origin	</a:t>
            </a:r>
            <a:r>
              <a:rPr b="0" i="0" lang="pt-BR" sz="20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https://github.com/schacon/ticgit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(push)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7" name="Google Shape;647;p66" title="sc-arma.png"/>
          <p:cNvPicPr preferRelativeResize="0"/>
          <p:nvPr/>
        </p:nvPicPr>
        <p:blipFill rotWithShape="1">
          <a:blip r:embed="rId5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7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67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54" name="Google Shape;654;p67"/>
          <p:cNvSpPr txBox="1"/>
          <p:nvPr/>
        </p:nvSpPr>
        <p:spPr>
          <a:xfrm>
            <a:off x="224280" y="1273680"/>
            <a:ext cx="11743560" cy="5262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Adicionando Repositórios Remotos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Nós mencionamos e demos algumas demonstrações de como o comando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clone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pt-BR" sz="2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implicitamente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adiciona a origem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origin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remota para você.</a:t>
            </a:r>
            <a:b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Aqui está como adicionar um novo repositório remoto </a:t>
            </a:r>
            <a:r>
              <a:rPr b="0" i="0" lang="pt-BR" sz="2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explicitamente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Para adicionar um novo repositório Git remoto como um nome curto que você pode referenciar facilmente, execute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remote add &lt;shortname&gt; &lt;url&gt;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remote add pb https://github.com/paulboone/ticgit </a:t>
            </a:r>
            <a:b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remote -v origin	https://github.com/schacon/ticgit (fetch) origin	https://github.com/schacon/ticgit (push) pb	https://github.com/paulboone/ticgit (fetch) pb	https://github.com/paulboone/ticgit (push)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5" name="Google Shape;655;p67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8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68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descr="Uma imagem contendo Gráfico&#10;&#10;Descrição gerada automaticamente" id="662" name="Google Shape;66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440" y="1631880"/>
            <a:ext cx="9903240" cy="35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68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9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69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70" name="Google Shape;670;p69"/>
          <p:cNvSpPr txBox="1"/>
          <p:nvPr/>
        </p:nvSpPr>
        <p:spPr>
          <a:xfrm>
            <a:off x="224280" y="1273680"/>
            <a:ext cx="11743560" cy="3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Ramificação em poucas palavras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Quase todo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VCS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tem alguma forma de suporte de ramificação.</a:t>
            </a:r>
            <a:b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Ramificação significa que você diverge da linha principal de desenvolvimento e continua a trabalhar sem mexer com essa linha principal.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Algumas pessoas se referem ao modelo de ramificação do Git como seu "recurso matador" e certamente diferencia o Git na comunidade VCS.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forma como o Git ramifica é incrivelmente leve, tornando as operações de ramificação quase instantâneas e alternando entre os branches geralmente com a mesma rapidez.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Gráfico&#10;&#10;Descrição gerada automaticamente" id="671" name="Google Shape;67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3400" y="5484960"/>
            <a:ext cx="2858400" cy="1020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69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0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70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79" name="Google Shape;679;p70"/>
          <p:cNvSpPr txBox="1"/>
          <p:nvPr/>
        </p:nvSpPr>
        <p:spPr>
          <a:xfrm>
            <a:off x="224280" y="1273680"/>
            <a:ext cx="11743560" cy="20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Criação de um novo Branch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nome do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padrão no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 Digamos que você crie um novo branch chamado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testing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Você faz isso com o comando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branch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branch testing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a&#10;&#10;Descrição gerada automaticamente" id="680" name="Google Shape;68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1480" y="3551760"/>
            <a:ext cx="7228800" cy="303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70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1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71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88" name="Google Shape;688;p71"/>
          <p:cNvSpPr txBox="1"/>
          <p:nvPr/>
        </p:nvSpPr>
        <p:spPr>
          <a:xfrm>
            <a:off x="224280" y="1273680"/>
            <a:ext cx="11743560" cy="273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Alternando entre Branches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alternar para uma ramificação existente, você executa o comando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checkout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Vamos mudar para o novo branch de teste: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checkout testing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Isto faz com que a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HEAD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aponte para o branch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testing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a&#10;&#10;Descrição gerada automaticamente" id="689" name="Google Shape;689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9625" y="3662445"/>
            <a:ext cx="4928400" cy="2814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71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2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72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97" name="Google Shape;697;p72"/>
          <p:cNvSpPr txBox="1"/>
          <p:nvPr/>
        </p:nvSpPr>
        <p:spPr>
          <a:xfrm>
            <a:off x="224280" y="1273680"/>
            <a:ext cx="11743560" cy="175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Alternando entre Branches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Qual a importância disto? Bem, vamos fazer outro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commit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commit -a -m 'made a change'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a&#10;&#10;Descrição gerada automaticamente" id="698" name="Google Shape;69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5400" y="3184899"/>
            <a:ext cx="9141126" cy="346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72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3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73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6" name="Google Shape;706;p73"/>
          <p:cNvSpPr txBox="1"/>
          <p:nvPr/>
        </p:nvSpPr>
        <p:spPr>
          <a:xfrm>
            <a:off x="224280" y="1273680"/>
            <a:ext cx="11743560" cy="24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Alternando entre Branches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 que agora branch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testing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avançou, mas o branch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ainda aponta para o commit em que você estava quando executou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checkout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para alternar branches. Vamos voltar para o branch master: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checkout master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a&#10;&#10;Descrição gerada automaticamente" id="707" name="Google Shape;70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3962" y="3126600"/>
            <a:ext cx="8363826" cy="34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73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74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74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descr="Diagrama&#10;&#10;Descrição gerada automaticamente" id="715" name="Google Shape;715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800" y="1271520"/>
            <a:ext cx="10233720" cy="658656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74"/>
          <p:cNvSpPr txBox="1"/>
          <p:nvPr/>
        </p:nvSpPr>
        <p:spPr>
          <a:xfrm>
            <a:off x="224280" y="1273680"/>
            <a:ext cx="11743560" cy="544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Alternando entre Branches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Vamos fazer algumas alterações e 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commit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novamente: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commit -a -m 'made other changes'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Nota: </a:t>
            </a:r>
            <a:r>
              <a:rPr lang="pt-BR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https://git-scm.com/book/pt-br/v2</a:t>
            </a:r>
            <a:r>
              <a:rPr lang="pt-BR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7" name="Google Shape;717;p74" title="sc-arma.png"/>
          <p:cNvPicPr preferRelativeResize="0"/>
          <p:nvPr/>
        </p:nvPicPr>
        <p:blipFill rotWithShape="1">
          <a:blip r:embed="rId5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75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75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24" name="Google Shape;724;p75"/>
          <p:cNvSpPr txBox="1"/>
          <p:nvPr/>
        </p:nvSpPr>
        <p:spPr>
          <a:xfrm>
            <a:off x="224280" y="1273680"/>
            <a:ext cx="11743560" cy="110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Branches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Digamos que você esteja trabalhando em seu projeto e já tenha alguns commits.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ce gráfica do usuário, Texto, Aplicativo, chat ou mensagem de texto&#10;&#10;Descrição gerada automaticamente" id="725" name="Google Shape;72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760" y="2887560"/>
            <a:ext cx="8436600" cy="244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75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6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76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33" name="Google Shape;733;p76"/>
          <p:cNvSpPr txBox="1"/>
          <p:nvPr/>
        </p:nvSpPr>
        <p:spPr>
          <a:xfrm>
            <a:off x="224280" y="1273680"/>
            <a:ext cx="11743560" cy="236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Branches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Você decidiu que trabalhará no 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problema #53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Para criar um branch e alternar para ele ao mesmo tempo, você pode executar o comando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checkout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 a opção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-b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checkout -b iss53 Switched to a new branch "iss53"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relógio&#10;&#10;Descrição gerada automaticamente" id="734" name="Google Shape;734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8320" y="3134160"/>
            <a:ext cx="6883920" cy="336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76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7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7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42" name="Google Shape;742;p77"/>
          <p:cNvSpPr txBox="1"/>
          <p:nvPr/>
        </p:nvSpPr>
        <p:spPr>
          <a:xfrm>
            <a:off x="224280" y="1273680"/>
            <a:ext cx="11743560" cy="1446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Branches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Você trabalha no seu site e faz alguns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commits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Fazer isso move o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branch iss53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para frente, porque você fez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checkout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(ou seja, seu HEAD está apontando para ele):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relógio, medidor&#10;&#10;Descrição gerada automaticamente" id="743" name="Google Shape;74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0920" y="2963880"/>
            <a:ext cx="8824680" cy="3201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77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78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78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51" name="Google Shape;751;p78"/>
          <p:cNvSpPr txBox="1"/>
          <p:nvPr/>
        </p:nvSpPr>
        <p:spPr>
          <a:xfrm>
            <a:off x="224280" y="1273680"/>
            <a:ext cx="11743560" cy="4308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Branches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Suponha que você tenha decidido que seu trabalho de problema #53 está completo e pronto para ser mesclado em seu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branch master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Para fazer isso, você mesclará seu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branch iss53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Tudo que você precisa fazer é fazer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checkout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 branch ao qual deseja mesclar e, em seguida, executar o comando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merge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checkout master </a:t>
            </a:r>
            <a:b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Switched to branch 'master' </a:t>
            </a:r>
            <a:b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git merge iss53 </a:t>
            </a:r>
            <a:b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Merge made by the 'recursive' strategy. index.html |</a:t>
            </a:r>
            <a:r>
              <a:rPr lang="pt-BR" sz="2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 + 1 file changed, 1 insertion(+)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2" name="Google Shape;752;p78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9"/>
          <p:cNvSpPr txBox="1"/>
          <p:nvPr/>
        </p:nvSpPr>
        <p:spPr>
          <a:xfrm>
            <a:off x="3631680" y="224280"/>
            <a:ext cx="4928400" cy="892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79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descr="Diagrama&#10;&#10;Descrição gerada automaticamente" id="759" name="Google Shape;759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6440" y="1999440"/>
            <a:ext cx="9802440" cy="4713840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79"/>
          <p:cNvSpPr txBox="1"/>
          <p:nvPr/>
        </p:nvSpPr>
        <p:spPr>
          <a:xfrm>
            <a:off x="224280" y="1273680"/>
            <a:ext cx="11743560" cy="550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Branches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faz um merge de três vias simples (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thee-way merge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), usando o snapshot ancestral em comum apontado pelos dois branches.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1" name="Google Shape;761;p79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80"/>
          <p:cNvSpPr txBox="1"/>
          <p:nvPr/>
        </p:nvSpPr>
        <p:spPr>
          <a:xfrm>
            <a:off x="3631680" y="224280"/>
            <a:ext cx="4928400" cy="8618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80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68" name="Google Shape;768;p80"/>
          <p:cNvSpPr txBox="1"/>
          <p:nvPr/>
        </p:nvSpPr>
        <p:spPr>
          <a:xfrm>
            <a:off x="224280" y="1273680"/>
            <a:ext cx="11743560" cy="45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&#10;&#10;Descrição gerada automaticamente" id="769" name="Google Shape;769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2360" y="1472400"/>
            <a:ext cx="6121800" cy="322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, nome da empresa&#10;&#10;Descrição gerada automaticamente" id="770" name="Google Shape;770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280" y="4713480"/>
            <a:ext cx="2743200" cy="154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80" title="sc-arma.png"/>
          <p:cNvPicPr preferRelativeResize="0"/>
          <p:nvPr/>
        </p:nvPicPr>
        <p:blipFill rotWithShape="1">
          <a:blip r:embed="rId5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81"/>
          <p:cNvSpPr txBox="1"/>
          <p:nvPr/>
        </p:nvSpPr>
        <p:spPr>
          <a:xfrm>
            <a:off x="3631680" y="224280"/>
            <a:ext cx="4928400" cy="8618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81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78" name="Google Shape;778;p81"/>
          <p:cNvSpPr txBox="1"/>
          <p:nvPr/>
        </p:nvSpPr>
        <p:spPr>
          <a:xfrm>
            <a:off x="224280" y="1273680"/>
            <a:ext cx="11743560" cy="3477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latin typeface="Calibri"/>
                <a:ea typeface="Calibri"/>
                <a:cs typeface="Calibri"/>
                <a:sym typeface="Calibri"/>
              </a:rPr>
              <a:t>Características Principais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GitHub é o maior host para repositórios Git e é o ponto central de colaboração para milhões de desenvolvedores e projetos.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Uma grande porcentagem de todos os repositórios Git é hospedada no GitHub, e muitos projetos de código aberto o usam para hospedagem Git, rastreamento de problemas, revisão de código e outras coisas.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Então, embora não seja uma parte direta do projeto de código aberto Git, há uma boa chance de você querer ou precisar interagir com o GitHub em algum ponto ao usar o Git profissionalmente.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, nome da empresa&#10;&#10;Descrição gerada automaticamente" id="779" name="Google Shape;779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2520" y="4929120"/>
            <a:ext cx="2743200" cy="154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81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a imagem contendo faca, mesa&#10;&#10;Descrição gerada com muito alta confiança" id="785" name="Google Shape;78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40" y="214920"/>
            <a:ext cx="2743200" cy="90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82"/>
          <p:cNvSpPr txBox="1"/>
          <p:nvPr/>
        </p:nvSpPr>
        <p:spPr>
          <a:xfrm>
            <a:off x="3631680" y="224280"/>
            <a:ext cx="4928400" cy="8618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82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88" name="Google Shape;788;p82"/>
          <p:cNvSpPr txBox="1"/>
          <p:nvPr/>
        </p:nvSpPr>
        <p:spPr>
          <a:xfrm>
            <a:off x="224280" y="1273680"/>
            <a:ext cx="11743560" cy="246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Configurando uma conta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primeira coisa que você precisa fazer é configurar uma conta gratuita de usuário. Simplesmente visite </a:t>
            </a:r>
            <a:r>
              <a:rPr b="0" i="0" lang="pt-BR" sz="2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escolha um nome de usuário que esteja disponível, forneça uma conta de email e uma senha, então clique no grande botão verde </a:t>
            </a:r>
            <a:r>
              <a:rPr b="0" i="1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"Sign up for GitHub"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, nome da empresa&#10;&#10;Descrição gerada automaticamente" id="789" name="Google Shape;789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2520" y="4929120"/>
            <a:ext cx="2743200" cy="154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83"/>
          <p:cNvSpPr txBox="1"/>
          <p:nvPr/>
        </p:nvSpPr>
        <p:spPr>
          <a:xfrm>
            <a:off x="3631680" y="224280"/>
            <a:ext cx="4928400" cy="8618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83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96" name="Google Shape;796;p83"/>
          <p:cNvSpPr txBox="1"/>
          <p:nvPr/>
        </p:nvSpPr>
        <p:spPr>
          <a:xfrm>
            <a:off x="224280" y="1273680"/>
            <a:ext cx="11743560" cy="377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Fazendo Fork de projetos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 você deseja contribuir em um projeto existente no qual você ainda não tem acesso de push, você pode dar um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“fork”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 projeto. Quando você faz “fork” de um projeto, o GitHub faz uma cópia do projeto que é inteiramente sua.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1" marL="7430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Dessa forma, projetos não precisam se preocupar em adicionar colaboradores para dar acesso ao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Qualquer um pode dar fork no projeto, fazer push e mandar suas alterações de volta para o repositório original criando o chamado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Pull Request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 qual falaremos a seguir.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ce gráfica do usuário, Aplicativo&#10;&#10;Descrição gerada automaticamente" id="797" name="Google Shape;797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8500" y="5156100"/>
            <a:ext cx="3007775" cy="116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83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84"/>
          <p:cNvSpPr txBox="1"/>
          <p:nvPr/>
        </p:nvSpPr>
        <p:spPr>
          <a:xfrm>
            <a:off x="3631680" y="224280"/>
            <a:ext cx="4928400" cy="8618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84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05" name="Google Shape;805;p84"/>
          <p:cNvSpPr txBox="1"/>
          <p:nvPr/>
        </p:nvSpPr>
        <p:spPr>
          <a:xfrm>
            <a:off x="224280" y="1273680"/>
            <a:ext cx="11743560" cy="540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fluxo do GitHub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GitHub é desenhado ao redor de uma fluxo particular de </a:t>
            </a: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colaboração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centrado nas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Pull Requests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Este fluxo funciona se você está colaborando com um time integrado em um único repositório compartilhado, com uma empresa distribuída globalmente ou com uma rede de estranhos contribuindo para o projeto com dúzias de forks: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AutoNum type="arabicPeriod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Faça fork do projeto.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AutoNum type="arabicPeriod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Crie um branch para alterações no 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master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AutoNum type="arabicPeriod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Faça alguns commits para aprimorar o projeto.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AutoNum type="arabicPeriod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Faça push dessa branch para seu projeto no GitHub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AutoNum type="arabicPeriod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Abra um Pull Request no GitHub.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AutoNum type="arabicPeriod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Discusta e opicionalmente continue commitando.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AutoNum type="arabicPeriod"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proprietário do projeto faz merge ou fecha o Pull Request.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Nota:</a:t>
            </a:r>
            <a:r>
              <a:rPr lang="pt-BR" sz="2000">
                <a:latin typeface="Calibri"/>
                <a:ea typeface="Calibri"/>
                <a:cs typeface="Calibri"/>
                <a:sym typeface="Calibri"/>
              </a:rPr>
              <a:t> https://git-scm.com/book/pt-br/v2/GitHub-Contribuindo-para-um-Projeto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6" name="Google Shape;806;p84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78319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85"/>
          <p:cNvSpPr txBox="1"/>
          <p:nvPr/>
        </p:nvSpPr>
        <p:spPr>
          <a:xfrm>
            <a:off x="3631680" y="224280"/>
            <a:ext cx="4928400" cy="8619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Controle de Versão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85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13" name="Google Shape;813;p85"/>
          <p:cNvSpPr txBox="1"/>
          <p:nvPr/>
        </p:nvSpPr>
        <p:spPr>
          <a:xfrm>
            <a:off x="439000" y="1227050"/>
            <a:ext cx="3775800" cy="42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 Fluxo do GitHub</a:t>
            </a:r>
            <a:endParaRPr b="1" sz="25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GitHub é desenhado ao redor de um fluxo particular de colaboração, centrado nas </a:t>
            </a:r>
            <a:r>
              <a:rPr b="1" lang="pt-BR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Pull Requests</a:t>
            </a:r>
            <a:r>
              <a:rPr b="0" lang="pt-BR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17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Este fluxo funciona se você está colaborando com um time integrado em um único repositório compartilhado, com uma empresa distribuída globalmente ou com uma rede de estranhos contribuindo para o projeto com dúzias de forks.</a:t>
            </a:r>
            <a:endParaRPr sz="17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85"/>
          <p:cNvSpPr txBox="1"/>
          <p:nvPr/>
        </p:nvSpPr>
        <p:spPr>
          <a:xfrm>
            <a:off x="4572000" y="1428750"/>
            <a:ext cx="3429000" cy="4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Fork do Projeto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pt-BR" sz="13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Faça fork do projeto.</a:t>
            </a:r>
            <a:endParaRPr b="0" sz="13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Criar Branch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pt-BR" sz="13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Crie um branch para alterações no </a:t>
            </a:r>
            <a:r>
              <a:rPr b="1" lang="pt-BR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master</a:t>
            </a:r>
            <a:r>
              <a:rPr b="0" lang="pt-BR" sz="13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13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Commits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pt-BR" sz="13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Faça alguns commits para aprimorar o projeto.</a:t>
            </a:r>
            <a:endParaRPr b="0" sz="13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Push da Branch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pt-BR" sz="13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Faça push dessa branch para seu projeto no GitHub.</a:t>
            </a:r>
            <a:endParaRPr b="0" sz="13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85"/>
          <p:cNvSpPr txBox="1"/>
          <p:nvPr/>
        </p:nvSpPr>
        <p:spPr>
          <a:xfrm>
            <a:off x="8286750" y="1428750"/>
            <a:ext cx="3333900" cy="4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Abrir Pull Request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pt-BR" sz="13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Abra um Pull Request no GitHub.</a:t>
            </a:r>
            <a:endParaRPr b="0" sz="13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Discussão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pt-BR" sz="13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Discusta e opicionalmente continue commitando.</a:t>
            </a:r>
            <a:endParaRPr b="0" sz="13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Merge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pt-BR" sz="13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O proprietário do projeto faz merge ou fecha o Pull Request.</a:t>
            </a:r>
            <a:endParaRPr b="0" sz="13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6" name="Google Shape;816;p85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86"/>
          <p:cNvSpPr txBox="1"/>
          <p:nvPr/>
        </p:nvSpPr>
        <p:spPr>
          <a:xfrm>
            <a:off x="3631680" y="411120"/>
            <a:ext cx="4928400" cy="52308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86"/>
          <p:cNvSpPr/>
          <p:nvPr/>
        </p:nvSpPr>
        <p:spPr>
          <a:xfrm>
            <a:off x="117720" y="-4320"/>
            <a:ext cx="11976480" cy="215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descr="Interface gráfica do usuário, Aplicativo&#10;&#10;Descrição gerada automaticamente" id="823" name="Google Shape;82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4560" y="1602000"/>
            <a:ext cx="2570760" cy="148284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86"/>
          <p:cNvSpPr txBox="1"/>
          <p:nvPr/>
        </p:nvSpPr>
        <p:spPr>
          <a:xfrm>
            <a:off x="339480" y="1173240"/>
            <a:ext cx="11513520" cy="550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Locais de Controle de Versão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Centralizados de Controle de Versão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Distribuídos de Controle de Versão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Uma Breve História do Git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básico do Git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 três estados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três seções principais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fluxo de trabalho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Linha de comando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Instalação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Configuração inicial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1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Branching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Criando um novo Branch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Alternando entre Braches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Mesclando (merge) Branches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Configurando uma conta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Fazendo </a:t>
            </a:r>
            <a:r>
              <a:rPr b="0" i="1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Fork </a:t>
            </a: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projetos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8002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fluxo do Github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&#10;&#10;Descrição gerada automaticamente" id="825" name="Google Shape;825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07400" y="4674240"/>
            <a:ext cx="1952280" cy="1952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, Ícone&#10;&#10;Descrição gerada automaticamente" id="826" name="Google Shape;826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7240" y="3427920"/>
            <a:ext cx="2743200" cy="1440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86" title="sc-arma.png"/>
          <p:cNvPicPr preferRelativeResize="0"/>
          <p:nvPr/>
        </p:nvPicPr>
        <p:blipFill rotWithShape="1">
          <a:blip r:embed="rId6">
            <a:alphaModFix/>
          </a:blip>
          <a:srcRect b="6094" l="25927" r="26370" t="6094"/>
          <a:stretch/>
        </p:blipFill>
        <p:spPr>
          <a:xfrm>
            <a:off x="117725" y="254913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87"/>
          <p:cNvSpPr txBox="1"/>
          <p:nvPr/>
        </p:nvSpPr>
        <p:spPr>
          <a:xfrm>
            <a:off x="641160" y="2539080"/>
            <a:ext cx="10923840" cy="43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87"/>
          <p:cNvSpPr txBox="1"/>
          <p:nvPr/>
        </p:nvSpPr>
        <p:spPr>
          <a:xfrm>
            <a:off x="641160" y="396720"/>
            <a:ext cx="10923840" cy="55404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r>
              <a:rPr b="1" i="0" lang="pt-BR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3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87"/>
          <p:cNvSpPr txBox="1"/>
          <p:nvPr/>
        </p:nvSpPr>
        <p:spPr>
          <a:xfrm>
            <a:off x="123480" y="1288080"/>
            <a:ext cx="11959200" cy="50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Bibliografia Básica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DEITEL, Paul J. Ajax, Rich. Internet applications e desenvolvimento Web para programadores. São Paulo: Pearson Prentice Hall, 2009. 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SILVA, Maurício Samy. JQuery: a biblioteca do programador JavaScript. 3. ed. rev. ampl. São Paulo: Novatec, 2014. 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DALL'OGLIO, Pablo. PHP: programando com orientação a objetos. 2. ed. São Paulo: Novatec, 2009.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Bibliografia Complementar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SILVA, Maurício Samy. Ajax com jQuery: requisições ajax com a simplicidade de jQuery. São Paulo: Novatec, 2009. 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SOARES, Walace. Crie um Framework para sistemas web com PHP 5 e Ajax. São Paulo: Érica, 2009. SOARES, Walace. Crie um sistema web com PHP 5 e AJAX: controle de estoque. São Paulo: Érica, 2009. 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LISBOA, Flávio Gomes da Silva. Criando aplicações PHP com Zend e Dojo. 2. ed. São Paulo: Novatec, 2013. 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NIEDERAUER, Juliano. Desenvolvendo websites com PHP: aprenda a criar websites dinâmicos e interativos com PHP e bancos de dados. 2. ed. rev. e atual. São Paulo: Novatec, 2011.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Bibliografia Online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https://git-scm.com/doc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87"/>
          <p:cNvSpPr/>
          <p:nvPr/>
        </p:nvSpPr>
        <p:spPr>
          <a:xfrm>
            <a:off x="117720" y="-4320"/>
            <a:ext cx="11976498" cy="2156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ln cap="flat" cmpd="sng" w="1260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