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azWw+OJ259n24m0t8fbrjWNuP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hyperlink" Target="http://encurtador.com.br/aFSVY" TargetMode="External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4.gif"/><Relationship Id="rId5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hyperlink" Target="http://encurtador.com.br/dnxT2" TargetMode="External"/><Relationship Id="rId5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667774" y="5241057"/>
            <a:ext cx="9144000" cy="103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Professor: Euclides Paim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/>
              <a:t>euclidespaim@gmail.com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733910" y="3071004"/>
            <a:ext cx="873855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Sistemas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1799147" y="2539581"/>
            <a:ext cx="8870828" cy="1768413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>
            <p:ph idx="1" type="subTitle"/>
          </p:nvPr>
        </p:nvSpPr>
        <p:spPr>
          <a:xfrm>
            <a:off x="1667774" y="5241057"/>
            <a:ext cx="9144000" cy="103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Professor: Euclides Paim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/>
              <a:t>euclidespaim@gmail.com</a:t>
            </a:r>
            <a:endParaRPr i="1"/>
          </a:p>
        </p:txBody>
      </p:sp>
      <p:sp>
        <p:nvSpPr>
          <p:cNvPr id="95" name="Google Shape;95;p2"/>
          <p:cNvSpPr txBox="1"/>
          <p:nvPr/>
        </p:nvSpPr>
        <p:spPr>
          <a:xfrm>
            <a:off x="3789872" y="2884097"/>
            <a:ext cx="489980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 Sistemas 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3919270" y="324928"/>
            <a:ext cx="435346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 flipH="1">
            <a:off x="454323" y="2155767"/>
            <a:ext cx="11283348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Conceitos básicos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Primeira geração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Segunda geração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Terceira geração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Quarta geração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Quinta e Sexta gerações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3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3243535" y="267419"/>
            <a:ext cx="5704932" cy="85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 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Conceitos básicos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 flipH="1">
            <a:off x="454323" y="2711353"/>
            <a:ext cx="11283348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Operacional: segundo o dicionário Aurélio (verbete sistema), sistema operacional é um conjunto integrado de programas básicos, projetado para supervisionar e controlar a execução de programas de aplicação em um computador.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/>
        </p:nvSpPr>
        <p:spPr>
          <a:xfrm>
            <a:off x="3272290" y="267419"/>
            <a:ext cx="5647422" cy="85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 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Conceitos básicos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 flipH="1">
            <a:off x="454323" y="2494321"/>
            <a:ext cx="1128334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computador não faz nada sozinho. Ele apenas </a:t>
            </a:r>
            <a:r>
              <a:rPr b="0" i="0" lang="pt-BR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uma série 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informações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inseridas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pelo usuário para então </a:t>
            </a:r>
            <a:r>
              <a:rPr b="0" i="0" lang="pt-BR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fornecer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resultados. As informações inseridas e os resultados que recebemos precisam estar num formato que nós humanos conseguimos entender.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facilitar essa comunicação entre homem e computador, foram criados os </a:t>
            </a:r>
            <a:r>
              <a:rPr b="0" i="1" lang="pt-BR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programas de computador. Na realidade, tudo que fazemos com um computador é pela execução desses programas. De acordo com um dos principais autores da área: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5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3257913" y="267419"/>
            <a:ext cx="5690554" cy="85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 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Conceitos básicos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 flipH="1">
            <a:off x="461571" y="2181893"/>
            <a:ext cx="11283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formal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Um sistema operacional é um programa que atua como intermediário entre o usuário e o hardware de um computador. O propósito de um sistema operacional é propiciar um ambiente no qual o usuário possa executar outros programas de forma conveniente, por esconder detalhes internos de funcionamento e eficiência, por procurar gerenciar de forma justa os recursos do sistema [Silberschatz, Galvin e Gagne, 2000, p.22].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6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/>
        </p:nvSpPr>
        <p:spPr>
          <a:xfrm>
            <a:off x="3545459" y="324928"/>
            <a:ext cx="511546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 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 flipH="1">
            <a:off x="117700" y="2272150"/>
            <a:ext cx="118614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Operacional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pode ser definido como um conjunto de rotinas executadas pelos processadores com a principal função de controlar o funcionamento do computador, gerenciando os diversos recursos disponíveis no sistema. Na imagem a seguir vemos a posição que um Sistema Operacional ou simplesmente “SO” ocupa dentre os vários elementos que compõem um sistema de computação.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/>
        </p:nvSpPr>
        <p:spPr>
          <a:xfrm>
            <a:off x="1748290" y="209909"/>
            <a:ext cx="86954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 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o preto sobre fundo branco&#10;&#10;Descrição gerada automaticamente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1722" y="615013"/>
            <a:ext cx="4799161" cy="6131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8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/>
        </p:nvSpPr>
        <p:spPr>
          <a:xfrm>
            <a:off x="3186026" y="324928"/>
            <a:ext cx="620813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 txBox="1"/>
          <p:nvPr/>
        </p:nvSpPr>
        <p:spPr>
          <a:xfrm flipH="1">
            <a:off x="439947" y="1712125"/>
            <a:ext cx="9169877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sistemas operacionais vem evoluindo ao longo dos anos. O primeiro verdadeiro computador digital foi projetado pelo matemático inglês Charles Babbage (1792-1871).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to preta e branca de homem de terno e gravata&#10;&#10;Descrição gerada automaticamente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01" y="609241"/>
            <a:ext cx="20955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439948" y="3200400"/>
            <a:ext cx="1139836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Embora Babbage tenha passado a maior parte de sua vida e  gasto quase toda sua fortuna tentando construir seu "motor analítico" ou "máquina diferencial", ele nunca o fez funcionar corretamente 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máquina era puramente mecânica e a tecnologia de sua época não podia produzir as rodas e engrenagens necessárias com a alta precisão de que ele precisava. Desnecessário dizer que o mecanismo analítico não tinha um sistema operacional.​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9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/>
        </p:nvSpPr>
        <p:spPr>
          <a:xfrm>
            <a:off x="3186026" y="324928"/>
            <a:ext cx="620813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 flipH="1">
            <a:off x="411191" y="5326911"/>
            <a:ext cx="479916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Parte da máquina diferencial de Babbage reconstruída por seu filho com sobras do seu laboratório.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no interior, mesa, cozinha, coberto&#10;&#10;Descrição gerada automaticamente" id="163" name="Google Shape;1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193" y="1613455"/>
            <a:ext cx="4899802" cy="3587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deira em frente a janela&#10;&#10;Descrição gerada automaticamente" id="164" name="Google Shape;1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5985" y="1617367"/>
            <a:ext cx="4899803" cy="358013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 txBox="1"/>
          <p:nvPr/>
        </p:nvSpPr>
        <p:spPr>
          <a:xfrm flipH="1">
            <a:off x="6765983" y="5326910"/>
            <a:ext cx="479916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motor diferencial do </a:t>
            </a:r>
            <a:r>
              <a:rPr b="0" i="1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London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Museum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primeiro realmente construído a partir do projeto de Babbage.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0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/>
        </p:nvSpPr>
        <p:spPr>
          <a:xfrm flipH="1">
            <a:off x="454323" y="2329667"/>
            <a:ext cx="11283348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os esforços malsucedidos de Babbage, pouco progresso foi feito na construção computadores digitais até a Segunda Guerra Mundial, o que estimulou uma explosão de atividade. O 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John Atanasoff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 seu aluno de graduação 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Clifford Berry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construíram o que é agora considerado o primeiro computador digital em funcionamento na 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Iowa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 contava com 300 tubos de vácuo para realizar suas operações.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2524668" y="324928"/>
            <a:ext cx="7142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primeira geração: tubos de vácuo (1945-1955)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11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/>
        </p:nvSpPr>
        <p:spPr>
          <a:xfrm flipH="1">
            <a:off x="454371" y="1991113"/>
            <a:ext cx="11283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Quase ao mesmo tempo,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Konrad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Zuse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Berlim construiu o Z3 computador sem relés. Em 1944, 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Colossus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foi construído por um grupo em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Bletchley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Park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Inglaterra, 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foi construído por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Howard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Aiken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Harvard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 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ENIAC 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 construído por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William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Mauchley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seu aluno de graduação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J. Presper Eckert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na Universidade da Pensilvânia.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Alguns eram binários, alguns usavam tubos de vácuo, alguns eram programáveis, mas todos eram muito primitivos e levavam segundos para executar até mesmo o cálculo mais simples.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2524668" y="324928"/>
            <a:ext cx="7142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primeira geração: tubos de vácuo (1945-1955)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2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2524668" y="324928"/>
            <a:ext cx="7142666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primeira geração: tubos de vácuo (1945-55)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to em preto e branco de pessoas na rua com prédio em cima&#10;&#10;Descrição gerada automaticamente" id="189" name="Google Shape;1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0098" y="1663820"/>
            <a:ext cx="9486180" cy="354473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3"/>
          <p:cNvSpPr txBox="1"/>
          <p:nvPr/>
        </p:nvSpPr>
        <p:spPr>
          <a:xfrm flipH="1">
            <a:off x="1360097" y="5287609"/>
            <a:ext cx="94861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Computador da primeira geração. Fonte: </a:t>
            </a:r>
            <a:r>
              <a:rPr b="0" i="0" lang="pt-BR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encurtador.com.br/aFSVY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3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/>
        </p:nvSpPr>
        <p:spPr>
          <a:xfrm flipH="1">
            <a:off x="454346" y="2112075"/>
            <a:ext cx="11283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introdução do </a:t>
            </a: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transistor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meados da década de 1950 revolucionou o cenário. Os computadores se tornaram confiáveis, permitindo sua</a:t>
            </a: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fabricação e venda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clientes com a expectativa de uso útil. Isso gerou uma clara separação entre projetistas, construtores, operadores, programadores e manutenção. Essas máquinas, agora chamadas </a:t>
            </a: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mainframes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eram mantidas em salas climatizadas, operadas por equipes profissionais. </a:t>
            </a: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Apenas grandes corporações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agências governamentais ou universidades podiam arcar com o custo multimilionário.</a:t>
            </a:r>
            <a:endParaRPr sz="2200"/>
          </a:p>
        </p:txBody>
      </p:sp>
      <p:sp>
        <p:nvSpPr>
          <p:cNvPr id="197" name="Google Shape;197;p14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2193989" y="324928"/>
            <a:ext cx="7962175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segunda geração: transistores e sistemas de lote (1955-65)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1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3634022 (Fornecido por Getty Images)" id="200" name="Google Shape;20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4200" y="4564475"/>
            <a:ext cx="2573450" cy="18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/>
        </p:nvSpPr>
        <p:spPr>
          <a:xfrm flipH="1">
            <a:off x="454346" y="2152668"/>
            <a:ext cx="112833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Devido ao alto custo dos equipamentos, buscava-se reduzir o tempo ocioso. A solução comum era o </a:t>
            </a: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em lote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consistia em coletar trabalhos e gravá-los em fita magnética com um computador mais barato (ex: IBM 1401), especializado em leitura de cartões e cópia de dados. Máquinas mais caras (ex: IBM 7094) eram usadas para o processamento de fato.</a:t>
            </a:r>
            <a:endParaRPr sz="2200"/>
          </a:p>
        </p:txBody>
      </p:sp>
      <p:sp>
        <p:nvSpPr>
          <p:cNvPr id="206" name="Google Shape;206;p15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2193989" y="324928"/>
            <a:ext cx="7962175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segunda geração: transistores e sistemas de lote (1955-65)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5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oom with a clock on the wall and a bunch of computers (Fornecido por Tenor)" id="209" name="Google Shape;2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4500" y="4155600"/>
            <a:ext cx="4003151" cy="223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sion Transmitter (Fornecido por Getty Images)" id="210" name="Google Shape;21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349" y="4155600"/>
            <a:ext cx="3343037" cy="2234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/>
        </p:nvSpPr>
        <p:spPr>
          <a:xfrm flipH="1">
            <a:off x="1000662" y="4996090"/>
            <a:ext cx="1017629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sistema de processamento em lotes primitivo. (a) Os </a:t>
            </a:r>
            <a:r>
              <a:rPr b="0" i="0" lang="pt-BR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programadores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trazem os cartões para o 1401. (b) O 1401 lê o lote de </a:t>
            </a:r>
            <a:r>
              <a:rPr b="0" i="1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na fita. (c) O </a:t>
            </a:r>
            <a:r>
              <a:rPr b="0" i="0" lang="pt-BR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operador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leva a fita de entrada para o 7094. (d) O 7094 realiza a </a:t>
            </a:r>
            <a:r>
              <a:rPr b="0" i="0" lang="pt-BR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computação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(e) O </a:t>
            </a:r>
            <a:r>
              <a:rPr b="0" i="0" lang="pt-BR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operador</a:t>
            </a: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leva a fita de saída para o 1401. (f) O 1401 imprime a saída.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texto&#10;&#10;Descrição gerada automaticamente" id="217" name="Google Shape;2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664" y="1506726"/>
            <a:ext cx="10190671" cy="316881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 txBox="1"/>
          <p:nvPr/>
        </p:nvSpPr>
        <p:spPr>
          <a:xfrm>
            <a:off x="2193989" y="324928"/>
            <a:ext cx="7962175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segunda geração: transistores e sistemas de lote (1955-65)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16" title="sc-arma.png"/>
          <p:cNvPicPr preferRelativeResize="0"/>
          <p:nvPr/>
        </p:nvPicPr>
        <p:blipFill rotWithShape="1">
          <a:blip r:embed="rId4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/>
        </p:nvSpPr>
        <p:spPr>
          <a:xfrm flipH="1">
            <a:off x="454323" y="1954339"/>
            <a:ext cx="11283348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cerca de uma hora de leitura de lotes de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fita era </a:t>
            </a:r>
            <a:r>
              <a:rPr b="0" i="0" lang="pt-BR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rebobinada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levada para a sala da máquina, onde era montada em uma unidade de fita. O operador carregava então um programa especial (o ancestral do sistema operacional de hoje), que lia o primeiro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fita e a executava. A saída era gravada em uma segunda fita, em vez de ser impressa.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 que cada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terminava, o sistema operacional lia automaticamente o próximo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fita e começava a executá-lo. Quando o lote inteiro estava pronto, o operador removia as fitas de entrada e saída, substituía a fita de entrada pelo próximo lote e levava a fi ta de saída para um 1401 imprimir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 line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(isto é, não conectado ao computador principal).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2193989" y="324928"/>
            <a:ext cx="7962175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segunda geração: transistores e sistemas de lote (1955-65)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/>
        </p:nvSpPr>
        <p:spPr>
          <a:xfrm flipH="1">
            <a:off x="454371" y="2631447"/>
            <a:ext cx="11283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Grandes computadores de segunda geração eram usados principalmente para cálculos científicos e de engenharia, como a solução de equações diferenciais parciais que frequentemente ocorrem na física e na engenharia. Eles eram programados principalmente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 FORTRAN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em linguagem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assembly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Sistemas operacionais típicos eram o FMS (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Fortran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onitor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 o IBSYS, sistema operacional da IBM para o 7094.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2193989" y="324928"/>
            <a:ext cx="7962175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segunda geração: transistores e sistemas de lote (1955-65)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/>
        </p:nvSpPr>
        <p:spPr>
          <a:xfrm flipH="1">
            <a:off x="454371" y="1712669"/>
            <a:ext cx="112833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início da década de 60, a IBM apresentou 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System/360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 O 360 era uma série de máquinas de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compatível que variavam desde a capacidade de um 1401 até um muito mais poderoso do que o 7094. Como todas as máquinas tinham a mesma arquitetura, os programas escritos para uma podiam ser executados em todas as outras, pelo menos teoricamente.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360 foi a primeira linha de computadores importante a usar </a:t>
            </a:r>
            <a:r>
              <a:rPr b="0" i="0" lang="pt-BR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2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(CIs), oferecendo assim uma vantagem de preço/desempenho em relação às máquinas de segunda geração, que eram construídas a partir de transistores individuais. A ideia de uma família de computadores compatíveis logo foi adotada por todos os outros principais fabricantes. As descendentes dessas máquinas ainda são empregadas nos centros de computação atuais.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2193989" y="324928"/>
            <a:ext cx="781840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terceira geração: CIs e multiprogramação (1965–1980)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9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/>
          <p:nvPr/>
        </p:nvSpPr>
        <p:spPr>
          <a:xfrm flipH="1">
            <a:off x="454323" y="2140738"/>
            <a:ext cx="11283348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intenção era que todo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incluindo o sistema operacional, o OS/360, funcionasse em todos os modelos. Ele tinha que funcionar em sistemas pequenos, que apenas substituíam os 1401, e em sistemas muito grandes, que muitas vezes substituíam os 7094 para fazer previsão do tempo e outros cálculos pesados.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 consistia em milhões de linhas de linguagem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assembly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escritas por milhares de programadores, e continha milhares e milhares de erros, que necessitavam um fluxo contínuo de novas versões na tentativa de corrigi-los. Cada nova versão corrigia alguns erros e introduzia outros, de modo que o número de erros provavelmente permanecia constante com o tempo.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2193989" y="324928"/>
            <a:ext cx="781840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terceira geração: CIs e multiprogramação (1965–1980)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0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/>
        </p:nvSpPr>
        <p:spPr>
          <a:xfrm flipH="1">
            <a:off x="353682" y="1996278"/>
            <a:ext cx="5388630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Apesar de seu tamanho enorme e de seus problemas, 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OS/360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os sistemas operacionais de terceira geração semelhantes, produzidos por outros fabricantes de computadores, satisfizeram a maioria de seus clientes razoavelmente bem. Eles também popularizaram várias técnicas importantes, ausentes nos sistemas operacionais de segunda geração. Provavelmente a mais importante delas foi 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multiprogramação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2193989" y="324928"/>
            <a:ext cx="781840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terceira geração: CIs e multiprogramação (1965–1980)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no interior, edifício, em pé, homem&#10;&#10;Descrição gerada automaticamente" id="259" name="Google Shape;2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3419" y="1996982"/>
            <a:ext cx="5388633" cy="365479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 flipH="1">
            <a:off x="6363418" y="5732655"/>
            <a:ext cx="58055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IBM 360/91. Fonte: </a:t>
            </a:r>
            <a:r>
              <a:rPr b="0" i="0" lang="pt-BR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encurtador.com.br/dnxT2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1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/>
        </p:nvSpPr>
        <p:spPr>
          <a:xfrm flipH="1">
            <a:off x="454371" y="1632906"/>
            <a:ext cx="112833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o desenvolvimento dos circuitos LSI (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Scale Integration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chips contendo milhares de transistores em um centímetro quadrado de silício, surgiu a era do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computador pessoal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baseado em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microprocessador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 O minicomputador também tornou possível que um departamento de uma empresa ou universidade tivesse seu próprio computador. O microcomputador tornou possível que uma pessoa tivesse seu próprio computador.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Havia várias famílias de microcomputadores. Em 1974, a Intel apareceu com 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8080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 primeiro microprocessador 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bits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propósito geral. Diversas empresas produziram sistemas completos usando o 8080 (ou o microprocessador compatível da Zilog, o Z80) e o sistema operacional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CP/M (</a:t>
            </a:r>
            <a:r>
              <a:rPr b="1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Program for Microcomputers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 uma empresa chamada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Research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foi amplamente usado neles. Muitos programas aplicativos foram escritos para executar no CP/M e ele dominou o mundo da computação pessoal por cerca de 5 anos.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2193989" y="324928"/>
            <a:ext cx="781840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quarta geração: computadores pessoais (1980–1990)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2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/>
        </p:nvSpPr>
        <p:spPr>
          <a:xfrm flipH="1">
            <a:off x="454371" y="1802183"/>
            <a:ext cx="112833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Motorola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também produziu um microprocessador de 8 bits, o 6800. Um grupo de engenheiros deixou a Motorola para formar a MOS Technology e fabricar a CPU 6502, após a Motorola ter rejeitado as melhorias sugeridas por eles para o 6800. O 6502 foi a CPU de vários sistemas antigos. Um deles, o Apple II, se tornou um importante concorrente dos sistemas CP/M nos mercados doméstico e educacional.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 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CP/M 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era tão popular que muitos proprietários de computadores Apple II adquiriram placas com o coprocessador Z-80 para executar CP/M, pois a CPU 6502 não era compatível com este sistema operacional. As placas CP/M eram comercializadas por uma pequena empresa chamada Microsoft, que também tinha um nicho de mercado, fornecendo interpretadores BASIC, usado por vários microcomputadores que executavam o CP/M.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2193989" y="324928"/>
            <a:ext cx="781840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quarta geração: computadores pessoais (1980–1990)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3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 txBox="1"/>
          <p:nvPr/>
        </p:nvSpPr>
        <p:spPr>
          <a:xfrm flipH="1">
            <a:off x="411239" y="2191744"/>
            <a:ext cx="11283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geração seguinte de microprocessadores foram os sistemas 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bits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apareceu com 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8086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e, no início dos anos 80, 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IBM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projetou o IBM PC utilizando o 8088 da Intel. A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ofereceu à IBM um pacote que incluía o BASIC e um sistema operacional, o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(Disk Operating System)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originalmente desenvolvido por outra empresa – a Microsoft comprou o produto e contratou o autor original para aprimorá-lo. O sistema revisado foi chamado 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MS-DOS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Disk Operating System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 rapidamente dominou o mercado do IBM PC. O CP/M, o MS-DOS e o Apple DOS eram todos sistemas 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linha de comando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2193989" y="324928"/>
            <a:ext cx="781840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quarta geração: computadores pessoais (1980–1990)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4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/>
        </p:nvSpPr>
        <p:spPr>
          <a:xfrm flipH="1">
            <a:off x="698739" y="5100051"/>
            <a:ext cx="21105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0" i="1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II - 1977</a:t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2193989" y="324928"/>
            <a:ext cx="781840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quarta geração: computadores pessoais (1980–1991)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eletrônico, computador, pequeno, monitor&#10;&#10;Descrição gerada automaticamente" id="293" name="Google Shape;2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474" y="1660110"/>
            <a:ext cx="4382218" cy="3537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nitor de computador&#10;&#10;Descrição gerada automaticamente" id="294" name="Google Shape;2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0918" y="1709199"/>
            <a:ext cx="4704091" cy="332458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 flipH="1">
            <a:off x="6176511" y="5028163"/>
            <a:ext cx="21105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0" i="1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IBM PC - 1981</a:t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5" title="sc-arma.png"/>
          <p:cNvPicPr preferRelativeResize="0"/>
          <p:nvPr/>
        </p:nvPicPr>
        <p:blipFill rotWithShape="1">
          <a:blip r:embed="rId5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/>
        </p:nvSpPr>
        <p:spPr>
          <a:xfrm flipH="1">
            <a:off x="454323" y="1639191"/>
            <a:ext cx="11283348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Principais Características: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O nascimento da Inteligência Artificial;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Reconhecimento de voz;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Sistemas inteligentes;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Redes neurais;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Robótica;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Redes de Alta Velocidade;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Computação Distribuída;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Computação nas Nuvens (Cloud Computing);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Computação em Grade ou em Rede;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Computação Móvel;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Computação Ubíqua;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Realidade Aumentada;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2193989" y="324928"/>
            <a:ext cx="781840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Quinta e Sexta geração: Inteligência Artificial (1991–hoje)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26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/>
        </p:nvSpPr>
        <p:spPr>
          <a:xfrm flipH="1">
            <a:off x="454323" y="2593298"/>
            <a:ext cx="11283348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Tradicionalmente, a inteligência artificial é dividida em três grandes aplicações: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processos de linguagem natural, que facilita a comunicação do computador com o utilizador;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robótica e tudo associado à visão e manipulação de objetos;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sistemas especialistas, baseados no armazenamento do conhecimento adquirido.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 txBox="1"/>
          <p:nvPr/>
        </p:nvSpPr>
        <p:spPr>
          <a:xfrm>
            <a:off x="2193989" y="324928"/>
            <a:ext cx="7818402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 Sistemas Operacionais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Quinta e Sexta geração: Inteligência Artificial (1991–hoje)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7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/>
        </p:nvSpPr>
        <p:spPr>
          <a:xfrm>
            <a:off x="3229156" y="281796"/>
            <a:ext cx="574806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 a Sistemas Operacionais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b="1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 txBox="1"/>
          <p:nvPr/>
        </p:nvSpPr>
        <p:spPr>
          <a:xfrm flipH="1">
            <a:off x="454323" y="2602043"/>
            <a:ext cx="11283348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Conceitos básicos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Primeira geração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Segunda geração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Terceira geração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Quarta geração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Quinta e Sexta gerações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28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"/>
          <p:cNvSpPr txBox="1"/>
          <p:nvPr/>
        </p:nvSpPr>
        <p:spPr>
          <a:xfrm>
            <a:off x="353683" y="2122098"/>
            <a:ext cx="1149901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 Básicas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Livro DEITEL, Harvey M.; DEITEL, Paul J.; CHOFFNES, David R. Sistemas Operacionais. 3ª Edição. São Paulo: Pearson Prentice Hall, 2005.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Livro GONÇALVES FILHO, Aurélio; BAROLLI, Elisabeth. Instalação elétrica: investigando e aprendendo. 5ª. ed. São Paulo, SP: Scipione, 1997.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Livro MACHADO, Francis B.; MAIA, Luiz Paulo. Arquitetura de Sistemas Operacionais. 5ª Edição. Rio de Janeiro: Editora Livros Técnicos e Científicos, 2013.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Livro PATTERSON, David A; HENNESSY, John L. Organização e projeto de computadores. 3ª. ed. Rio de Janeiro: Elsevier, Campus, 2005.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Livro STALLINGS, William. Arquitetura e organização de computadores. 8. ed. São Paulo: Pearson Prentice Hall, 2010.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Livro TANENBAUM, Andrew S. Sistemas operacionais modernos. 3ª. ed. São Paulo: Pearson Prentice Hall, 2010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29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641230" y="396815"/>
            <a:ext cx="1092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r>
              <a:rPr b="1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r>
              <a:rPr b="1" i="0" lang="pt-BR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53683" y="1863305"/>
            <a:ext cx="1149901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 Complementares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AHO, Alfred V. Compiladores: princípios, técnicas e ferramentas. 2ª. ed. São Paulo, SP: Pearson Addison Wesley, 2008.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DAGHLIAN, Jacob. Lógica e álgebra de Boole. 4ª. ed. São Paulo: Atlas, 2006.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KANNO, A. Eletrônica básica para principiantes. São Paulo: Eltec, 2002.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MONTEIRO, Mário A. (Mario Antônio). Introdução à organização de computadores. 5ª. ed. Rio de Janeiro: Livros Técnicos e Científicos, 2007.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NEGUS, Christopher. Linux: a bíblia boot up Ubuntu, Fedora, Knippix, Debian, Suse e outras. Rio de Janeiro: Alta Books, 2008.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OLIVEIRA, Rômulo Silva de; CARISSIMI, Alexandre da Silva; TOSCANI, Simão. Sistemas operacionais. 4a.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Edição. Porto Alegre: Bookman, 2010.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TANENBAUM, Andrew S. Organização estruturada de computadores. 5a. ed. São Paulo, SP: Pearson Prentice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Hall, 2007.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TOCCI, Ronald J. Sistemas digitais: princípios e aplicações. 10a. ed. São Paulo: Pearson Hall., 2007.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sng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30" title="sc-arma.png"/>
          <p:cNvPicPr preferRelativeResize="0"/>
          <p:nvPr/>
        </p:nvPicPr>
        <p:blipFill rotWithShape="1">
          <a:blip r:embed="rId3">
            <a:alphaModFix/>
          </a:blip>
          <a:srcRect b="6094" l="25927" r="26370" t="6094"/>
          <a:stretch/>
        </p:blipFill>
        <p:spPr>
          <a:xfrm>
            <a:off x="117900" y="226900"/>
            <a:ext cx="689025" cy="7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2012-07-30T23:50:35Z</dcterms:created>
</cp:coreProperties>
</file>