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s1OBTDcY9A12sIHbyF1gX8bJp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03BB38-67CE-413A-AF92-79A771AE86A1}">
  <a:tblStyle styleId="{4403BB38-67CE-413A-AF92-79A771AE86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01461E70-CBB3-4216-B775-6E02D525FF2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Tahoma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c8f0ada7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c8f0ada7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:notes"/>
          <p:cNvSpPr/>
          <p:nvPr>
            <p:ph idx="2" type="sldImg"/>
          </p:nvPr>
        </p:nvSpPr>
        <p:spPr>
          <a:xfrm>
            <a:off x="2363788" y="549275"/>
            <a:ext cx="4873625" cy="27416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" type="body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1"/>
          <p:cNvSpPr txBox="1"/>
          <p:nvPr>
            <p:ph type="ctrTitle"/>
          </p:nvPr>
        </p:nvSpPr>
        <p:spPr>
          <a:xfrm>
            <a:off x="1524000" y="11245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9" name="Google Shape;99;p41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1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2"/>
          <p:cNvSpPr txBox="1"/>
          <p:nvPr>
            <p:ph type="title"/>
          </p:nvPr>
        </p:nvSpPr>
        <p:spPr>
          <a:xfrm>
            <a:off x="831851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2"/>
          <p:cNvSpPr txBox="1"/>
          <p:nvPr>
            <p:ph idx="1" type="body"/>
          </p:nvPr>
        </p:nvSpPr>
        <p:spPr>
          <a:xfrm>
            <a:off x="831851" y="455263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42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2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1" type="body"/>
          </p:nvPr>
        </p:nvSpPr>
        <p:spPr>
          <a:xfrm>
            <a:off x="845127" y="1828803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1" name="Google Shape;111;p43"/>
          <p:cNvSpPr txBox="1"/>
          <p:nvPr>
            <p:ph idx="2" type="body"/>
          </p:nvPr>
        </p:nvSpPr>
        <p:spPr>
          <a:xfrm>
            <a:off x="6172200" y="1828803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2" name="Google Shape;112;p43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3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3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>
  <p:cSld name="Comparação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4"/>
          <p:cNvSpPr txBox="1"/>
          <p:nvPr>
            <p:ph idx="1" type="body"/>
          </p:nvPr>
        </p:nvSpPr>
        <p:spPr>
          <a:xfrm>
            <a:off x="845127" y="1681852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7" name="Google Shape;117;p44"/>
          <p:cNvSpPr txBox="1"/>
          <p:nvPr>
            <p:ph idx="2" type="body"/>
          </p:nvPr>
        </p:nvSpPr>
        <p:spPr>
          <a:xfrm>
            <a:off x="845127" y="2507554"/>
            <a:ext cx="515620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8" name="Google Shape;118;p44"/>
          <p:cNvSpPr txBox="1"/>
          <p:nvPr>
            <p:ph idx="3" type="body"/>
          </p:nvPr>
        </p:nvSpPr>
        <p:spPr>
          <a:xfrm>
            <a:off x="6172202" y="1681851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9" name="Google Shape;119;p44"/>
          <p:cNvSpPr txBox="1"/>
          <p:nvPr>
            <p:ph idx="4" type="body"/>
          </p:nvPr>
        </p:nvSpPr>
        <p:spPr>
          <a:xfrm>
            <a:off x="6172202" y="2507554"/>
            <a:ext cx="51816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20" name="Google Shape;120;p44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" name="Google Shape;123;p44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>
  <p:cSld name="Somente Títul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5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5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5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p45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6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6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6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7"/>
          <p:cNvSpPr txBox="1"/>
          <p:nvPr>
            <p:ph type="title"/>
          </p:nvPr>
        </p:nvSpPr>
        <p:spPr>
          <a:xfrm>
            <a:off x="841248" y="457204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7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36" name="Google Shape;136;p47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37" name="Google Shape;137;p47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7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8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8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44" name="Google Shape;144;p48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8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9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" type="body"/>
          </p:nvPr>
        </p:nvSpPr>
        <p:spPr>
          <a:xfrm rot="5400000">
            <a:off x="3927259" y="-1253329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50" name="Google Shape;150;p49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9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9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0"/>
          <p:cNvSpPr txBox="1"/>
          <p:nvPr>
            <p:ph type="title"/>
          </p:nvPr>
        </p:nvSpPr>
        <p:spPr>
          <a:xfrm rot="5400000">
            <a:off x="7133433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>
            <p:ph idx="1" type="body"/>
          </p:nvPr>
        </p:nvSpPr>
        <p:spPr>
          <a:xfrm rot="5400000">
            <a:off x="1799434" y="-600865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56" name="Google Shape;156;p50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0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0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29"/>
          <p:cNvSpPr txBox="1"/>
          <p:nvPr>
            <p:ph idx="1" type="body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9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9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9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/>
          <p:nvPr>
            <p:ph idx="1" type="subTitle"/>
          </p:nvPr>
        </p:nvSpPr>
        <p:spPr>
          <a:xfrm>
            <a:off x="1667774" y="5241057"/>
            <a:ext cx="9144000" cy="103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Professor: Euclides Paim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euclidespaim@gmail.com</a:t>
            </a:r>
            <a:endParaRPr/>
          </a:p>
        </p:txBody>
      </p:sp>
      <p:sp>
        <p:nvSpPr>
          <p:cNvPr id="165" name="Google Shape;165;p1"/>
          <p:cNvSpPr txBox="1"/>
          <p:nvPr/>
        </p:nvSpPr>
        <p:spPr>
          <a:xfrm>
            <a:off x="1733910" y="3071004"/>
            <a:ext cx="87385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Sistemas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>
            <p:ph idx="1" type="subTitle"/>
          </p:nvPr>
        </p:nvSpPr>
        <p:spPr>
          <a:xfrm>
            <a:off x="1667774" y="5241057"/>
            <a:ext cx="9144000" cy="103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Professor: Euclides Paim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euclidespaim@gmail.com</a:t>
            </a:r>
            <a:endParaRPr i="1"/>
          </a:p>
        </p:txBody>
      </p:sp>
      <p:sp>
        <p:nvSpPr>
          <p:cNvPr id="174" name="Google Shape;174;p2"/>
          <p:cNvSpPr txBox="1"/>
          <p:nvPr/>
        </p:nvSpPr>
        <p:spPr>
          <a:xfrm>
            <a:off x="3416062" y="2898474"/>
            <a:ext cx="566180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 </a:t>
            </a:r>
            <a:r>
              <a:rPr b="1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e Processador</a:t>
            </a:r>
            <a:endParaRPr b="1" i="1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181" name="Google Shape;181;p3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182" name="Google Shape;182;p3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253041" y="1949571"/>
            <a:ext cx="11700294" cy="320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memórias</a:t>
            </a:r>
            <a:b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Hierarquia de memórias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Evolução das memórias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Terminologia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Memória cache, principal e ROM</a:t>
            </a:r>
            <a:endParaRPr/>
          </a:p>
          <a:p>
            <a:pPr indent="-158750" lvl="0" marL="2857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Processador</a:t>
            </a:r>
            <a:b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Operações primitivas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Instruções de máquina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 Organização lógica do processador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desenho&#10;&#10;Descrição gerada automaticamente" id="186" name="Google Shape;1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900000">
            <a:off x="8125004" y="2179788"/>
            <a:ext cx="2541198" cy="24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123646" y="1719533"/>
            <a:ext cx="11987840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Hardware – Sistema de Memória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é o componente de um sistema de computação cuja função é </a:t>
            </a:r>
            <a:r>
              <a:rPr b="1" i="1" lang="pt-BR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armazenar as informações 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são (serão) manipuladas;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8001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computador há vários tipos de memórias. Principais razões: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 crescente da velocidade das CPU, muito superior ao </a:t>
            </a:r>
            <a:r>
              <a:rPr b="1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 de acesso 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memória;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 de armazenamento, dado o aumento do tamanho dos programas e volume de dados.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8001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houvesse </a:t>
            </a:r>
            <a:r>
              <a:rPr b="1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 um 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memória: sua velocidade (tempo de acesso) </a:t>
            </a:r>
            <a:r>
              <a:rPr b="1" i="1" lang="pt-BR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deveria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ser compatível com a CPU.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123646" y="1345722"/>
            <a:ext cx="11987840" cy="74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Hierarquia de Memória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5"/>
          <p:cNvGrpSpPr/>
          <p:nvPr/>
        </p:nvGrpSpPr>
        <p:grpSpPr>
          <a:xfrm>
            <a:off x="2106808" y="2064398"/>
            <a:ext cx="8460429" cy="4464223"/>
            <a:chOff x="2106808" y="2064398"/>
            <a:chExt cx="8460429" cy="4464223"/>
          </a:xfrm>
        </p:grpSpPr>
        <p:pic>
          <p:nvPicPr>
            <p:cNvPr id="204" name="Google Shape;20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90984" y="2352488"/>
              <a:ext cx="5857875" cy="3667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5"/>
            <p:cNvSpPr txBox="1"/>
            <p:nvPr/>
          </p:nvSpPr>
          <p:spPr>
            <a:xfrm>
              <a:off x="2466845" y="2064398"/>
              <a:ext cx="2304256" cy="923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Custo alto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Velocidade alta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Baixa capacidade</a:t>
              </a:r>
              <a:endParaRPr/>
            </a:p>
          </p:txBody>
        </p:sp>
        <p:grpSp>
          <p:nvGrpSpPr>
            <p:cNvPr id="206" name="Google Shape;206;p5"/>
            <p:cNvGrpSpPr/>
            <p:nvPr/>
          </p:nvGrpSpPr>
          <p:grpSpPr>
            <a:xfrm>
              <a:off x="2106808" y="5574502"/>
              <a:ext cx="2867257" cy="954119"/>
              <a:chOff x="2135563" y="5373219"/>
              <a:chExt cx="2592288" cy="954119"/>
            </a:xfrm>
          </p:grpSpPr>
          <p:sp>
            <p:nvSpPr>
              <p:cNvPr id="207" name="Google Shape;207;p5"/>
              <p:cNvSpPr txBox="1"/>
              <p:nvPr/>
            </p:nvSpPr>
            <p:spPr>
              <a:xfrm>
                <a:off x="2135563" y="5681007"/>
                <a:ext cx="2592288" cy="64633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 Velocidade </a:t>
                </a:r>
                <a:r>
                  <a:rPr b="1" lang="pt-BR" sz="1800">
                    <a:solidFill>
                      <a:srgbClr val="54813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baixa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 Capacidade </a:t>
                </a:r>
                <a:r>
                  <a:rPr b="1" lang="pt-BR" sz="1800">
                    <a:solidFill>
                      <a:srgbClr val="54813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elevada</a:t>
                </a:r>
                <a:endParaRPr/>
              </a:p>
            </p:txBody>
          </p:sp>
          <p:sp>
            <p:nvSpPr>
              <p:cNvPr id="208" name="Google Shape;208;p5"/>
              <p:cNvSpPr txBox="1"/>
              <p:nvPr/>
            </p:nvSpPr>
            <p:spPr>
              <a:xfrm>
                <a:off x="2148626" y="5373219"/>
                <a:ext cx="1744703" cy="36933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 Custo </a:t>
                </a:r>
                <a:r>
                  <a:rPr b="1" lang="pt-BR" sz="1800">
                    <a:solidFill>
                      <a:srgbClr val="54813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baixo</a:t>
                </a:r>
                <a:endParaRPr/>
              </a:p>
            </p:txBody>
          </p:sp>
        </p:grpSp>
        <p:cxnSp>
          <p:nvCxnSpPr>
            <p:cNvPr id="209" name="Google Shape;209;p5"/>
            <p:cNvCxnSpPr/>
            <p:nvPr/>
          </p:nvCxnSpPr>
          <p:spPr>
            <a:xfrm rot="10800000">
              <a:off x="6237387" y="2838195"/>
              <a:ext cx="1368152" cy="0"/>
            </a:xfrm>
            <a:prstGeom prst="straightConnector1">
              <a:avLst/>
            </a:prstGeom>
            <a:noFill/>
            <a:ln cap="flat" cmpd="sng" w="57150">
              <a:solidFill>
                <a:srgbClr val="07C91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5"/>
            <p:cNvCxnSpPr/>
            <p:nvPr/>
          </p:nvCxnSpPr>
          <p:spPr>
            <a:xfrm rot="10800000">
              <a:off x="6427285" y="3990323"/>
              <a:ext cx="1152128" cy="26126"/>
            </a:xfrm>
            <a:prstGeom prst="straightConnector1">
              <a:avLst/>
            </a:prstGeom>
            <a:noFill/>
            <a:ln cap="flat" cmpd="sng" w="57150">
              <a:solidFill>
                <a:srgbClr val="07C91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5"/>
            <p:cNvSpPr txBox="1"/>
            <p:nvPr/>
          </p:nvSpPr>
          <p:spPr>
            <a:xfrm>
              <a:off x="7579413" y="3768781"/>
              <a:ext cx="2160240" cy="6463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Memória cache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2" name="Google Shape;212;p5"/>
            <p:cNvCxnSpPr/>
            <p:nvPr/>
          </p:nvCxnSpPr>
          <p:spPr>
            <a:xfrm rot="10800000">
              <a:off x="6499293" y="4782411"/>
              <a:ext cx="1152128" cy="26126"/>
            </a:xfrm>
            <a:prstGeom prst="straightConnector1">
              <a:avLst/>
            </a:prstGeom>
            <a:noFill/>
            <a:ln cap="flat" cmpd="sng" w="57150">
              <a:solidFill>
                <a:srgbClr val="07C91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3" name="Google Shape;213;p5"/>
            <p:cNvSpPr txBox="1"/>
            <p:nvPr/>
          </p:nvSpPr>
          <p:spPr>
            <a:xfrm>
              <a:off x="7572251" y="4566067"/>
              <a:ext cx="2448272" cy="6463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Memória principal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4" name="Google Shape;214;p5"/>
            <p:cNvCxnSpPr/>
            <p:nvPr/>
          </p:nvCxnSpPr>
          <p:spPr>
            <a:xfrm rot="10800000">
              <a:off x="6571301" y="5430483"/>
              <a:ext cx="1152128" cy="26126"/>
            </a:xfrm>
            <a:prstGeom prst="straightConnector1">
              <a:avLst/>
            </a:prstGeom>
            <a:noFill/>
            <a:ln cap="flat" cmpd="sng" w="57150">
              <a:solidFill>
                <a:srgbClr val="07C91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5" name="Google Shape;215;p5"/>
            <p:cNvSpPr txBox="1"/>
            <p:nvPr/>
          </p:nvSpPr>
          <p:spPr>
            <a:xfrm>
              <a:off x="7651421" y="5195878"/>
              <a:ext cx="2736304" cy="6463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Memória secundária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3042909" y="3126227"/>
              <a:ext cx="288032" cy="2448272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07C910"/>
            </a:solidFill>
            <a:ln cap="flat" cmpd="sng" w="12700">
              <a:solidFill>
                <a:srgbClr val="07C91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6571301" y="2918637"/>
              <a:ext cx="3995936" cy="67710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pt-BR" sz="19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   (Armazenam os dados e resultados de processamento dentro da CPU )</a:t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615969">
              <a:off x="6381403" y="2949392"/>
              <a:ext cx="360040" cy="50405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7631988" y="2596045"/>
              <a:ext cx="1872208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Registradores</a:t>
              </a:r>
              <a:endParaRPr/>
            </a:p>
          </p:txBody>
        </p:sp>
      </p:grpSp>
      <p:pic>
        <p:nvPicPr>
          <p:cNvPr id="220" name="Google Shape;220;p5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23646" y="1345722"/>
            <a:ext cx="11987840" cy="74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Hierarquia de Memória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6"/>
          <p:cNvGraphicFramePr/>
          <p:nvPr/>
        </p:nvGraphicFramePr>
        <p:xfrm>
          <a:off x="963283" y="2012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{4403BB38-67CE-413A-AF92-79A771AE86A1}</a:tableStyleId>
              </a:tblPr>
              <a:tblGrid>
                <a:gridCol w="2648775"/>
                <a:gridCol w="1983700"/>
                <a:gridCol w="1467725"/>
                <a:gridCol w="2419450"/>
                <a:gridCol w="1811700"/>
              </a:tblGrid>
              <a:tr h="6477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Propriedades da hierarquia de memória no fim dos anos 1990​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  <a:tc hMerge="1"/>
              </a:tr>
              <a:tr h="84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Tipo de Memória​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Tempo de Acesso​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Custo por MB​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Quantidade típica usada​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Custo​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Registradores​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 ns​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Alto​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 KB​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-​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Cache​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5 – 20ns​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US$100​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 MB​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US$100​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Memória Principal​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60 – 80 ns​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US$1,10​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64 MB​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US$ 70​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Memória  em disco​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10 ms​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US$0,05​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4 GB​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US$200​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29" name="Google Shape;229;p6"/>
          <p:cNvSpPr txBox="1"/>
          <p:nvPr/>
        </p:nvSpPr>
        <p:spPr>
          <a:xfrm>
            <a:off x="984654" y="6223059"/>
            <a:ext cx="10250611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</a:t>
            </a: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Computer Architecture by M. Murdoccaand V. Heuring</a:t>
            </a:r>
            <a:endParaRPr/>
          </a:p>
        </p:txBody>
      </p:sp>
      <p:pic>
        <p:nvPicPr>
          <p:cNvPr id="230" name="Google Shape;230;p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123646" y="1259458"/>
            <a:ext cx="119878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das Memórias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758" y="1639496"/>
            <a:ext cx="6021237" cy="51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7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09269" y="1446364"/>
            <a:ext cx="11987840" cy="3841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Terminologias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34290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Volatilidade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memórias podem ser do tipo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volátil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ou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não-volátil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Não-volátil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– Retém a informação armazenada mesmo quando a energia elétrica é desligada;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3" marL="188531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Memórias magnéticas e ópticas, como discos e fitas, memórias ROM (EPROM, EEPROM,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Flash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3" marL="188531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Volátil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– Perde a informação armazenada quando o há uma interrupção de alimentação elétrica;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3" marL="188531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Registradores e memória RAM.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09269" y="1302590"/>
            <a:ext cx="11987700" cy="5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Terminologias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rgbClr val="3A3838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Memória de semicondutores</a:t>
            </a:r>
            <a:r>
              <a:rPr b="1" i="0" lang="pt-BR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dispositivos fabricados com </a:t>
            </a:r>
            <a:r>
              <a:rPr b="1" i="1" lang="pt-BR" sz="21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circuitos eletrônicos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baseados em semicondutores;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Rápidas e relativamente caras;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Registradores, memória RAM</a:t>
            </a: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cache, </a:t>
            </a: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SSDs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rgbClr val="3A3838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Memórias de meio magnético</a:t>
            </a:r>
            <a:r>
              <a:rPr b="1" i="0" lang="pt-BR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  dispositivos fabricados de modo armazenar informações sob a forma de </a:t>
            </a:r>
            <a:r>
              <a:rPr b="1" i="1" lang="pt-BR" sz="21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campos magnéticos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Grande capacidade de armazenamento e  baratas;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Disquetes</a:t>
            </a: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HDDs, fitas magnéticas;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rgbClr val="3A3838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Memórias de meio óptico</a:t>
            </a:r>
            <a:r>
              <a:rPr b="1" i="0" lang="pt-BR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utilizam um feixe de luz para escrita e leitura (0 ou 1) dos dados em sua superfície;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4874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CD, DVD e blue-ray.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109269" y="1475118"/>
            <a:ext cx="11987840" cy="3905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315" lvl="0" marL="3613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 cache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7965" lvl="0" marL="36131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1" marL="89725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 cache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entre a CPU e a memória principal (</a:t>
            </a: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1" marL="89725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Possui tecnologia semelhante à da CPU e, em consequência possui tempos de acesso compatíveis;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1" marL="89725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normalmente é muito menor do que a MP (geralmente ≤ 8 MB)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2" marL="143383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Intel® Core™ </a:t>
            </a: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i7-965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Extreme Edition tem 8 MB de cache;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2" marL="143383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1" marL="89725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2" marL="1433830" marR="0" rtl="0" algn="just">
              <a:spcBef>
                <a:spcPts val="42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•"/>
            </a:pPr>
            <a:r>
              <a:rPr b="0" i="1" lang="pt-BR" sz="2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Acelerar a velocidade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transferência das informações entre a CPU e a MP;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7990" lvl="2" marL="143383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Armazena os </a:t>
            </a: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 </a:t>
            </a: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mais recentemente utilizados.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09269" y="1475118"/>
            <a:ext cx="1198784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315" lvl="0" marL="3613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Troca de informações entre CPU, Cache e MP</a:t>
            </a:r>
            <a:endParaRPr/>
          </a:p>
        </p:txBody>
      </p:sp>
      <p:grpSp>
        <p:nvGrpSpPr>
          <p:cNvPr id="271" name="Google Shape;271;p11"/>
          <p:cNvGrpSpPr/>
          <p:nvPr/>
        </p:nvGrpSpPr>
        <p:grpSpPr>
          <a:xfrm>
            <a:off x="2506053" y="2118236"/>
            <a:ext cx="7174674" cy="4464496"/>
            <a:chOff x="2506053" y="2118236"/>
            <a:chExt cx="7174674" cy="4464496"/>
          </a:xfrm>
        </p:grpSpPr>
        <p:sp>
          <p:nvSpPr>
            <p:cNvPr id="272" name="Google Shape;272;p11"/>
            <p:cNvSpPr/>
            <p:nvPr/>
          </p:nvSpPr>
          <p:spPr>
            <a:xfrm>
              <a:off x="2885849" y="2118236"/>
              <a:ext cx="2612540" cy="1008112"/>
            </a:xfrm>
            <a:prstGeom prst="rect">
              <a:avLst/>
            </a:prstGeom>
            <a:solidFill>
              <a:srgbClr val="171616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CPU</a:t>
              </a: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2885849" y="3846428"/>
              <a:ext cx="2612540" cy="1008112"/>
            </a:xfrm>
            <a:prstGeom prst="rect">
              <a:avLst/>
            </a:prstGeom>
            <a:solidFill>
              <a:srgbClr val="171616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2506053" y="5574620"/>
              <a:ext cx="3456384" cy="1008112"/>
            </a:xfrm>
            <a:prstGeom prst="rect">
              <a:avLst/>
            </a:prstGeom>
            <a:solidFill>
              <a:srgbClr val="171616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Memória Principal</a:t>
              </a:r>
              <a:endParaRPr/>
            </a:p>
          </p:txBody>
        </p:sp>
        <p:cxnSp>
          <p:nvCxnSpPr>
            <p:cNvPr id="275" name="Google Shape;275;p11"/>
            <p:cNvCxnSpPr/>
            <p:nvPr/>
          </p:nvCxnSpPr>
          <p:spPr>
            <a:xfrm rot="10800000">
              <a:off x="4496151" y="3126348"/>
              <a:ext cx="0" cy="720080"/>
            </a:xfrm>
            <a:prstGeom prst="straightConnector1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276" name="Google Shape;276;p11"/>
            <p:cNvCxnSpPr/>
            <p:nvPr/>
          </p:nvCxnSpPr>
          <p:spPr>
            <a:xfrm rot="10800000">
              <a:off x="4542033" y="4854540"/>
              <a:ext cx="0" cy="720080"/>
            </a:xfrm>
            <a:prstGeom prst="straightConnector1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277" name="Google Shape;277;p11"/>
            <p:cNvCxnSpPr/>
            <p:nvPr/>
          </p:nvCxnSpPr>
          <p:spPr>
            <a:xfrm>
              <a:off x="3920087" y="3126348"/>
              <a:ext cx="0" cy="720080"/>
            </a:xfrm>
            <a:prstGeom prst="straightConnector1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278" name="Google Shape;278;p11"/>
            <p:cNvCxnSpPr/>
            <p:nvPr/>
          </p:nvCxnSpPr>
          <p:spPr>
            <a:xfrm>
              <a:off x="3920087" y="4854540"/>
              <a:ext cx="0" cy="720080"/>
            </a:xfrm>
            <a:prstGeom prst="straightConnector1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279" name="Google Shape;279;p11"/>
            <p:cNvCxnSpPr/>
            <p:nvPr/>
          </p:nvCxnSpPr>
          <p:spPr>
            <a:xfrm>
              <a:off x="5694161" y="4343791"/>
              <a:ext cx="720080" cy="0"/>
            </a:xfrm>
            <a:prstGeom prst="straightConnector1">
              <a:avLst/>
            </a:prstGeom>
            <a:noFill/>
            <a:ln cap="flat" cmpd="sng" w="28575">
              <a:solidFill>
                <a:srgbClr val="75707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  <p:sp>
          <p:nvSpPr>
            <p:cNvPr id="280" name="Google Shape;280;p11"/>
            <p:cNvSpPr txBox="1"/>
            <p:nvPr/>
          </p:nvSpPr>
          <p:spPr>
            <a:xfrm>
              <a:off x="6476879" y="3994786"/>
              <a:ext cx="32038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Podem existir diferentes níveis de </a:t>
              </a:r>
              <a:r>
                <a:rPr b="1" i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r>
                <a:rPr b="1"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L1, L2, L3,...</a:t>
              </a:r>
              <a:endParaRPr/>
            </a:p>
          </p:txBody>
        </p:sp>
      </p:grpSp>
      <p:pic>
        <p:nvPicPr>
          <p:cNvPr id="281" name="Google Shape;281;p1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/>
        </p:nvSpPr>
        <p:spPr>
          <a:xfrm>
            <a:off x="3631647" y="311269"/>
            <a:ext cx="4928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Principal: Definições e Operação da RAM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24061" y="1242195"/>
            <a:ext cx="11964000" cy="47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 fontScale="85000" lnSpcReduction="200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a unidade de armazenamento temporário de alta velocidade que o processador utiliza para guardar dados e instruções dos programas que estão em execução.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pt-BR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termo "aleatório" indica que o tempo de acesso a qualquer dado é constante, independentemente da sua posição física na memória (do endereço $0$ ao $N-1$). Não há necessidade de busca sequencial.</a:t>
            </a:r>
            <a:endParaRPr sz="22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515" lvl="0" marL="361315" marR="0" rtl="0" algn="just">
              <a:spcBef>
                <a:spcPts val="16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315" lvl="0" marL="361315" marR="0" rtl="0" algn="just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0" marL="361315" marR="0" rtl="0" algn="just">
              <a:spcBef>
                <a:spcPts val="24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427990" marR="0" rtl="0" algn="just">
              <a:spcBef>
                <a:spcPts val="70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427990" marR="0" rtl="0" algn="just">
              <a:spcBef>
                <a:spcPts val="70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1" marL="897255" marR="0" rtl="0" algn="just">
              <a:spcBef>
                <a:spcPts val="26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140" lvl="0" marL="427990" marR="0" rtl="0" algn="just">
              <a:spcBef>
                <a:spcPts val="62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140" lvl="0" marL="427990" marR="0" rtl="0" algn="just">
              <a:spcBef>
                <a:spcPts val="62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140" lvl="0" marL="427990" marR="0" rtl="0" algn="just">
              <a:spcBef>
                <a:spcPts val="620"/>
              </a:spcBef>
              <a:spcAft>
                <a:spcPts val="0"/>
              </a:spcAft>
              <a:buClr>
                <a:srgbClr val="548135"/>
              </a:buClr>
              <a:buSzPct val="100000"/>
              <a:buFont typeface="Noto Sans Symbols"/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8777" y="3931227"/>
            <a:ext cx="4518925" cy="2826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15"/>
          <p:cNvCxnSpPr/>
          <p:nvPr/>
        </p:nvCxnSpPr>
        <p:spPr>
          <a:xfrm flipH="1" rot="10800000">
            <a:off x="8217734" y="3528323"/>
            <a:ext cx="1080000" cy="670800"/>
          </a:xfrm>
          <a:prstGeom prst="bentConnector3">
            <a:avLst>
              <a:gd fmla="val 50006" name="adj1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91" name="Google Shape;291;p15"/>
          <p:cNvSpPr txBox="1"/>
          <p:nvPr/>
        </p:nvSpPr>
        <p:spPr>
          <a:xfrm>
            <a:off x="9092188" y="3054021"/>
            <a:ext cx="1800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Placa mãe com dois </a:t>
            </a:r>
            <a:r>
              <a:rPr b="1" i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slots</a:t>
            </a:r>
            <a:r>
              <a:rPr b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memória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331" y="5268395"/>
            <a:ext cx="3528392" cy="6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 rot="1142208">
            <a:off x="6670587" y="4101227"/>
            <a:ext cx="2601054" cy="595996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1345411" y="5790879"/>
            <a:ext cx="18002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RAM</a:t>
            </a:r>
            <a:endParaRPr/>
          </a:p>
        </p:txBody>
      </p:sp>
      <p:pic>
        <p:nvPicPr>
          <p:cNvPr id="295" name="Google Shape;295;p15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109269" y="1503873"/>
            <a:ext cx="1198784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principal – Organização básica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3"/>
          <p:cNvGrpSpPr/>
          <p:nvPr/>
        </p:nvGrpSpPr>
        <p:grpSpPr>
          <a:xfrm>
            <a:off x="3056923" y="2204258"/>
            <a:ext cx="4439823" cy="4176464"/>
            <a:chOff x="2855640" y="1844824"/>
            <a:chExt cx="4439823" cy="4176464"/>
          </a:xfrm>
        </p:grpSpPr>
        <p:grpSp>
          <p:nvGrpSpPr>
            <p:cNvPr id="304" name="Google Shape;304;p13"/>
            <p:cNvGrpSpPr/>
            <p:nvPr/>
          </p:nvGrpSpPr>
          <p:grpSpPr>
            <a:xfrm>
              <a:off x="2855640" y="1844824"/>
              <a:ext cx="4439823" cy="4176464"/>
              <a:chOff x="2855640" y="1844824"/>
              <a:chExt cx="4723855" cy="4176464"/>
            </a:xfrm>
          </p:grpSpPr>
          <p:grpSp>
            <p:nvGrpSpPr>
              <p:cNvPr id="305" name="Google Shape;305;p13"/>
              <p:cNvGrpSpPr/>
              <p:nvPr/>
            </p:nvGrpSpPr>
            <p:grpSpPr>
              <a:xfrm>
                <a:off x="4633422" y="2276872"/>
                <a:ext cx="2160240" cy="3024336"/>
                <a:chOff x="4633422" y="2276872"/>
                <a:chExt cx="2520280" cy="3024336"/>
              </a:xfrm>
            </p:grpSpPr>
            <p:sp>
              <p:nvSpPr>
                <p:cNvPr id="306" name="Google Shape;306;p13"/>
                <p:cNvSpPr/>
                <p:nvPr/>
              </p:nvSpPr>
              <p:spPr>
                <a:xfrm>
                  <a:off x="4633422" y="2276872"/>
                  <a:ext cx="2520280" cy="3024336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7" name="Google Shape;307;p13"/>
                <p:cNvCxnSpPr/>
                <p:nvPr/>
              </p:nvCxnSpPr>
              <p:spPr>
                <a:xfrm>
                  <a:off x="4633422" y="2719968"/>
                  <a:ext cx="25202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8" name="Google Shape;308;p13"/>
                <p:cNvCxnSpPr/>
                <p:nvPr/>
              </p:nvCxnSpPr>
              <p:spPr>
                <a:xfrm>
                  <a:off x="4633422" y="3555112"/>
                  <a:ext cx="25202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9" name="Google Shape;309;p13"/>
                <p:cNvCxnSpPr/>
                <p:nvPr/>
              </p:nvCxnSpPr>
              <p:spPr>
                <a:xfrm>
                  <a:off x="4633422" y="4411712"/>
                  <a:ext cx="25202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10" name="Google Shape;310;p13"/>
                <p:cNvCxnSpPr/>
                <p:nvPr/>
              </p:nvCxnSpPr>
              <p:spPr>
                <a:xfrm>
                  <a:off x="4633422" y="3140968"/>
                  <a:ext cx="25202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11" name="Google Shape;311;p13"/>
              <p:cNvSpPr/>
              <p:nvPr/>
            </p:nvSpPr>
            <p:spPr>
              <a:xfrm>
                <a:off x="4777438" y="2754640"/>
                <a:ext cx="1872208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bits</a:t>
                </a:r>
                <a:endParaRPr/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4777438" y="3182496"/>
                <a:ext cx="1872208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bits</a:t>
                </a:r>
                <a:endParaRPr/>
              </a:p>
            </p:txBody>
          </p:sp>
          <p:sp>
            <p:nvSpPr>
              <p:cNvPr id="313" name="Google Shape;313;p13"/>
              <p:cNvSpPr/>
              <p:nvPr/>
            </p:nvSpPr>
            <p:spPr>
              <a:xfrm>
                <a:off x="4777438" y="2307352"/>
                <a:ext cx="1872208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bits</a:t>
                </a:r>
                <a:endParaRPr/>
              </a:p>
            </p:txBody>
          </p:sp>
          <p:sp>
            <p:nvSpPr>
              <p:cNvPr id="314" name="Google Shape;314;p13"/>
              <p:cNvSpPr/>
              <p:nvPr/>
            </p:nvSpPr>
            <p:spPr>
              <a:xfrm>
                <a:off x="4777438" y="4467592"/>
                <a:ext cx="1872208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  <p:sp>
            <p:nvSpPr>
              <p:cNvPr id="315" name="Google Shape;315;p13"/>
              <p:cNvSpPr/>
              <p:nvPr/>
            </p:nvSpPr>
            <p:spPr>
              <a:xfrm>
                <a:off x="2905230" y="2708920"/>
                <a:ext cx="1872208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Endereço 1</a:t>
                </a:r>
                <a:endParaRPr/>
              </a:p>
            </p:txBody>
          </p:sp>
          <p:sp>
            <p:nvSpPr>
              <p:cNvPr id="316" name="Google Shape;316;p13"/>
              <p:cNvSpPr/>
              <p:nvPr/>
            </p:nvSpPr>
            <p:spPr>
              <a:xfrm>
                <a:off x="2906585" y="3140968"/>
                <a:ext cx="1872208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Endereço 2</a:t>
                </a:r>
                <a:endParaRPr/>
              </a:p>
            </p:txBody>
          </p:sp>
          <p:sp>
            <p:nvSpPr>
              <p:cNvPr id="317" name="Google Shape;317;p13"/>
              <p:cNvSpPr/>
              <p:nvPr/>
            </p:nvSpPr>
            <p:spPr>
              <a:xfrm>
                <a:off x="6931335" y="1873700"/>
                <a:ext cx="648160" cy="1730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    </a:t>
                </a:r>
                <a:r>
                  <a:rPr lang="pt-BR" sz="9600">
                    <a:solidFill>
                      <a:schemeClr val="dk1"/>
                    </a:solidFill>
                    <a:latin typeface="Dotum"/>
                    <a:ea typeface="Dotum"/>
                    <a:cs typeface="Dotum"/>
                    <a:sym typeface="Dotum"/>
                  </a:rPr>
                  <a:t>}</a:t>
                </a:r>
                <a:endParaRPr/>
              </a:p>
            </p:txBody>
          </p:sp>
          <p:sp>
            <p:nvSpPr>
              <p:cNvPr id="318" name="Google Shape;318;p13"/>
              <p:cNvSpPr/>
              <p:nvPr/>
            </p:nvSpPr>
            <p:spPr>
              <a:xfrm>
                <a:off x="4725066" y="1844824"/>
                <a:ext cx="1872207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MP</a:t>
                </a:r>
                <a:endParaRPr/>
              </a:p>
            </p:txBody>
          </p:sp>
          <p:sp>
            <p:nvSpPr>
              <p:cNvPr id="319" name="Google Shape;319;p13"/>
              <p:cNvSpPr/>
              <p:nvPr/>
            </p:nvSpPr>
            <p:spPr>
              <a:xfrm>
                <a:off x="4779116" y="3789040"/>
                <a:ext cx="1872209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  <p:sp>
            <p:nvSpPr>
              <p:cNvPr id="320" name="Google Shape;320;p13"/>
              <p:cNvSpPr/>
              <p:nvPr/>
            </p:nvSpPr>
            <p:spPr>
              <a:xfrm>
                <a:off x="2855640" y="4403328"/>
                <a:ext cx="1872208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Endereço N-2</a:t>
                </a:r>
                <a:endParaRPr/>
              </a:p>
            </p:txBody>
          </p:sp>
          <p:sp>
            <p:nvSpPr>
              <p:cNvPr id="321" name="Google Shape;321;p13"/>
              <p:cNvSpPr/>
              <p:nvPr/>
            </p:nvSpPr>
            <p:spPr>
              <a:xfrm>
                <a:off x="4360907" y="5589240"/>
                <a:ext cx="689531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 1</a:t>
                </a:r>
                <a:endParaRPr/>
              </a:p>
            </p:txBody>
          </p:sp>
          <p:sp>
            <p:nvSpPr>
              <p:cNvPr id="322" name="Google Shape;322;p13"/>
              <p:cNvSpPr/>
              <p:nvPr/>
            </p:nvSpPr>
            <p:spPr>
              <a:xfrm>
                <a:off x="5127053" y="5589240"/>
                <a:ext cx="689531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 1</a:t>
                </a:r>
                <a:endParaRPr/>
              </a:p>
            </p:txBody>
          </p:sp>
          <p:sp>
            <p:nvSpPr>
              <p:cNvPr id="323" name="Google Shape;323;p13"/>
              <p:cNvSpPr/>
              <p:nvPr/>
            </p:nvSpPr>
            <p:spPr>
              <a:xfrm>
                <a:off x="6276272" y="5589240"/>
                <a:ext cx="995990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 M-1</a:t>
                </a:r>
                <a:endParaRPr/>
              </a:p>
            </p:txBody>
          </p:sp>
        </p:grpSp>
        <p:sp>
          <p:nvSpPr>
            <p:cNvPr id="324" name="Google Shape;324;p13"/>
            <p:cNvSpPr/>
            <p:nvPr/>
          </p:nvSpPr>
          <p:spPr>
            <a:xfrm>
              <a:off x="2902248" y="2276872"/>
              <a:ext cx="1759638" cy="432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Endereço 0</a:t>
              </a:r>
              <a:endParaRPr/>
            </a:p>
          </p:txBody>
        </p:sp>
      </p:grpSp>
      <p:cxnSp>
        <p:nvCxnSpPr>
          <p:cNvPr id="325" name="Google Shape;325;p13"/>
          <p:cNvCxnSpPr/>
          <p:nvPr/>
        </p:nvCxnSpPr>
        <p:spPr>
          <a:xfrm>
            <a:off x="4725927" y="5219522"/>
            <a:ext cx="203035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13"/>
          <p:cNvSpPr/>
          <p:nvPr/>
        </p:nvSpPr>
        <p:spPr>
          <a:xfrm>
            <a:off x="3059385" y="5228594"/>
            <a:ext cx="1759638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Endereço N-1</a:t>
            </a:r>
            <a:endParaRPr/>
          </a:p>
        </p:txBody>
      </p:sp>
      <p:cxnSp>
        <p:nvCxnSpPr>
          <p:cNvPr id="327" name="Google Shape;327;p13"/>
          <p:cNvCxnSpPr/>
          <p:nvPr/>
        </p:nvCxnSpPr>
        <p:spPr>
          <a:xfrm>
            <a:off x="5090039" y="5228594"/>
            <a:ext cx="0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8" name="Google Shape;328;p13"/>
          <p:cNvCxnSpPr/>
          <p:nvPr/>
        </p:nvCxnSpPr>
        <p:spPr>
          <a:xfrm>
            <a:off x="5509139" y="5228594"/>
            <a:ext cx="0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9" name="Google Shape;329;p13"/>
          <p:cNvCxnSpPr/>
          <p:nvPr/>
        </p:nvCxnSpPr>
        <p:spPr>
          <a:xfrm>
            <a:off x="6381991" y="5228594"/>
            <a:ext cx="0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0" name="Google Shape;330;p13"/>
          <p:cNvCxnSpPr/>
          <p:nvPr/>
        </p:nvCxnSpPr>
        <p:spPr>
          <a:xfrm flipH="1" rot="10800000">
            <a:off x="4687707" y="5516626"/>
            <a:ext cx="216024" cy="50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1" name="Google Shape;331;p13"/>
          <p:cNvCxnSpPr/>
          <p:nvPr/>
        </p:nvCxnSpPr>
        <p:spPr>
          <a:xfrm rot="10800000">
            <a:off x="5335779" y="5516626"/>
            <a:ext cx="144016" cy="5760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" name="Google Shape;332;p13"/>
          <p:cNvCxnSpPr/>
          <p:nvPr/>
        </p:nvCxnSpPr>
        <p:spPr>
          <a:xfrm rot="10800000">
            <a:off x="6559915" y="5516626"/>
            <a:ext cx="144016" cy="5760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3" name="Google Shape;333;p13"/>
          <p:cNvSpPr/>
          <p:nvPr/>
        </p:nvSpPr>
        <p:spPr>
          <a:xfrm>
            <a:off x="7295099" y="3069808"/>
            <a:ext cx="1759638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células</a:t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7294736" y="4710403"/>
            <a:ext cx="3131840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as células têm a mesma quantidade M de bits</a:t>
            </a:r>
            <a:endParaRPr/>
          </a:p>
        </p:txBody>
      </p:sp>
      <p:pic>
        <p:nvPicPr>
          <p:cNvPr id="335" name="Google Shape;335;p1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 txBox="1"/>
          <p:nvPr/>
        </p:nvSpPr>
        <p:spPr>
          <a:xfrm>
            <a:off x="3157269" y="5112588"/>
            <a:ext cx="7487727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Barramento de controle</a:t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109269" y="1201948"/>
            <a:ext cx="1198784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095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CPU/MP e a comunicação entre eles – Sem memória Cache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14"/>
          <p:cNvGrpSpPr/>
          <p:nvPr/>
        </p:nvGrpSpPr>
        <p:grpSpPr>
          <a:xfrm>
            <a:off x="3133716" y="1768146"/>
            <a:ext cx="7569224" cy="2567405"/>
            <a:chOff x="2199187" y="1235503"/>
            <a:chExt cx="7723906" cy="2621032"/>
          </a:xfrm>
        </p:grpSpPr>
        <p:sp>
          <p:nvSpPr>
            <p:cNvPr id="345" name="Google Shape;345;p14"/>
            <p:cNvSpPr/>
            <p:nvPr/>
          </p:nvSpPr>
          <p:spPr>
            <a:xfrm>
              <a:off x="2199187" y="1268760"/>
              <a:ext cx="3528392" cy="147024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7397480" y="1235503"/>
              <a:ext cx="2520280" cy="1544251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7" name="Google Shape;347;p14"/>
            <p:cNvGrpSpPr/>
            <p:nvPr/>
          </p:nvGrpSpPr>
          <p:grpSpPr>
            <a:xfrm>
              <a:off x="3016017" y="1424809"/>
              <a:ext cx="6569148" cy="799856"/>
              <a:chOff x="3016017" y="1424809"/>
              <a:chExt cx="6989388" cy="799856"/>
            </a:xfrm>
          </p:grpSpPr>
          <p:sp>
            <p:nvSpPr>
              <p:cNvPr id="348" name="Google Shape;348;p14"/>
              <p:cNvSpPr/>
              <p:nvPr/>
            </p:nvSpPr>
            <p:spPr>
              <a:xfrm>
                <a:off x="3016017" y="1424809"/>
                <a:ext cx="1872204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CPU</a:t>
                </a:r>
                <a:endParaRPr/>
              </a:p>
            </p:txBody>
          </p:sp>
          <p:sp>
            <p:nvSpPr>
              <p:cNvPr id="349" name="Google Shape;349;p14"/>
              <p:cNvSpPr/>
              <p:nvPr/>
            </p:nvSpPr>
            <p:spPr>
              <a:xfrm>
                <a:off x="8133201" y="1792617"/>
                <a:ext cx="1872204" cy="432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MP</a:t>
                </a:r>
                <a:endParaRPr/>
              </a:p>
            </p:txBody>
          </p:sp>
        </p:grpSp>
        <p:sp>
          <p:nvSpPr>
            <p:cNvPr id="350" name="Google Shape;350;p14"/>
            <p:cNvSpPr/>
            <p:nvPr/>
          </p:nvSpPr>
          <p:spPr>
            <a:xfrm>
              <a:off x="7402813" y="3568503"/>
              <a:ext cx="2520280" cy="28803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CONTROLADOR</a:t>
              </a:r>
              <a:endParaRPr/>
            </a:p>
          </p:txBody>
        </p:sp>
      </p:grpSp>
      <p:sp>
        <p:nvSpPr>
          <p:cNvPr id="351" name="Google Shape;351;p14"/>
          <p:cNvSpPr/>
          <p:nvPr/>
        </p:nvSpPr>
        <p:spPr>
          <a:xfrm>
            <a:off x="4426432" y="2524233"/>
            <a:ext cx="917357" cy="493743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</a:t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5538937" y="2520805"/>
            <a:ext cx="917357" cy="4937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3283829" y="2520805"/>
            <a:ext cx="917357" cy="493743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RDM</a:t>
            </a:r>
            <a:endParaRPr/>
          </a:p>
        </p:txBody>
      </p:sp>
      <p:sp>
        <p:nvSpPr>
          <p:cNvPr id="354" name="Google Shape;354;p14"/>
          <p:cNvSpPr txBox="1"/>
          <p:nvPr/>
        </p:nvSpPr>
        <p:spPr>
          <a:xfrm>
            <a:off x="208754" y="5004600"/>
            <a:ext cx="2466735" cy="1555283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RDM</a:t>
            </a:r>
            <a:r>
              <a:rPr lang="pt-B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Registrador de dados da memória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</a:t>
            </a:r>
            <a:r>
              <a:rPr lang="pt-B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Registrador de endereços da memória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</a:t>
            </a:r>
            <a:r>
              <a:rPr lang="pt-B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Unidade de controle (escrita/leitura)</a:t>
            </a:r>
            <a:endParaRPr/>
          </a:p>
        </p:txBody>
      </p:sp>
      <p:sp>
        <p:nvSpPr>
          <p:cNvPr id="355" name="Google Shape;355;p14"/>
          <p:cNvSpPr txBox="1"/>
          <p:nvPr/>
        </p:nvSpPr>
        <p:spPr>
          <a:xfrm>
            <a:off x="3157268" y="5658927"/>
            <a:ext cx="7487727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Barramento de endereços</a:t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3157267" y="6190889"/>
            <a:ext cx="7487727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Barramento de dados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555728" y="4347877"/>
            <a:ext cx="402566" cy="77637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9360860" y="4347878"/>
            <a:ext cx="402566" cy="1308338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0137237" y="4347877"/>
            <a:ext cx="416943" cy="184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688219" y="3298331"/>
            <a:ext cx="416943" cy="235788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3566784" y="3298330"/>
            <a:ext cx="416943" cy="288984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5795276" y="3312708"/>
            <a:ext cx="402566" cy="181154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555727" y="3298330"/>
            <a:ext cx="402566" cy="71886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9360858" y="3298329"/>
            <a:ext cx="402566" cy="71886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0151612" y="3298328"/>
            <a:ext cx="402566" cy="71886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c8f0ada71_0_3"/>
          <p:cNvSpPr txBox="1"/>
          <p:nvPr/>
        </p:nvSpPr>
        <p:spPr>
          <a:xfrm>
            <a:off x="3631647" y="311269"/>
            <a:ext cx="4928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Principal: Definições e Operação da RAM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c8f0ada71_0_3"/>
          <p:cNvSpPr/>
          <p:nvPr/>
        </p:nvSpPr>
        <p:spPr>
          <a:xfrm>
            <a:off x="117895" y="-4313"/>
            <a:ext cx="11976300" cy="215700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cc8f0ada71_0_3"/>
          <p:cNvSpPr txBox="1"/>
          <p:nvPr/>
        </p:nvSpPr>
        <p:spPr>
          <a:xfrm>
            <a:off x="124050" y="1242198"/>
            <a:ext cx="11964000" cy="3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 fontScale="40000" lnSpcReduction="10000"/>
          </a:bodyPr>
          <a:lstStyle/>
          <a:p>
            <a:pPr indent="-310515" lvl="0" marL="361315" rtl="0" algn="just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pt-BR" sz="5000">
                <a:solidFill>
                  <a:schemeClr val="dk1"/>
                </a:solidFill>
              </a:rPr>
              <a:t>Unidades Estruturais:</a:t>
            </a:r>
            <a:endParaRPr b="1" sz="5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4500">
                <a:solidFill>
                  <a:schemeClr val="dk1"/>
                </a:solidFill>
              </a:rPr>
              <a:t>Célula:</a:t>
            </a:r>
            <a:r>
              <a:rPr lang="pt-BR" sz="4500">
                <a:solidFill>
                  <a:schemeClr val="dk1"/>
                </a:solidFill>
              </a:rPr>
              <a:t> A menor unidade endereçável, composta por um conjunto de bits (geralmente 8 bits = 1 Byte).</a:t>
            </a:r>
            <a:endParaRPr sz="4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4500">
                <a:solidFill>
                  <a:schemeClr val="dk1"/>
                </a:solidFill>
              </a:rPr>
              <a:t>Endereço:</a:t>
            </a:r>
            <a:r>
              <a:rPr lang="pt-BR" sz="4500">
                <a:solidFill>
                  <a:schemeClr val="dk1"/>
                </a:solidFill>
              </a:rPr>
              <a:t> Um identificador numérico único e binário que aponta para a localização exata de uma célula na "estante" de memória.</a:t>
            </a:r>
            <a:endParaRPr sz="4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4500">
                <a:solidFill>
                  <a:schemeClr val="dk1"/>
                </a:solidFill>
              </a:rPr>
              <a:t>Capacidade:</a:t>
            </a:r>
            <a:r>
              <a:rPr lang="pt-BR" sz="4500">
                <a:solidFill>
                  <a:schemeClr val="dk1"/>
                </a:solidFill>
              </a:rPr>
              <a:t> Determinada pelo número total de células disponíveis, limitada pelo tamanho do barramento de endereços do processador (ex: 32 bits vs 64 bits).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pt-BR" sz="4500">
                <a:solidFill>
                  <a:schemeClr val="dk1"/>
                </a:solidFill>
              </a:rPr>
              <a:t>Função no Ciclo de Processamento:</a:t>
            </a:r>
            <a:r>
              <a:rPr lang="pt-BR" sz="4500">
                <a:solidFill>
                  <a:schemeClr val="dk1"/>
                </a:solidFill>
              </a:rPr>
              <a:t> Atua como o intermediário entre o armazenamento de massa (lento) e os registradores da CPU (ultra-rápidos), minimizando o tempo de espera do processador para obter dados.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g3cc8f0ada71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6506" y="5077195"/>
            <a:ext cx="3528392" cy="638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cc8f0ada71_0_3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116765" y="1239399"/>
            <a:ext cx="11967488" cy="5042537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rm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Memórias do tipo ROM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just">
              <a:spcBef>
                <a:spcPts val="360"/>
              </a:spcBef>
              <a:spcAft>
                <a:spcPts val="0"/>
              </a:spcAft>
              <a:buClr>
                <a:srgbClr val="07C91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Tipo de memória </a:t>
            </a:r>
            <a:r>
              <a:rPr b="1" lang="pt-BR" sz="2000">
                <a:solidFill>
                  <a:schemeClr val="dk1"/>
                </a:solidFill>
              </a:rPr>
              <a:t>não volátil</a:t>
            </a:r>
            <a:r>
              <a:rPr lang="pt-BR" sz="2000">
                <a:solidFill>
                  <a:schemeClr val="dk1"/>
                </a:solidFill>
              </a:rPr>
              <a:t>, utilizada para armazenar programas essenciais do computador. Seu conteúdo permanece gravado mesmo quando o equipamento é desligado. Nos computadores atuais, a ROM (ou memória flash da placa-mãe) armazena o firmware responsável pela inicialização do sistema.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Obs.: ROM = </a:t>
            </a:r>
            <a:r>
              <a:rPr i="1" lang="pt-BR" sz="2000">
                <a:solidFill>
                  <a:schemeClr val="dk1"/>
                </a:solidFill>
              </a:rPr>
              <a:t>Read Only Memory</a:t>
            </a:r>
            <a:endParaRPr i="1" sz="2000">
              <a:solidFill>
                <a:schemeClr val="dk1"/>
              </a:solidFill>
            </a:endParaRPr>
          </a:p>
        </p:txBody>
      </p:sp>
      <p:pic>
        <p:nvPicPr>
          <p:cNvPr id="383" name="Google Shape;3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8000" y="4278351"/>
            <a:ext cx="1927975" cy="185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6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Sistema de Memórias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 txBox="1"/>
          <p:nvPr/>
        </p:nvSpPr>
        <p:spPr>
          <a:xfrm>
            <a:off x="109275" y="1160000"/>
            <a:ext cx="11987700" cy="3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Memórias do tipo ROM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pt-BR" sz="1800">
                <a:solidFill>
                  <a:schemeClr val="dk1"/>
                </a:solidFill>
              </a:rPr>
              <a:t>Principais componentes armazenados:</a:t>
            </a:r>
            <a:br>
              <a:rPr b="1" i="1" lang="pt-BR" sz="1800">
                <a:solidFill>
                  <a:schemeClr val="dk1"/>
                </a:solidFill>
              </a:rPr>
            </a:br>
            <a:endParaRPr b="1"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Firmware (BIOS / UEFI):</a:t>
            </a:r>
            <a:br>
              <a:rPr b="1" lang="pt-BR" sz="1800">
                <a:solidFill>
                  <a:schemeClr val="dk1"/>
                </a:solidFill>
              </a:rPr>
            </a:br>
            <a:r>
              <a:rPr lang="pt-BR" sz="1800">
                <a:solidFill>
                  <a:schemeClr val="dk1"/>
                </a:solidFill>
              </a:rPr>
              <a:t>Responsável por iniciar o computador e preparar o hardware para o carregamento do sistema operacional.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POST (Power-On Self Test):</a:t>
            </a:r>
            <a:br>
              <a:rPr b="1" lang="pt-BR" sz="1800">
                <a:solidFill>
                  <a:schemeClr val="dk1"/>
                </a:solidFill>
              </a:rPr>
            </a:br>
            <a:r>
              <a:rPr lang="pt-BR" sz="1800">
                <a:solidFill>
                  <a:schemeClr val="dk1"/>
                </a:solidFill>
              </a:rPr>
              <a:t>Rotina executada na inicialização que verifica se os principais componentes de hardware (memória, processador, teclado, etc.) estão funcionando corretamente.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Setup (Configuração do firmware):</a:t>
            </a:r>
            <a:br>
              <a:rPr b="1" lang="pt-BR" sz="1800">
                <a:solidFill>
                  <a:schemeClr val="dk1"/>
                </a:solidFill>
              </a:rPr>
            </a:br>
            <a:r>
              <a:rPr lang="pt-BR" sz="1800">
                <a:solidFill>
                  <a:schemeClr val="dk1"/>
                </a:solidFill>
              </a:rPr>
              <a:t>Interface que permite configurar parâmetros de hardware do computador, como ordem de boot, data, hora e dispositivos habilitados.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92" name="Google Shape;392;p1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Processador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117900" y="1077950"/>
            <a:ext cx="11976300" cy="494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Processador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just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Processador ou CPU (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Processing Unit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é responsável pela realização de </a:t>
            </a: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qualquer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operação realizada por um computador;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F5496"/>
              </a:buClr>
              <a:buSzPts val="435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Passos de uma execução: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marR="0" rtl="0" algn="just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tipo da instrução a ser executada;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soma e subtração;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dados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necessários a execução da instrução;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memória RAM e cache;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just">
              <a:lnSpc>
                <a:spcPct val="90000"/>
              </a:lnSpc>
              <a:spcBef>
                <a:spcPts val="108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instruçã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ca de circuito eletrônico&#10;&#10;Descrição gerada automaticamente" id="401" name="Google Shape;4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175" y="4091850"/>
            <a:ext cx="2378600" cy="15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Processador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109269" y="1288212"/>
            <a:ext cx="11987700" cy="5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operações primitivas de um processador</a:t>
            </a: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Operações aritméticas;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just">
              <a:spcBef>
                <a:spcPts val="42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Soma, subtração, multiplicação e divisão;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Mover dados de um local de armazenamento para outro;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just">
              <a:spcBef>
                <a:spcPts val="42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Registrador CPU para a RAM;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Transferir um dado para um dispositivo de saída;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just">
              <a:spcBef>
                <a:spcPts val="42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RAM para a impressora.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42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 das funções realizadas pelo processador: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 processamento</a:t>
            </a:r>
            <a:r>
              <a:rPr b="1" i="0" lang="pt-BR" sz="2100" u="none" cap="none" strike="noStrike">
                <a:solidFill>
                  <a:srgbClr val="07C91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  se encarrega de realizar as atividades relacionadas com a </a:t>
            </a:r>
            <a:r>
              <a:rPr b="1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 de uma operação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 controle</a:t>
            </a:r>
            <a:r>
              <a:rPr b="1" i="0" lang="pt-BR" sz="2100" u="none" cap="none" strike="noStrike">
                <a:solidFill>
                  <a:srgbClr val="07C91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responsável pelas atividades de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interpretação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da execução das instruções.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1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Processador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109269" y="1647646"/>
            <a:ext cx="11987700" cy="3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 de máquina 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Sequência de 0s e 1s que formaliza uma determinada operação a ser realizada pelo processador. Constitui-se da: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342900" marR="0" rtl="0" algn="just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Operação (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opcode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– código de operação), tais como adição (</a:t>
            </a: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 subtração (</a:t>
            </a: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ou transferência de dados (</a:t>
            </a: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 ser executada;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Endereço do operando (dado) que deve ser usado na operação.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2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Processador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109269" y="1647646"/>
            <a:ext cx="1198784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 de instruções de máquina</a:t>
            </a: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– Computador 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" name="Google Shape;425;p21"/>
          <p:cNvGraphicFramePr/>
          <p:nvPr/>
        </p:nvGraphicFramePr>
        <p:xfrm>
          <a:off x="905773" y="2444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{4403BB38-67CE-413A-AF92-79A771AE86A1}</a:tableStyleId>
              </a:tblPr>
              <a:tblGrid>
                <a:gridCol w="1724025"/>
                <a:gridCol w="2009775"/>
                <a:gridCol w="3381375"/>
                <a:gridCol w="3381375"/>
              </a:tblGrid>
              <a:tr h="71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Tipo de Instrução​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Opcode​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Representação simbólica​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Descrição​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832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Transferência de dados​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00000001​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LOAD M(X) 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Transfere o conteúdo do local de memória X para AC​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9869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00100001​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STOR M(X)​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Transfere o conteúdo do AC para a posição de memória X​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832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Aritmética​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00000101​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ADD M(X)​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Soma M(X) a AC; resultado em AC​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89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00000110​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SUB M(X)​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Subtrai M(X) de AC; resultado em AC​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426" name="Google Shape;426;p2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1" name="Google Shape;431;p22"/>
          <p:cNvGraphicFramePr/>
          <p:nvPr/>
        </p:nvGraphicFramePr>
        <p:xfrm>
          <a:off x="1785937" y="2657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{01461E70-CBB3-4216-B775-6E02D525FF22}</a:tableStyleId>
              </a:tblPr>
              <a:tblGrid>
                <a:gridCol w="2705100"/>
                <a:gridCol w="2828925"/>
                <a:gridCol w="3086100"/>
              </a:tblGrid>
              <a:tr h="57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Linguagem de alto nível (PHP, C, JAVA)​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Linguagem Assembly​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Instruções de máquinas​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Processador​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0CECE"/>
                    </a:solidFill>
                  </a:tcPr>
                </a:tc>
              </a:tr>
              <a:tr h="1493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= A + B​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LOAD M(EndA)​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ADD M(EndB)​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STOR M(EndX)​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00000001​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00000101​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00100001​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0CECE"/>
                    </a:solidFill>
                  </a:tcPr>
                </a:tc>
              </a:tr>
            </a:tbl>
          </a:graphicData>
        </a:graphic>
      </p:graphicFrame>
      <p:sp>
        <p:nvSpPr>
          <p:cNvPr id="432" name="Google Shape;432;p22"/>
          <p:cNvSpPr txBox="1"/>
          <p:nvPr/>
        </p:nvSpPr>
        <p:spPr>
          <a:xfrm>
            <a:off x="3631722" y="411194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Processador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109269" y="1331344"/>
            <a:ext cx="119877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 de instruções de máquina</a:t>
            </a: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– Computador IAS</a:t>
            </a:r>
            <a:b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de programa para somar dois números e armazenar na memória RAM.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4122001" y="3977401"/>
            <a:ext cx="432048" cy="36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72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7326810" y="3949184"/>
            <a:ext cx="432048" cy="36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72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22"/>
          <p:cNvCxnSpPr/>
          <p:nvPr/>
        </p:nvCxnSpPr>
        <p:spPr>
          <a:xfrm rot="10800000">
            <a:off x="4338932" y="4395193"/>
            <a:ext cx="0" cy="1152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8" name="Google Shape;438;p22"/>
          <p:cNvCxnSpPr/>
          <p:nvPr/>
        </p:nvCxnSpPr>
        <p:spPr>
          <a:xfrm rot="10800000">
            <a:off x="7579292" y="4380679"/>
            <a:ext cx="0" cy="1152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9" name="Google Shape;439;p22"/>
          <p:cNvSpPr txBox="1"/>
          <p:nvPr/>
        </p:nvSpPr>
        <p:spPr>
          <a:xfrm>
            <a:off x="3662109" y="5705440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Compilador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6484370" y="5663222"/>
            <a:ext cx="21777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Montador/assembler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2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23"/>
          <p:cNvGrpSpPr/>
          <p:nvPr/>
        </p:nvGrpSpPr>
        <p:grpSpPr>
          <a:xfrm>
            <a:off x="1862027" y="1872972"/>
            <a:ext cx="8481640" cy="4731320"/>
            <a:chOff x="50800" y="1569368"/>
            <a:chExt cx="9481372" cy="5230144"/>
          </a:xfrm>
        </p:grpSpPr>
        <p:sp>
          <p:nvSpPr>
            <p:cNvPr id="448" name="Google Shape;448;p23"/>
            <p:cNvSpPr txBox="1"/>
            <p:nvPr/>
          </p:nvSpPr>
          <p:spPr>
            <a:xfrm>
              <a:off x="5990365" y="5771356"/>
              <a:ext cx="2169460" cy="323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Barramento de controle</a:t>
              </a:r>
              <a:endParaRPr/>
            </a:p>
          </p:txBody>
        </p:sp>
        <p:grpSp>
          <p:nvGrpSpPr>
            <p:cNvPr id="449" name="Google Shape;449;p23"/>
            <p:cNvGrpSpPr/>
            <p:nvPr/>
          </p:nvGrpSpPr>
          <p:grpSpPr>
            <a:xfrm>
              <a:off x="50800" y="1569368"/>
              <a:ext cx="9481372" cy="5230144"/>
              <a:chOff x="50800" y="1569368"/>
              <a:chExt cx="9481372" cy="5230144"/>
            </a:xfrm>
          </p:grpSpPr>
          <p:grpSp>
            <p:nvGrpSpPr>
              <p:cNvPr id="450" name="Google Shape;450;p23"/>
              <p:cNvGrpSpPr/>
              <p:nvPr/>
            </p:nvGrpSpPr>
            <p:grpSpPr>
              <a:xfrm>
                <a:off x="50800" y="1569368"/>
                <a:ext cx="9481372" cy="5230144"/>
                <a:chOff x="38100" y="1590824"/>
                <a:chExt cx="9481372" cy="5230144"/>
              </a:xfrm>
            </p:grpSpPr>
            <p:grpSp>
              <p:nvGrpSpPr>
                <p:cNvPr id="451" name="Google Shape;451;p23"/>
                <p:cNvGrpSpPr/>
                <p:nvPr/>
              </p:nvGrpSpPr>
              <p:grpSpPr>
                <a:xfrm>
                  <a:off x="38100" y="1646981"/>
                  <a:ext cx="9481372" cy="5173987"/>
                  <a:chOff x="38100" y="1646981"/>
                  <a:chExt cx="9481372" cy="5173987"/>
                </a:xfrm>
              </p:grpSpPr>
              <p:grpSp>
                <p:nvGrpSpPr>
                  <p:cNvPr id="452" name="Google Shape;452;p23"/>
                  <p:cNvGrpSpPr/>
                  <p:nvPr/>
                </p:nvGrpSpPr>
                <p:grpSpPr>
                  <a:xfrm>
                    <a:off x="38100" y="1646981"/>
                    <a:ext cx="9481372" cy="5173987"/>
                    <a:chOff x="38100" y="1646981"/>
                    <a:chExt cx="9481372" cy="5173987"/>
                  </a:xfrm>
                </p:grpSpPr>
                <p:grpSp>
                  <p:nvGrpSpPr>
                    <p:cNvPr id="453" name="Google Shape;453;p23"/>
                    <p:cNvGrpSpPr/>
                    <p:nvPr/>
                  </p:nvGrpSpPr>
                  <p:grpSpPr>
                    <a:xfrm>
                      <a:off x="107504" y="1646981"/>
                      <a:ext cx="9411968" cy="5173987"/>
                      <a:chOff x="107504" y="1646981"/>
                      <a:chExt cx="9411968" cy="5173987"/>
                    </a:xfrm>
                  </p:grpSpPr>
                  <p:grpSp>
                    <p:nvGrpSpPr>
                      <p:cNvPr id="454" name="Google Shape;454;p23"/>
                      <p:cNvGrpSpPr/>
                      <p:nvPr/>
                    </p:nvGrpSpPr>
                    <p:grpSpPr>
                      <a:xfrm>
                        <a:off x="7975427" y="1646981"/>
                        <a:ext cx="1544045" cy="5173987"/>
                        <a:chOff x="7975427" y="1646981"/>
                        <a:chExt cx="1544045" cy="5173987"/>
                      </a:xfrm>
                    </p:grpSpPr>
                    <p:sp>
                      <p:nvSpPr>
                        <p:cNvPr id="455" name="Google Shape;455;p23"/>
                        <p:cNvSpPr/>
                        <p:nvPr/>
                      </p:nvSpPr>
                      <p:spPr>
                        <a:xfrm>
                          <a:off x="8934921" y="1646981"/>
                          <a:ext cx="584551" cy="5173987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pt-BR" sz="16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MP</a:t>
                          </a:r>
                          <a:endParaRPr/>
                        </a:p>
                      </p:txBody>
                    </p:sp>
                    <p:sp>
                      <p:nvSpPr>
                        <p:cNvPr id="456" name="Google Shape;456;p23"/>
                        <p:cNvSpPr/>
                        <p:nvPr/>
                      </p:nvSpPr>
                      <p:spPr>
                        <a:xfrm>
                          <a:off x="7976822" y="2552998"/>
                          <a:ext cx="979181" cy="360040"/>
                        </a:xfrm>
                        <a:prstGeom prst="rightArrow">
                          <a:avLst>
                            <a:gd fmla="val 50000" name="adj1"/>
                            <a:gd fmla="val 50000" name="adj2"/>
                          </a:avLst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7" name="Google Shape;457;p23"/>
                        <p:cNvSpPr/>
                        <p:nvPr/>
                      </p:nvSpPr>
                      <p:spPr>
                        <a:xfrm>
                          <a:off x="7975427" y="3283065"/>
                          <a:ext cx="980576" cy="360040"/>
                        </a:xfrm>
                        <a:prstGeom prst="rightArrow">
                          <a:avLst>
                            <a:gd fmla="val 50000" name="adj1"/>
                            <a:gd fmla="val 50000" name="adj2"/>
                          </a:avLst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58" name="Google Shape;458;p23"/>
                      <p:cNvGrpSpPr/>
                      <p:nvPr/>
                    </p:nvGrpSpPr>
                    <p:grpSpPr>
                      <a:xfrm>
                        <a:off x="107504" y="1844824"/>
                        <a:ext cx="8496944" cy="4762053"/>
                        <a:chOff x="107504" y="1844824"/>
                        <a:chExt cx="8496944" cy="4762053"/>
                      </a:xfrm>
                    </p:grpSpPr>
                    <p:grpSp>
                      <p:nvGrpSpPr>
                        <p:cNvPr id="459" name="Google Shape;459;p23"/>
                        <p:cNvGrpSpPr/>
                        <p:nvPr/>
                      </p:nvGrpSpPr>
                      <p:grpSpPr>
                        <a:xfrm>
                          <a:off x="107504" y="1844824"/>
                          <a:ext cx="8496944" cy="4762053"/>
                          <a:chOff x="107504" y="1844824"/>
                          <a:chExt cx="8496944" cy="4762053"/>
                        </a:xfrm>
                      </p:grpSpPr>
                      <p:grpSp>
                        <p:nvGrpSpPr>
                          <p:cNvPr id="460" name="Google Shape;460;p23"/>
                          <p:cNvGrpSpPr/>
                          <p:nvPr/>
                        </p:nvGrpSpPr>
                        <p:grpSpPr>
                          <a:xfrm>
                            <a:off x="107504" y="1844824"/>
                            <a:ext cx="7870681" cy="4762053"/>
                            <a:chOff x="107504" y="2348880"/>
                            <a:chExt cx="8136904" cy="4762053"/>
                          </a:xfrm>
                        </p:grpSpPr>
                        <p:grpSp>
                          <p:nvGrpSpPr>
                            <p:cNvPr id="461" name="Google Shape;461;p23"/>
                            <p:cNvGrpSpPr/>
                            <p:nvPr/>
                          </p:nvGrpSpPr>
                          <p:grpSpPr>
                            <a:xfrm>
                              <a:off x="6923497" y="3717032"/>
                              <a:ext cx="1318048" cy="1152128"/>
                              <a:chOff x="6679915" y="3717032"/>
                              <a:chExt cx="1318048" cy="1152128"/>
                            </a:xfrm>
                          </p:grpSpPr>
                          <p:sp>
                            <p:nvSpPr>
                              <p:cNvPr id="462" name="Google Shape;462;p23"/>
                              <p:cNvSpPr/>
                              <p:nvPr/>
                            </p:nvSpPr>
                            <p:spPr>
                              <a:xfrm>
                                <a:off x="6679915" y="3717032"/>
                                <a:ext cx="1318048" cy="432048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lt1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rPr lang="pt-BR" sz="1600">
                                    <a:solidFill>
                                      <a:schemeClr val="dk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rPr>
                                  <a:t>REM (MAR)</a:t>
                                </a: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463" name="Google Shape;463;p23"/>
                              <p:cNvGrpSpPr/>
                              <p:nvPr/>
                            </p:nvGrpSpPr>
                            <p:grpSpPr>
                              <a:xfrm>
                                <a:off x="7236301" y="4149080"/>
                                <a:ext cx="220876" cy="720080"/>
                                <a:chOff x="1115616" y="4578747"/>
                                <a:chExt cx="134265" cy="1957904"/>
                              </a:xfrm>
                            </p:grpSpPr>
                            <p:cxnSp>
                              <p:nvCxnSpPr>
                                <p:cNvPr id="464" name="Google Shape;464;p23"/>
                                <p:cNvCxnSpPr/>
                                <p:nvPr/>
                              </p:nvCxnSpPr>
                              <p:spPr>
                                <a:xfrm>
                                  <a:off x="1115616" y="4581128"/>
                                  <a:ext cx="0" cy="1368152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  <p:cxnSp>
                              <p:nvCxnSpPr>
                                <p:cNvPr id="465" name="Google Shape;465;p23"/>
                                <p:cNvCxnSpPr/>
                                <p:nvPr/>
                              </p:nvCxnSpPr>
                              <p:spPr>
                                <a:xfrm>
                                  <a:off x="1246930" y="4578747"/>
                                  <a:ext cx="2951" cy="1957904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</p:grpSp>
                        </p:grpSp>
                        <p:grpSp>
                          <p:nvGrpSpPr>
                            <p:cNvPr id="466" name="Google Shape;466;p23"/>
                            <p:cNvGrpSpPr/>
                            <p:nvPr/>
                          </p:nvGrpSpPr>
                          <p:grpSpPr>
                            <a:xfrm>
                              <a:off x="107504" y="2348880"/>
                              <a:ext cx="8136904" cy="4762053"/>
                              <a:chOff x="107504" y="2348880"/>
                              <a:chExt cx="8136904" cy="4762053"/>
                            </a:xfrm>
                          </p:grpSpPr>
                          <p:sp>
                            <p:nvSpPr>
                              <p:cNvPr id="467" name="Google Shape;467;p23"/>
                              <p:cNvSpPr/>
                              <p:nvPr/>
                            </p:nvSpPr>
                            <p:spPr>
                              <a:xfrm>
                                <a:off x="5076056" y="3573016"/>
                                <a:ext cx="1152128" cy="28803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lt1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rPr lang="pt-BR" sz="1800">
                                    <a:solidFill>
                                      <a:schemeClr val="dk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rPr>
                                  <a:t>CI (PC)</a:t>
                                </a: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468" name="Google Shape;468;p23"/>
                              <p:cNvGrpSpPr/>
                              <p:nvPr/>
                            </p:nvGrpSpPr>
                            <p:grpSpPr>
                              <a:xfrm>
                                <a:off x="5520804" y="3861048"/>
                                <a:ext cx="216024" cy="792088"/>
                                <a:chOff x="1115616" y="4578747"/>
                                <a:chExt cx="131316" cy="1370533"/>
                              </a:xfrm>
                            </p:grpSpPr>
                            <p:cxnSp>
                              <p:nvCxnSpPr>
                                <p:cNvPr id="469" name="Google Shape;469;p23"/>
                                <p:cNvCxnSpPr/>
                                <p:nvPr/>
                              </p:nvCxnSpPr>
                              <p:spPr>
                                <a:xfrm>
                                  <a:off x="1115616" y="4581128"/>
                                  <a:ext cx="0" cy="1368152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  <p:cxnSp>
                              <p:nvCxnSpPr>
                                <p:cNvPr id="470" name="Google Shape;470;p23"/>
                                <p:cNvCxnSpPr/>
                                <p:nvPr/>
                              </p:nvCxnSpPr>
                              <p:spPr>
                                <a:xfrm>
                                  <a:off x="1246932" y="4578747"/>
                                  <a:ext cx="0" cy="1368152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</p:grpSp>
                          <p:grpSp>
                            <p:nvGrpSpPr>
                              <p:cNvPr id="471" name="Google Shape;471;p23"/>
                              <p:cNvGrpSpPr/>
                              <p:nvPr/>
                            </p:nvGrpSpPr>
                            <p:grpSpPr>
                              <a:xfrm>
                                <a:off x="107504" y="2348880"/>
                                <a:ext cx="8136904" cy="4762053"/>
                                <a:chOff x="107504" y="2331988"/>
                                <a:chExt cx="8136904" cy="4762053"/>
                              </a:xfrm>
                            </p:grpSpPr>
                            <p:cxnSp>
                              <p:nvCxnSpPr>
                                <p:cNvPr id="472" name="Google Shape;472;p23"/>
                                <p:cNvCxnSpPr/>
                                <p:nvPr/>
                              </p:nvCxnSpPr>
                              <p:spPr>
                                <a:xfrm>
                                  <a:off x="3030691" y="3501008"/>
                                  <a:ext cx="176400" cy="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sq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med" w="med" type="oval"/>
                                  <a:tailEnd len="med" w="med" type="triangle"/>
                                </a:ln>
                              </p:spPr>
                            </p:cxnSp>
                            <p:grpSp>
                              <p:nvGrpSpPr>
                                <p:cNvPr id="473" name="Google Shape;473;p23"/>
                                <p:cNvGrpSpPr/>
                                <p:nvPr/>
                              </p:nvGrpSpPr>
                              <p:grpSpPr>
                                <a:xfrm>
                                  <a:off x="107504" y="2331988"/>
                                  <a:ext cx="8136904" cy="4762053"/>
                                  <a:chOff x="107504" y="2331988"/>
                                  <a:chExt cx="8136904" cy="4762053"/>
                                </a:xfrm>
                              </p:grpSpPr>
                              <p:grpSp>
                                <p:nvGrpSpPr>
                                  <p:cNvPr id="474" name="Google Shape;474;p23"/>
                                  <p:cNvGrpSpPr/>
                                  <p:nvPr/>
                                </p:nvGrpSpPr>
                                <p:grpSpPr>
                                  <a:xfrm>
                                    <a:off x="155004" y="3099440"/>
                                    <a:ext cx="3052653" cy="3994601"/>
                                    <a:chOff x="155004" y="3099440"/>
                                    <a:chExt cx="3052653" cy="3994601"/>
                                  </a:xfrm>
                                </p:grpSpPr>
                                <p:cxnSp>
                                  <p:nvCxnSpPr>
                                    <p:cNvPr id="475" name="Google Shape;475;p23"/>
                                    <p:cNvCxnSpPr/>
                                    <p:nvPr/>
                                  </p:nvCxnSpPr>
                                  <p:spPr>
                                    <a:xfrm>
                                      <a:off x="3029352" y="3099440"/>
                                      <a:ext cx="0" cy="2376264"/>
                                    </a:xfrm>
                                    <a:prstGeom prst="straightConnector1">
                                      <a:avLst/>
                                    </a:prstGeom>
                                    <a:noFill/>
                                    <a:ln cap="flat" cmpd="sng" w="12700">
                                      <a:solidFill>
                                        <a:schemeClr val="dk1"/>
                                      </a:solidFill>
                                      <a:prstDash val="solid"/>
                                      <a:round/>
                                      <a:headEnd len="sm" w="sm" type="none"/>
                                      <a:tailEnd len="med" w="med" type="oval"/>
                                    </a:ln>
                                  </p:spPr>
                                </p:cxnSp>
                                <p:cxnSp>
                                  <p:nvCxnSpPr>
                                    <p:cNvPr id="476" name="Google Shape;476;p23"/>
                                    <p:cNvCxnSpPr/>
                                    <p:nvPr/>
                                  </p:nvCxnSpPr>
                                  <p:spPr>
                                    <a:xfrm>
                                      <a:off x="3031257" y="3102868"/>
                                      <a:ext cx="176400" cy="0"/>
                                    </a:xfrm>
                                    <a:prstGeom prst="straightConnector1">
                                      <a:avLst/>
                                    </a:prstGeom>
                                    <a:noFill/>
                                    <a:ln cap="sq" cmpd="sng" w="12700">
                                      <a:solidFill>
                                        <a:schemeClr val="dk1"/>
                                      </a:solidFill>
                                      <a:prstDash val="solid"/>
                                      <a:round/>
                                      <a:headEnd len="sm" w="sm" type="none"/>
                                      <a:tailEnd len="med" w="med" type="triangle"/>
                                    </a:ln>
                                  </p:spPr>
                                </p:cxnSp>
                                <p:cxnSp>
                                  <p:nvCxnSpPr>
                                    <p:cNvPr id="477" name="Google Shape;477;p23"/>
                                    <p:cNvCxnSpPr/>
                                    <p:nvPr/>
                                  </p:nvCxnSpPr>
                                  <p:spPr>
                                    <a:xfrm>
                                      <a:off x="155004" y="6750172"/>
                                      <a:ext cx="491564" cy="0"/>
                                    </a:xfrm>
                                    <a:prstGeom prst="straightConnector1">
                                      <a:avLst/>
                                    </a:prstGeom>
                                    <a:noFill/>
                                    <a:ln cap="sq" cmpd="sng" w="38100">
                                      <a:solidFill>
                                        <a:schemeClr val="dk1"/>
                                      </a:solidFill>
                                      <a:prstDash val="solid"/>
                                      <a:round/>
                                      <a:headEnd len="sm" w="sm" type="none"/>
                                      <a:tailEnd len="med" w="med" type="triangle"/>
                                    </a:ln>
                                  </p:spPr>
                                </p:cxnSp>
                                <p:cxnSp>
                                  <p:nvCxnSpPr>
                                    <p:cNvPr id="478" name="Google Shape;478;p23"/>
                                    <p:cNvCxnSpPr/>
                                    <p:nvPr/>
                                  </p:nvCxnSpPr>
                                  <p:spPr>
                                    <a:xfrm>
                                      <a:off x="155004" y="7094041"/>
                                      <a:ext cx="491564" cy="0"/>
                                    </a:xfrm>
                                    <a:prstGeom prst="straightConnector1">
                                      <a:avLst/>
                                    </a:prstGeom>
                                    <a:noFill/>
                                    <a:ln cap="sq" cmpd="sng" w="38100">
                                      <a:solidFill>
                                        <a:srgbClr val="07C910"/>
                                      </a:solidFill>
                                      <a:prstDash val="solid"/>
                                      <a:round/>
                                      <a:headEnd len="sm" w="sm" type="none"/>
                                      <a:tailEnd len="med" w="med" type="triangle"/>
                                    </a:ln>
                                  </p:spPr>
                                </p:cxnSp>
                              </p:grpSp>
                              <p:cxnSp>
                                <p:nvCxnSpPr>
                                  <p:cNvPr id="479" name="Google Shape;479;p23"/>
                                  <p:cNvCxnSpPr/>
                                  <p:nvPr/>
                                </p:nvCxnSpPr>
                                <p:spPr>
                                  <a:xfrm>
                                    <a:off x="1691680" y="5486965"/>
                                    <a:ext cx="2304256" cy="0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cap="flat" cmpd="sng" w="9525">
                                    <a:solidFill>
                                      <a:schemeClr val="dk1"/>
                                    </a:solidFill>
                                    <a:prstDash val="solid"/>
                                    <a:round/>
                                    <a:headEnd len="med" w="med" type="oval"/>
                                    <a:tailEnd len="med" w="med" type="triangle"/>
                                  </a:ln>
                                </p:spPr>
                              </p:cxnSp>
                              <p:grpSp>
                                <p:nvGrpSpPr>
                                  <p:cNvPr id="480" name="Google Shape;480;p23"/>
                                  <p:cNvGrpSpPr/>
                                  <p:nvPr/>
                                </p:nvGrpSpPr>
                                <p:grpSpPr>
                                  <a:xfrm>
                                    <a:off x="107504" y="2331988"/>
                                    <a:ext cx="8136904" cy="4121348"/>
                                    <a:chOff x="107504" y="2331988"/>
                                    <a:chExt cx="8136904" cy="4121348"/>
                                  </a:xfrm>
                                </p:grpSpPr>
                                <p:grpSp>
                                  <p:nvGrpSpPr>
                                    <p:cNvPr id="481" name="Google Shape;481;p23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452305" y="2331988"/>
                                      <a:ext cx="7248451" cy="2520282"/>
                                      <a:chOff x="452305" y="2348880"/>
                                      <a:chExt cx="7248451" cy="2520282"/>
                                    </a:xfrm>
                                  </p:grpSpPr>
                                  <p:grpSp>
                                    <p:nvGrpSpPr>
                                      <p:cNvPr id="482" name="Google Shape;482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452305" y="4653138"/>
                                        <a:ext cx="7248451" cy="216024"/>
                                        <a:chOff x="539553" y="5515336"/>
                                        <a:chExt cx="7248451" cy="317747"/>
                                      </a:xfrm>
                                    </p:grpSpPr>
                                    <p:cxnSp>
                                      <p:nvCxnSpPr>
                                        <p:cNvPr id="483" name="Google Shape;483;p23"/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539553" y="5515336"/>
                                          <a:ext cx="7025120" cy="1897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  <p:cxnSp>
                                      <p:nvCxnSpPr>
                                        <p:cNvPr id="484" name="Google Shape;484;p23"/>
                                        <p:cNvCxnSpPr/>
                                        <p:nvPr/>
                                      </p:nvCxnSpPr>
                                      <p:spPr>
                                        <a:xfrm rot="10800000">
                                          <a:off x="539553" y="5823743"/>
                                          <a:ext cx="7248451" cy="934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</p:grpSp>
                                  <p:grpSp>
                                    <p:nvGrpSpPr>
                                      <p:cNvPr id="485" name="Google Shape;485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95834" y="2852936"/>
                                        <a:ext cx="1440160" cy="1800200"/>
                                        <a:chOff x="827584" y="2852936"/>
                                        <a:chExt cx="1440160" cy="1800200"/>
                                      </a:xfrm>
                                    </p:grpSpPr>
                                    <p:grpSp>
                                      <p:nvGrpSpPr>
                                        <p:cNvPr id="486" name="Google Shape;486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827584" y="2852936"/>
                                          <a:ext cx="1440160" cy="792088"/>
                                          <a:chOff x="3419872" y="2564904"/>
                                          <a:chExt cx="1944216" cy="1296144"/>
                                        </a:xfrm>
                                      </p:grpSpPr>
                                      <p:sp>
                                        <p:nvSpPr>
                                          <p:cNvPr id="487" name="Google Shape;487;p23"/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419872" y="2564904"/>
                                            <a:ext cx="1944216" cy="1296144"/>
                                          </a:xfrm>
                                          <a:prstGeom prst="trapezoid">
                                            <a:avLst>
                                              <a:gd fmla="val 25000" name="adj"/>
                                            </a:avLst>
                                          </a:prstGeom>
                                          <a:solidFill>
                                            <a:srgbClr val="A5A5A5"/>
                                          </a:solidFill>
                                          <a:ln>
                                            <a:noFill/>
                                          </a:ln>
                                        </p:spPr>
                                        <p:txBody>
                                          <a:bodyPr anchorCtr="0" anchor="ctr" bIns="45700" lIns="91425" spcFirstLastPara="1" rIns="91425" wrap="square" tIns="45700">
                                            <a:noAutofit/>
                                          </a:bodyPr>
                                          <a:lstStyle/>
                                          <a:p>
                                            <a:pPr indent="0" lvl="0" marL="0" marR="0" rtl="0" algn="ctr"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0"/>
                                              </a:spcAft>
                                              <a:buNone/>
                                            </a:pPr>
                                            <a:r>
                                              <a:rPr lang="pt-BR" sz="1800">
                                                <a:solidFill>
                                                  <a:schemeClr val="dk1"/>
                                                </a:solidFill>
                                                <a:latin typeface="Calibri"/>
                                                <a:ea typeface="Calibri"/>
                                                <a:cs typeface="Calibri"/>
                                                <a:sym typeface="Calibri"/>
                                              </a:rPr>
                                              <a:t>ULA</a:t>
                                            </a:r>
                                            <a:endParaRPr/>
                                          </a:p>
                                          <a:p>
                                            <a:pPr indent="0" lvl="0" marL="0" marR="0" rtl="0" algn="ctr"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0"/>
                                              </a:spcAft>
                                              <a:buNone/>
                                            </a:pPr>
                                            <a:r>
                                              <a:t/>
                                            </a:r>
                                            <a:endParaRPr sz="1800">
                                              <a:solidFill>
                                                <a:schemeClr val="lt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endParaRP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488" name="Google Shape;488;p23"/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966840" y="3356992"/>
                                            <a:ext cx="914400" cy="504056"/>
                                          </a:xfrm>
                                          <a:prstGeom prst="rect">
                                            <a:avLst/>
                                          </a:prstGeom>
                                          <a:solidFill>
                                            <a:schemeClr val="lt1"/>
                                          </a:solidFill>
                                          <a:ln>
                                            <a:noFill/>
                                          </a:ln>
                                        </p:spPr>
                                        <p:txBody>
                                          <a:bodyPr anchorCtr="0" anchor="ctr" bIns="45700" lIns="91425" spcFirstLastPara="1" rIns="91425" wrap="square" tIns="45700">
                                            <a:noAutofit/>
                                          </a:bodyPr>
                                          <a:lstStyle/>
                                          <a:p>
                                            <a:pPr indent="0" lvl="0" marL="0" marR="0" rtl="0" algn="ctr">
                                              <a:spcBef>
                                                <a:spcPts val="0"/>
                                              </a:spcBef>
                                              <a:spcAft>
                                                <a:spcPts val="0"/>
                                              </a:spcAft>
                                              <a:buNone/>
                                            </a:pPr>
                                            <a:r>
                                              <a:t/>
                                            </a:r>
                                            <a:endParaRPr sz="1800">
                                              <a:solidFill>
                                                <a:schemeClr val="lt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endParaRPr>
                                          </a:p>
                                        </p:txBody>
                                      </p:sp>
                                    </p:grpSp>
                                    <p:grpSp>
                                      <p:nvGrpSpPr>
                                        <p:cNvPr id="489" name="Google Shape;489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1967012" y="3645024"/>
                                          <a:ext cx="216024" cy="1008112"/>
                                          <a:chOff x="1115616" y="4578747"/>
                                          <a:chExt cx="131316" cy="1370533"/>
                                        </a:xfrm>
                                      </p:grpSpPr>
                                      <p:cxnSp>
                                        <p:nvCxnSpPr>
                                          <p:cNvPr id="490" name="Google Shape;490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115616" y="4581128"/>
                                            <a:ext cx="0" cy="136815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491" name="Google Shape;491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246932" y="4578747"/>
                                            <a:ext cx="0" cy="136815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</p:grpSp>
                                    <p:grpSp>
                                      <p:nvGrpSpPr>
                                        <p:cNvPr id="492" name="Google Shape;492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924992" y="3645024"/>
                                          <a:ext cx="216024" cy="1008112"/>
                                          <a:chOff x="1115616" y="4578747"/>
                                          <a:chExt cx="131316" cy="1370533"/>
                                        </a:xfrm>
                                      </p:grpSpPr>
                                      <p:cxnSp>
                                        <p:nvCxnSpPr>
                                          <p:cNvPr id="493" name="Google Shape;493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115616" y="4581128"/>
                                            <a:ext cx="0" cy="136815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494" name="Google Shape;494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246932" y="4578747"/>
                                            <a:ext cx="0" cy="136815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</p:grpSp>
                                  </p:grpSp>
                                  <p:grpSp>
                                    <p:nvGrpSpPr>
                                      <p:cNvPr id="495" name="Google Shape;495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1403648" y="2348880"/>
                                        <a:ext cx="1440160" cy="2304258"/>
                                        <a:chOff x="1403648" y="2348880"/>
                                        <a:chExt cx="1440160" cy="2304258"/>
                                      </a:xfrm>
                                    </p:grpSpPr>
                                    <p:grpSp>
                                      <p:nvGrpSpPr>
                                        <p:cNvPr id="496" name="Google Shape;496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2627784" y="2348882"/>
                                          <a:ext cx="216024" cy="2304256"/>
                                          <a:chOff x="1115616" y="4436968"/>
                                          <a:chExt cx="131316" cy="1512312"/>
                                        </a:xfrm>
                                      </p:grpSpPr>
                                      <p:cxnSp>
                                        <p:nvCxnSpPr>
                                          <p:cNvPr id="497" name="Google Shape;497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115616" y="4581128"/>
                                            <a:ext cx="0" cy="136815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498" name="Google Shape;498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246932" y="4436968"/>
                                            <a:ext cx="0" cy="1509931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</p:grpSp>
                                    <p:grpSp>
                                      <p:nvGrpSpPr>
                                        <p:cNvPr id="499" name="Google Shape;499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1403648" y="2348880"/>
                                          <a:ext cx="1440160" cy="504056"/>
                                          <a:chOff x="1403648" y="2348880"/>
                                          <a:chExt cx="1440160" cy="504056"/>
                                        </a:xfrm>
                                      </p:grpSpPr>
                                      <p:cxnSp>
                                        <p:nvCxnSpPr>
                                          <p:cNvPr id="500" name="Google Shape;500;p23"/>
                                          <p:cNvCxnSpPr/>
                                          <p:nvPr/>
                                        </p:nvCxnSpPr>
                                        <p:spPr>
                                          <a:xfrm rot="10800000">
                                            <a:off x="1619672" y="2564904"/>
                                            <a:ext cx="1008112" cy="0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501" name="Google Shape;501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403648" y="2348880"/>
                                            <a:ext cx="0" cy="504056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502" name="Google Shape;502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618878" y="2564904"/>
                                            <a:ext cx="0" cy="28803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503" name="Google Shape;503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1403648" y="2348880"/>
                                            <a:ext cx="1440160" cy="0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</p:grpSp>
                                  </p:grpSp>
                                </p:grpSp>
                                <p:grpSp>
                                  <p:nvGrpSpPr>
                                    <p:cNvPr id="504" name="Google Shape;504;p23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107504" y="4866779"/>
                                      <a:ext cx="5472608" cy="1586557"/>
                                      <a:chOff x="107504" y="4866779"/>
                                      <a:chExt cx="5472608" cy="1586557"/>
                                    </a:xfrm>
                                  </p:grpSpPr>
                                  <p:sp>
                                    <p:nvSpPr>
                                      <p:cNvPr id="505" name="Google Shape;505;p23"/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3995936" y="5301208"/>
                                        <a:ext cx="1584176" cy="360040"/>
                                      </a:xfrm>
                                      <a:prstGeom prst="rect">
                                        <a:avLst/>
                                      </a:prstGeom>
                                      <a:solidFill>
                                        <a:schemeClr val="lt1"/>
                                      </a:solidFill>
                                      <a:ln cap="flat" cmpd="sng" w="9525">
                                        <a:solidFill>
                                          <a:schemeClr val="dk1"/>
                                        </a:solidFill>
                                        <a:prstDash val="solid"/>
                                        <a:round/>
                                        <a:headEnd len="sm" w="sm" type="none"/>
                                        <a:tailEnd len="sm" w="sm" type="none"/>
                                      </a:ln>
                                    </p:spPr>
                                    <p:txBody>
                                      <a:bodyPr anchorCtr="0" anchor="ctr" bIns="45700" lIns="91425" spcFirstLastPara="1" rIns="91425" wrap="square" tIns="45700">
                                        <a:noAutofit/>
                                      </a:bodyPr>
                                      <a:lstStyle/>
                                      <a:p>
                                        <a:pPr indent="0" lvl="0" marL="0" marR="0" rtl="0" algn="ctr">
                                          <a:spcBef>
                                            <a:spcPts val="0"/>
                                          </a:spcBef>
                                          <a:spcAft>
                                            <a:spcPts val="0"/>
                                          </a:spcAft>
                                          <a:buNone/>
                                        </a:pPr>
                                        <a:r>
                                          <a:rPr lang="pt-BR" sz="1800">
                                            <a:solidFill>
                                              <a:schemeClr val="dk1"/>
                                            </a:solidFill>
                                            <a:latin typeface="Calibri"/>
                                            <a:ea typeface="Calibri"/>
                                            <a:cs typeface="Calibri"/>
                                            <a:sym typeface="Calibri"/>
                                          </a:rPr>
                                          <a:t>RI (IR)</a:t>
                                        </a:r>
                                        <a:endParaRPr/>
                                      </a:p>
                                    </p:txBody>
                                  </p:sp>
                                  <p:sp>
                                    <p:nvSpPr>
                                      <p:cNvPr id="506" name="Google Shape;506;p23"/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3995936" y="5877272"/>
                                        <a:ext cx="1584176" cy="576064"/>
                                      </a:xfrm>
                                      <a:prstGeom prst="rect">
                                        <a:avLst/>
                                      </a:prstGeom>
                                      <a:solidFill>
                                        <a:schemeClr val="lt1"/>
                                      </a:solidFill>
                                      <a:ln cap="flat" cmpd="sng" w="9525">
                                        <a:solidFill>
                                          <a:schemeClr val="dk1"/>
                                        </a:solidFill>
                                        <a:prstDash val="solid"/>
                                        <a:round/>
                                        <a:headEnd len="sm" w="sm" type="none"/>
                                        <a:tailEnd len="sm" w="sm" type="none"/>
                                      </a:ln>
                                    </p:spPr>
                                    <p:txBody>
                                      <a:bodyPr anchorCtr="0" anchor="ctr" bIns="45700" lIns="91425" spcFirstLastPara="1" rIns="91425" wrap="square" tIns="45700">
                                        <a:noAutofit/>
                                      </a:bodyPr>
                                      <a:lstStyle/>
                                      <a:p>
                                        <a:pPr indent="0" lvl="0" marL="0" marR="0" rtl="0" algn="ctr">
                                          <a:spcBef>
                                            <a:spcPts val="0"/>
                                          </a:spcBef>
                                          <a:spcAft>
                                            <a:spcPts val="0"/>
                                          </a:spcAft>
                                          <a:buNone/>
                                        </a:pPr>
                                        <a:r>
                                          <a:rPr lang="pt-BR" sz="1600">
                                            <a:solidFill>
                                              <a:schemeClr val="dk1"/>
                                            </a:solidFill>
                                            <a:latin typeface="Calibri"/>
                                            <a:ea typeface="Calibri"/>
                                            <a:cs typeface="Calibri"/>
                                            <a:sym typeface="Calibri"/>
                                          </a:rPr>
                                          <a:t>Decodificador de instruções</a:t>
                                        </a:r>
                                        <a:endParaRPr/>
                                      </a:p>
                                    </p:txBody>
                                  </p:sp>
                                  <p:grpSp>
                                    <p:nvGrpSpPr>
                                      <p:cNvPr id="507" name="Google Shape;507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4659248" y="4866779"/>
                                        <a:ext cx="216024" cy="434429"/>
                                        <a:chOff x="1115616" y="4578747"/>
                                        <a:chExt cx="131316" cy="1370533"/>
                                      </a:xfrm>
                                    </p:grpSpPr>
                                    <p:cxnSp>
                                      <p:nvCxnSpPr>
                                        <p:cNvPr id="508" name="Google Shape;508;p23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1115616" y="4581128"/>
                                          <a:ext cx="0" cy="1368152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  <p:cxnSp>
                                      <p:nvCxnSpPr>
                                        <p:cNvPr id="509" name="Google Shape;509;p23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1246932" y="4578747"/>
                                          <a:ext cx="0" cy="1368152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</p:grpSp>
                                  <p:grpSp>
                                    <p:nvGrpSpPr>
                                      <p:cNvPr id="510" name="Google Shape;510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4154804" y="5661248"/>
                                        <a:ext cx="1243188" cy="216025"/>
                                        <a:chOff x="4067944" y="5661248"/>
                                        <a:chExt cx="1243188" cy="216025"/>
                                      </a:xfrm>
                                    </p:grpSpPr>
                                    <p:grpSp>
                                      <p:nvGrpSpPr>
                                        <p:cNvPr id="511" name="Google Shape;511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4067944" y="5661248"/>
                                          <a:ext cx="811140" cy="216025"/>
                                          <a:chOff x="4427984" y="5661248"/>
                                          <a:chExt cx="811140" cy="216025"/>
                                        </a:xfrm>
                                      </p:grpSpPr>
                                      <p:grpSp>
                                        <p:nvGrpSpPr>
                                          <p:cNvPr id="512" name="Google Shape;512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4427984" y="5661248"/>
                                            <a:ext cx="369566" cy="216025"/>
                                            <a:chOff x="4427984" y="5661248"/>
                                            <a:chExt cx="369566" cy="216025"/>
                                          </a:xfrm>
                                        </p:grpSpPr>
                                        <p:grpSp>
                                          <p:nvGrpSpPr>
                                            <p:cNvPr id="513" name="Google Shape;513;p23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4427984" y="5661249"/>
                                              <a:ext cx="72008" cy="216024"/>
                                              <a:chOff x="1115616" y="4578747"/>
                                              <a:chExt cx="131316" cy="1370533"/>
                                            </a:xfrm>
                                          </p:grpSpPr>
                                          <p:cxnSp>
                                            <p:nvCxnSpPr>
                                              <p:cNvPr id="514" name="Google Shape;514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115616" y="4581128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  <p:cxnSp>
                                            <p:nvCxnSpPr>
                                              <p:cNvPr id="515" name="Google Shape;515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246932" y="4578747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</p:grpSp>
                                        <p:grpSp>
                                          <p:nvGrpSpPr>
                                            <p:cNvPr id="516" name="Google Shape;516;p23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4580384" y="5661248"/>
                                              <a:ext cx="72008" cy="216024"/>
                                              <a:chOff x="1115616" y="4578747"/>
                                              <a:chExt cx="131316" cy="1370533"/>
                                            </a:xfrm>
                                          </p:grpSpPr>
                                          <p:cxnSp>
                                            <p:nvCxnSpPr>
                                              <p:cNvPr id="517" name="Google Shape;517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115616" y="4581128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  <p:cxnSp>
                                            <p:nvCxnSpPr>
                                              <p:cNvPr id="518" name="Google Shape;518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246932" y="4578747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</p:grpSp>
                                        <p:grpSp>
                                          <p:nvGrpSpPr>
                                            <p:cNvPr id="519" name="Google Shape;519;p23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4725542" y="5661248"/>
                                              <a:ext cx="72008" cy="216024"/>
                                              <a:chOff x="1115616" y="4578747"/>
                                              <a:chExt cx="131316" cy="1370533"/>
                                            </a:xfrm>
                                          </p:grpSpPr>
                                          <p:cxnSp>
                                            <p:nvCxnSpPr>
                                              <p:cNvPr id="520" name="Google Shape;520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115616" y="4581128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  <p:cxnSp>
                                            <p:nvCxnSpPr>
                                              <p:cNvPr id="521" name="Google Shape;521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246932" y="4578747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</p:grpSp>
                                      </p:grpSp>
                                      <p:grpSp>
                                        <p:nvGrpSpPr>
                                          <p:cNvPr id="522" name="Google Shape;522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4869558" y="5661248"/>
                                            <a:ext cx="369566" cy="216025"/>
                                            <a:chOff x="4427984" y="5661248"/>
                                            <a:chExt cx="369566" cy="216025"/>
                                          </a:xfrm>
                                        </p:grpSpPr>
                                        <p:grpSp>
                                          <p:nvGrpSpPr>
                                            <p:cNvPr id="523" name="Google Shape;523;p23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4427984" y="5661249"/>
                                              <a:ext cx="72008" cy="216024"/>
                                              <a:chOff x="1115616" y="4578747"/>
                                              <a:chExt cx="131316" cy="1370533"/>
                                            </a:xfrm>
                                          </p:grpSpPr>
                                          <p:cxnSp>
                                            <p:nvCxnSpPr>
                                              <p:cNvPr id="524" name="Google Shape;524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115616" y="4581128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  <p:cxnSp>
                                            <p:nvCxnSpPr>
                                              <p:cNvPr id="525" name="Google Shape;525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246932" y="4578747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</p:grpSp>
                                        <p:grpSp>
                                          <p:nvGrpSpPr>
                                            <p:cNvPr id="526" name="Google Shape;526;p23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4580384" y="5661248"/>
                                              <a:ext cx="72008" cy="216024"/>
                                              <a:chOff x="1115616" y="4578747"/>
                                              <a:chExt cx="131316" cy="1370533"/>
                                            </a:xfrm>
                                          </p:grpSpPr>
                                          <p:cxnSp>
                                            <p:nvCxnSpPr>
                                              <p:cNvPr id="527" name="Google Shape;527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115616" y="4581128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  <p:cxnSp>
                                            <p:nvCxnSpPr>
                                              <p:cNvPr id="528" name="Google Shape;528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246932" y="4578747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</p:grpSp>
                                        <p:grpSp>
                                          <p:nvGrpSpPr>
                                            <p:cNvPr id="529" name="Google Shape;529;p23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4725542" y="5661248"/>
                                              <a:ext cx="72008" cy="216024"/>
                                              <a:chOff x="1115616" y="4578747"/>
                                              <a:chExt cx="131316" cy="1370533"/>
                                            </a:xfrm>
                                          </p:grpSpPr>
                                          <p:cxnSp>
                                            <p:nvCxnSpPr>
                                              <p:cNvPr id="530" name="Google Shape;530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115616" y="4581128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  <p:cxnSp>
                                            <p:nvCxnSpPr>
                                              <p:cNvPr id="531" name="Google Shape;531;p23"/>
                                              <p:cNvCxnSpPr/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1246932" y="4578747"/>
                                                <a:ext cx="0" cy="1368152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noFill/>
                                              <a:ln cap="flat" cmpd="sng" w="9525">
                                                <a:solidFill>
                                                  <a:schemeClr val="dk1"/>
                                                </a:solidFill>
                                                <a:prstDash val="solid"/>
                                                <a:round/>
                                                <a:headEnd len="sm" w="sm" type="none"/>
                                                <a:tailEnd len="sm" w="sm" type="none"/>
                                              </a:ln>
                                            </p:spPr>
                                          </p:cxnSp>
                                        </p:grpSp>
                                      </p:grpSp>
                                    </p:grpSp>
                                    <p:grpSp>
                                      <p:nvGrpSpPr>
                                        <p:cNvPr id="532" name="Google Shape;532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4941566" y="5661248"/>
                                          <a:ext cx="369566" cy="216025"/>
                                          <a:chOff x="4427984" y="5661248"/>
                                          <a:chExt cx="369566" cy="216025"/>
                                        </a:xfrm>
                                      </p:grpSpPr>
                                      <p:grpSp>
                                        <p:nvGrpSpPr>
                                          <p:cNvPr id="533" name="Google Shape;533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4427984" y="5661249"/>
                                            <a:ext cx="72008" cy="216024"/>
                                            <a:chOff x="1115616" y="4578747"/>
                                            <a:chExt cx="131316" cy="1370533"/>
                                          </a:xfrm>
                                        </p:grpSpPr>
                                        <p:cxnSp>
                                          <p:nvCxnSpPr>
                                            <p:cNvPr id="534" name="Google Shape;534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115616" y="4581128"/>
                                              <a:ext cx="0" cy="1368152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35" name="Google Shape;535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246932" y="4578747"/>
                                              <a:ext cx="0" cy="1368152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  <p:grpSp>
                                        <p:nvGrpSpPr>
                                          <p:cNvPr id="536" name="Google Shape;536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4580384" y="5661248"/>
                                            <a:ext cx="72008" cy="216024"/>
                                            <a:chOff x="1115616" y="4578747"/>
                                            <a:chExt cx="131316" cy="1370533"/>
                                          </a:xfrm>
                                        </p:grpSpPr>
                                        <p:cxnSp>
                                          <p:nvCxnSpPr>
                                            <p:cNvPr id="537" name="Google Shape;537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115616" y="4581128"/>
                                              <a:ext cx="0" cy="1368152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38" name="Google Shape;538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246932" y="4578747"/>
                                              <a:ext cx="0" cy="1368152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  <p:grpSp>
                                        <p:nvGrpSpPr>
                                          <p:cNvPr id="539" name="Google Shape;539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4725542" y="5661248"/>
                                            <a:ext cx="72008" cy="216024"/>
                                            <a:chOff x="1115616" y="4578747"/>
                                            <a:chExt cx="131316" cy="1370533"/>
                                          </a:xfrm>
                                        </p:grpSpPr>
                                        <p:cxnSp>
                                          <p:nvCxnSpPr>
                                            <p:cNvPr id="540" name="Google Shape;540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115616" y="4581128"/>
                                              <a:ext cx="0" cy="1368152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41" name="Google Shape;541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246932" y="4578747"/>
                                              <a:ext cx="0" cy="1368152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</p:grpSp>
                                  </p:grpSp>
                                  <p:grpSp>
                                    <p:nvGrpSpPr>
                                      <p:cNvPr id="542" name="Google Shape;542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107504" y="6021288"/>
                                        <a:ext cx="3888432" cy="288032"/>
                                        <a:chOff x="467544" y="6021288"/>
                                        <a:chExt cx="3528392" cy="288032"/>
                                      </a:xfrm>
                                    </p:grpSpPr>
                                    <p:sp>
                                      <p:nvSpPr>
                                        <p:cNvPr id="543" name="Google Shape;543;p23"/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1691680" y="6021288"/>
                                          <a:ext cx="1152128" cy="288032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lt1"/>
                                        </a:solidFill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  <p:txBody>
                                        <a:bodyPr anchorCtr="0" anchor="ctr" bIns="45700" lIns="91425" spcFirstLastPara="1" rIns="91425" wrap="square" tIns="45700">
                                          <a:noAutofit/>
                                        </a:bodyPr>
                                        <a:lstStyle/>
                                        <a:p>
                                          <a:pPr indent="0" lvl="0" marL="0" marR="0" rtl="0" algn="ctr">
                                            <a:spcBef>
                                              <a:spcPts val="0"/>
                                            </a:spcBef>
                                            <a:spcAft>
                                              <a:spcPts val="0"/>
                                            </a:spcAft>
                                            <a:buNone/>
                                          </a:pPr>
                                          <a:r>
                                            <a:rPr lang="pt-BR" sz="1800">
                                              <a:solidFill>
                                                <a:schemeClr val="dk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rPr>
                                            <a:t>UC</a:t>
                                          </a:r>
                                          <a:endParaRPr/>
                                        </a:p>
                                      </p:txBody>
                                    </p:sp>
                                    <p:sp>
                                      <p:nvSpPr>
                                        <p:cNvPr id="544" name="Google Shape;544;p23"/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467544" y="6057581"/>
                                          <a:ext cx="936104" cy="216024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lt1"/>
                                        </a:solidFill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  <p:txBody>
                                        <a:bodyPr anchorCtr="0" anchor="ctr" bIns="45700" lIns="91425" spcFirstLastPara="1" rIns="91425" wrap="square" tIns="45700">
                                          <a:noAutofit/>
                                        </a:bodyPr>
                                        <a:lstStyle/>
                                        <a:p>
                                          <a:pPr indent="0" lvl="0" marL="0" marR="0" rtl="0" algn="ctr">
                                            <a:spcBef>
                                              <a:spcPts val="0"/>
                                            </a:spcBef>
                                            <a:spcAft>
                                              <a:spcPts val="0"/>
                                            </a:spcAft>
                                            <a:buNone/>
                                          </a:pPr>
                                          <a:r>
                                            <a:rPr lang="pt-BR" sz="1500">
                                              <a:solidFill>
                                                <a:schemeClr val="dk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rPr>
                                            <a:t>Relógio</a:t>
                                          </a:r>
                                          <a:endParaRPr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545" name="Google Shape;545;p23"/>
                                        <p:cNvCxnSpPr>
                                          <a:stCxn id="544" idx="3"/>
                                          <a:endCxn id="543" idx="1"/>
                                        </p:cNvCxnSpPr>
                                        <p:nvPr/>
                                      </p:nvCxnSpPr>
                                      <p:spPr>
                                        <a:xfrm flipH="1" rot="10800000">
                                          <a:off x="1403648" y="6165293"/>
                                          <a:ext cx="288000" cy="30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2857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  <p:grpSp>
                                      <p:nvGrpSpPr>
                                        <p:cNvPr id="546" name="Google Shape;546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2843808" y="6064718"/>
                                          <a:ext cx="1152128" cy="213550"/>
                                          <a:chOff x="2843808" y="6093296"/>
                                          <a:chExt cx="1152128" cy="213550"/>
                                        </a:xfrm>
                                      </p:grpSpPr>
                                      <p:grpSp>
                                        <p:nvGrpSpPr>
                                          <p:cNvPr id="547" name="Google Shape;547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2843808" y="6093296"/>
                                            <a:ext cx="1152128" cy="45719"/>
                                            <a:chOff x="539552" y="5517232"/>
                                            <a:chExt cx="7992888" cy="306511"/>
                                          </a:xfrm>
                                        </p:grpSpPr>
                                        <p:cxnSp>
                                          <p:nvCxnSpPr>
                                            <p:cNvPr id="548" name="Google Shape;548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539552" y="5517232"/>
                                              <a:ext cx="7992888" cy="1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49" name="Google Shape;549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539552" y="5823742"/>
                                              <a:ext cx="7992888" cy="1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  <p:grpSp>
                                        <p:nvGrpSpPr>
                                          <p:cNvPr id="550" name="Google Shape;550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2843808" y="6179593"/>
                                            <a:ext cx="1152128" cy="45719"/>
                                            <a:chOff x="539552" y="5517232"/>
                                            <a:chExt cx="7992888" cy="306511"/>
                                          </a:xfrm>
                                        </p:grpSpPr>
                                        <p:cxnSp>
                                          <p:nvCxnSpPr>
                                            <p:cNvPr id="551" name="Google Shape;551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539552" y="5517232"/>
                                              <a:ext cx="7992888" cy="1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52" name="Google Shape;552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539552" y="5823742"/>
                                              <a:ext cx="7992888" cy="1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  <p:grpSp>
                                        <p:nvGrpSpPr>
                                          <p:cNvPr id="553" name="Google Shape;553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2843808" y="6261127"/>
                                            <a:ext cx="1152128" cy="45719"/>
                                            <a:chOff x="539552" y="5517232"/>
                                            <a:chExt cx="7992888" cy="306511"/>
                                          </a:xfrm>
                                        </p:grpSpPr>
                                        <p:cxnSp>
                                          <p:nvCxnSpPr>
                                            <p:cNvPr id="554" name="Google Shape;554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539552" y="5517232"/>
                                              <a:ext cx="7992888" cy="1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55" name="Google Shape;555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539552" y="5823742"/>
                                              <a:ext cx="7992888" cy="1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</p:grpSp>
                                  </p:grpSp>
                                </p:grpSp>
                                <p:grpSp>
                                  <p:nvGrpSpPr>
                                    <p:cNvPr id="556" name="Google Shape;556;p23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3028082" y="2908052"/>
                                      <a:ext cx="5216326" cy="2177132"/>
                                      <a:chOff x="3028082" y="2924944"/>
                                      <a:chExt cx="5216326" cy="2177132"/>
                                    </a:xfrm>
                                  </p:grpSpPr>
                                  <p:grpSp>
                                    <p:nvGrpSpPr>
                                      <p:cNvPr id="557" name="Google Shape;557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203848" y="2924944"/>
                                        <a:ext cx="1656184" cy="864096"/>
                                        <a:chOff x="3347864" y="2852936"/>
                                        <a:chExt cx="1800200" cy="864096"/>
                                      </a:xfrm>
                                    </p:grpSpPr>
                                    <p:sp>
                                      <p:nvSpPr>
                                        <p:cNvPr id="558" name="Google Shape;558;p23"/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347864" y="2852936"/>
                                          <a:ext cx="1800200" cy="864096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lt1"/>
                                        </a:solidFill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  <p:txBody>
                                        <a:bodyPr anchorCtr="0" anchor="ctr" bIns="45700" lIns="91425" spcFirstLastPara="1" rIns="91425" wrap="square" tIns="45700">
                                          <a:noAutofit/>
                                        </a:bodyPr>
                                        <a:lstStyle/>
                                        <a:p>
                                          <a:pPr indent="0" lvl="0" marL="0" marR="0" rtl="0" algn="ctr">
                                            <a:spcBef>
                                              <a:spcPts val="0"/>
                                            </a:spcBef>
                                            <a:spcAft>
                                              <a:spcPts val="0"/>
                                            </a:spcAft>
                                            <a:buNone/>
                                          </a:pPr>
                                          <a:r>
                                            <a:rPr lang="pt-BR" sz="1800">
                                              <a:solidFill>
                                                <a:schemeClr val="dk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rPr>
                                            <a:t>ACC</a:t>
                                          </a:r>
                                          <a:endParaRPr/>
                                        </a:p>
                                        <a:p>
                                          <a:pPr indent="0" lvl="0" marL="0" marR="0" rtl="0" algn="ctr">
                                            <a:spcBef>
                                              <a:spcPts val="0"/>
                                            </a:spcBef>
                                            <a:spcAft>
                                              <a:spcPts val="0"/>
                                            </a:spcAft>
                                            <a:buNone/>
                                          </a:pPr>
                                          <a:r>
                                            <a:t/>
                                          </a:r>
                                          <a:endParaRPr sz="500">
                                            <a:solidFill>
                                              <a:schemeClr val="dk1"/>
                                            </a:solidFill>
                                            <a:latin typeface="Calibri"/>
                                            <a:ea typeface="Calibri"/>
                                            <a:cs typeface="Calibri"/>
                                            <a:sym typeface="Calibri"/>
                                          </a:endParaRPr>
                                        </a:p>
                                        <a:p>
                                          <a:pPr indent="0" lvl="0" marL="0" marR="0" rtl="0" algn="ctr">
                                            <a:spcBef>
                                              <a:spcPts val="0"/>
                                            </a:spcBef>
                                            <a:spcAft>
                                              <a:spcPts val="0"/>
                                            </a:spcAft>
                                            <a:buNone/>
                                          </a:pPr>
                                          <a:r>
                                            <a:rPr lang="pt-BR" sz="1600">
                                              <a:solidFill>
                                                <a:schemeClr val="dk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rPr>
                                            <a:t>Registradores 0 a R-1</a:t>
                                          </a:r>
                                          <a:endParaRPr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559" name="Google Shape;559;p23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3347864" y="3166368"/>
                                          <a:ext cx="180020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</p:grpSp>
                                  <p:grpSp>
                                    <p:nvGrpSpPr>
                                      <p:cNvPr id="560" name="Google Shape;560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936752" y="3789040"/>
                                        <a:ext cx="216024" cy="864096"/>
                                        <a:chOff x="1115616" y="4578747"/>
                                        <a:chExt cx="131316" cy="1370533"/>
                                      </a:xfrm>
                                    </p:grpSpPr>
                                    <p:cxnSp>
                                      <p:nvCxnSpPr>
                                        <p:cNvPr id="561" name="Google Shape;561;p23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1115616" y="4581128"/>
                                          <a:ext cx="0" cy="1368152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  <p:cxnSp>
                                      <p:nvCxnSpPr>
                                        <p:cNvPr id="562" name="Google Shape;562;p23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1246932" y="4578747"/>
                                          <a:ext cx="0" cy="1368152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noFill/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</p:cxnSp>
                                  </p:grpSp>
                                  <p:grpSp>
                                    <p:nvGrpSpPr>
                                      <p:cNvPr id="563" name="Google Shape;563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6372200" y="3016002"/>
                                        <a:ext cx="1872208" cy="1637135"/>
                                        <a:chOff x="6372200" y="2386980"/>
                                        <a:chExt cx="1872208" cy="1637135"/>
                                      </a:xfrm>
                                    </p:grpSpPr>
                                    <p:sp>
                                      <p:nvSpPr>
                                        <p:cNvPr id="564" name="Google Shape;564;p23"/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6876256" y="2386980"/>
                                          <a:ext cx="1368152" cy="432048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lt1"/>
                                        </a:solidFill>
                                        <a:ln cap="flat" cmpd="sng" w="9525">
                                          <a:solidFill>
                                            <a:schemeClr val="dk1"/>
                                          </a:solidFill>
                                          <a:prstDash val="solid"/>
                                          <a:round/>
                                          <a:headEnd len="sm" w="sm" type="none"/>
                                          <a:tailEnd len="sm" w="sm" type="none"/>
                                        </a:ln>
                                      </p:spPr>
                                      <p:txBody>
                                        <a:bodyPr anchorCtr="0" anchor="ctr" bIns="45700" lIns="91425" spcFirstLastPara="1" rIns="91425" wrap="square" tIns="45700">
                                          <a:noAutofit/>
                                        </a:bodyPr>
                                        <a:lstStyle/>
                                        <a:p>
                                          <a:pPr indent="0" lvl="0" marL="0" marR="0" rtl="0" algn="ctr">
                                            <a:spcBef>
                                              <a:spcPts val="0"/>
                                            </a:spcBef>
                                            <a:spcAft>
                                              <a:spcPts val="0"/>
                                            </a:spcAft>
                                            <a:buNone/>
                                          </a:pPr>
                                          <a:r>
                                            <a:rPr lang="pt-BR" sz="1600">
                                              <a:solidFill>
                                                <a:schemeClr val="dk1"/>
                                              </a:solidFill>
                                              <a:latin typeface="Calibri"/>
                                              <a:ea typeface="Calibri"/>
                                              <a:cs typeface="Calibri"/>
                                              <a:sym typeface="Calibri"/>
                                            </a:rPr>
                                            <a:t>RDM (MBR)</a:t>
                                          </a:r>
                                          <a:endParaRPr/>
                                        </a:p>
                                      </p:txBody>
                                    </p:sp>
                                    <p:grpSp>
                                      <p:nvGrpSpPr>
                                        <p:cNvPr id="565" name="Google Shape;565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6372200" y="2492896"/>
                                          <a:ext cx="504056" cy="1531219"/>
                                          <a:chOff x="6372200" y="2492896"/>
                                          <a:chExt cx="504056" cy="1531219"/>
                                        </a:xfrm>
                                      </p:grpSpPr>
                                      <p:grpSp>
                                        <p:nvGrpSpPr>
                                          <p:cNvPr id="566" name="Google Shape;566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6372200" y="2496650"/>
                                            <a:ext cx="216024" cy="1527465"/>
                                            <a:chOff x="1115616" y="4581128"/>
                                            <a:chExt cx="131316" cy="969078"/>
                                          </a:xfrm>
                                        </p:grpSpPr>
                                        <p:cxnSp>
                                          <p:nvCxnSpPr>
                                            <p:cNvPr id="567" name="Google Shape;567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115616" y="4581128"/>
                                              <a:ext cx="0" cy="969078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68" name="Google Shape;568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1246932" y="4715800"/>
                                              <a:ext cx="0" cy="834406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9525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</p:grpSp>
                                      <p:cxnSp>
                                        <p:nvCxnSpPr>
                                          <p:cNvPr id="569" name="Google Shape;569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6588224" y="2708920"/>
                                            <a:ext cx="288032" cy="0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570" name="Google Shape;570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6372200" y="2492896"/>
                                            <a:ext cx="504056" cy="0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9525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sm" w="sm" type="none"/>
                                          </a:ln>
                                        </p:spPr>
                                      </p:cxnSp>
                                    </p:grpSp>
                                  </p:grpSp>
                                  <p:grpSp>
                                    <p:nvGrpSpPr>
                                      <p:cNvPr id="571" name="Google Shape;571;p23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028082" y="3445892"/>
                                        <a:ext cx="4253934" cy="1656184"/>
                                        <a:chOff x="3028082" y="3445892"/>
                                        <a:chExt cx="4253934" cy="1656184"/>
                                      </a:xfrm>
                                    </p:grpSpPr>
                                    <p:grpSp>
                                      <p:nvGrpSpPr>
                                        <p:cNvPr id="572" name="Google Shape;572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3028082" y="3445892"/>
                                          <a:ext cx="4248472" cy="1656184"/>
                                          <a:chOff x="3028082" y="3445892"/>
                                          <a:chExt cx="4248472" cy="1656184"/>
                                        </a:xfrm>
                                      </p:grpSpPr>
                                      <p:grpSp>
                                        <p:nvGrpSpPr>
                                          <p:cNvPr id="573" name="Google Shape;573;p23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3028082" y="3445892"/>
                                            <a:ext cx="4248472" cy="1656184"/>
                                            <a:chOff x="3059832" y="3356992"/>
                                            <a:chExt cx="4248472" cy="1656184"/>
                                          </a:xfrm>
                                        </p:grpSpPr>
                                        <p:cxnSp>
                                          <p:nvCxnSpPr>
                                            <p:cNvPr id="574" name="Google Shape;574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3059832" y="5013176"/>
                                              <a:ext cx="3744416" cy="0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12700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med" w="med" type="oval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75" name="Google Shape;575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6804248" y="3573016"/>
                                              <a:ext cx="0" cy="1440160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12700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76" name="Google Shape;576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>
                                              <a:off x="6804248" y="3573016"/>
                                              <a:ext cx="504056" cy="0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12700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sm" w="sm" type="none"/>
                                            </a:ln>
                                          </p:spPr>
                                        </p:cxnSp>
                                        <p:cxnSp>
                                          <p:nvCxnSpPr>
                                            <p:cNvPr id="577" name="Google Shape;577;p23"/>
                                            <p:cNvCxnSpPr/>
                                            <p:nvPr/>
                                          </p:nvCxnSpPr>
                                          <p:spPr>
                                            <a:xfrm rot="10800000">
                                              <a:off x="7308304" y="3356992"/>
                                              <a:ext cx="0" cy="216024"/>
                                            </a:xfrm>
                                            <a:prstGeom prst="straightConnector1">
                                              <a:avLst/>
                                            </a:prstGeom>
                                            <a:noFill/>
                                            <a:ln cap="flat" cmpd="sng" w="12700">
                                              <a:solidFill>
                                                <a:schemeClr val="dk1"/>
                                              </a:solidFill>
                                              <a:prstDash val="solid"/>
                                              <a:round/>
                                              <a:headEnd len="sm" w="sm" type="none"/>
                                              <a:tailEnd len="med" w="med" type="triangle"/>
                                            </a:ln>
                                          </p:spPr>
                                        </p:cxnSp>
                                      </p:grpSp>
                                      <p:cxnSp>
                                        <p:nvCxnSpPr>
                                          <p:cNvPr id="578" name="Google Shape;578;p23"/>
                                          <p:cNvCxnSpPr/>
                                          <p:nvPr/>
                                        </p:nvCxnSpPr>
                                        <p:spPr>
                                          <a:xfrm rot="10800000">
                                            <a:off x="5292080" y="3865811"/>
                                            <a:ext cx="0" cy="1224136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12700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med" w="med" type="oval"/>
                                            <a:tailEnd len="med" w="med" type="triangle"/>
                                          </a:ln>
                                        </p:spPr>
                                      </p:cxnSp>
                                    </p:grpSp>
                                    <p:grpSp>
                                      <p:nvGrpSpPr>
                                        <p:cNvPr id="579" name="Google Shape;579;p23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6777960" y="4149080"/>
                                          <a:ext cx="504056" cy="216024"/>
                                          <a:chOff x="6924898" y="3598292"/>
                                          <a:chExt cx="504056" cy="216024"/>
                                        </a:xfrm>
                                      </p:grpSpPr>
                                      <p:cxnSp>
                                        <p:nvCxnSpPr>
                                          <p:cNvPr id="580" name="Google Shape;580;p23"/>
                                          <p:cNvCxnSpPr/>
                                          <p:nvPr/>
                                        </p:nvCxnSpPr>
                                        <p:spPr>
                                          <a:xfrm>
                                            <a:off x="6924898" y="3814316"/>
                                            <a:ext cx="504056" cy="0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12700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med" w="med" type="oval"/>
                                            <a:tailEnd len="sm" w="sm" type="none"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581" name="Google Shape;581;p23"/>
                                          <p:cNvCxnSpPr/>
                                          <p:nvPr/>
                                        </p:nvCxnSpPr>
                                        <p:spPr>
                                          <a:xfrm rot="10800000">
                                            <a:off x="7428954" y="3598292"/>
                                            <a:ext cx="0" cy="216024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cap="flat" cmpd="sng" w="12700">
                                            <a:solidFill>
                                              <a:schemeClr val="dk1"/>
                                            </a:solidFill>
                                            <a:prstDash val="solid"/>
                                            <a:round/>
                                            <a:headEnd len="sm" w="sm" type="none"/>
                                            <a:tailEnd len="med" w="med" type="triangle"/>
                                          </a:ln>
                                        </p:spPr>
                                      </p:cxnSp>
                                    </p:grpSp>
                                  </p:grpSp>
                                </p:grpSp>
                              </p:grpSp>
                              <p:cxnSp>
                                <p:nvCxnSpPr>
                                  <p:cNvPr id="582" name="Google Shape;582;p23"/>
                                  <p:cNvCxnSpPr/>
                                  <p:nvPr/>
                                </p:nvCxnSpPr>
                                <p:spPr>
                                  <a:xfrm rot="10800000">
                                    <a:off x="1691680" y="3356992"/>
                                    <a:ext cx="0" cy="2664296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cap="flat" cmpd="sng" w="12700">
                                    <a:solidFill>
                                      <a:schemeClr val="dk1"/>
                                    </a:solidFill>
                                    <a:prstDash val="solid"/>
                                    <a:round/>
                                    <a:headEnd len="sm" w="sm" type="none"/>
                                    <a:tailEnd len="med" w="med" type="triangle"/>
                                  </a:ln>
                                </p:spPr>
                              </p:cxnSp>
                            </p:grpSp>
                          </p:grpSp>
                        </p:grpSp>
                      </p:grpSp>
                      <p:grpSp>
                        <p:nvGrpSpPr>
                          <p:cNvPr id="583" name="Google Shape;583;p23"/>
                          <p:cNvGrpSpPr/>
                          <p:nvPr/>
                        </p:nvGrpSpPr>
                        <p:grpSpPr>
                          <a:xfrm>
                            <a:off x="1835696" y="5830664"/>
                            <a:ext cx="6768752" cy="693311"/>
                            <a:chOff x="2117378" y="5874891"/>
                            <a:chExt cx="5766990" cy="693311"/>
                          </a:xfrm>
                        </p:grpSpPr>
                        <p:grpSp>
                          <p:nvGrpSpPr>
                            <p:cNvPr id="584" name="Google Shape;584;p23"/>
                            <p:cNvGrpSpPr/>
                            <p:nvPr/>
                          </p:nvGrpSpPr>
                          <p:grpSpPr>
                            <a:xfrm>
                              <a:off x="2117378" y="6158953"/>
                              <a:ext cx="5766990" cy="404664"/>
                              <a:chOff x="818773" y="6302969"/>
                              <a:chExt cx="8001699" cy="404664"/>
                            </a:xfrm>
                          </p:grpSpPr>
                          <p:grpSp>
                            <p:nvGrpSpPr>
                              <p:cNvPr id="585" name="Google Shape;585;p23"/>
                              <p:cNvGrpSpPr/>
                              <p:nvPr/>
                            </p:nvGrpSpPr>
                            <p:grpSpPr>
                              <a:xfrm>
                                <a:off x="962740" y="6302969"/>
                                <a:ext cx="7857732" cy="294382"/>
                                <a:chOff x="674708" y="5503717"/>
                                <a:chExt cx="7857732" cy="626537"/>
                              </a:xfrm>
                            </p:grpSpPr>
                            <p:cxnSp>
                              <p:nvCxnSpPr>
                                <p:cNvPr id="586" name="Google Shape;586;p23"/>
                                <p:cNvCxnSpPr/>
                                <p:nvPr/>
                              </p:nvCxnSpPr>
                              <p:spPr>
                                <a:xfrm rot="10800000">
                                  <a:off x="997699" y="5503717"/>
                                  <a:ext cx="7499499" cy="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  <p:cxnSp>
                              <p:nvCxnSpPr>
                                <p:cNvPr id="587" name="Google Shape;587;p23"/>
                                <p:cNvCxnSpPr/>
                                <p:nvPr/>
                              </p:nvCxnSpPr>
                              <p:spPr>
                                <a:xfrm rot="10800000">
                                  <a:off x="839286" y="5823743"/>
                                  <a:ext cx="7693154" cy="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  <p:cxnSp>
                              <p:nvCxnSpPr>
                                <p:cNvPr id="588" name="Google Shape;588;p23"/>
                                <p:cNvCxnSpPr/>
                                <p:nvPr/>
                              </p:nvCxnSpPr>
                              <p:spPr>
                                <a:xfrm rot="10800000">
                                  <a:off x="674708" y="6130254"/>
                                  <a:ext cx="7693153" cy="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round/>
                                  <a:headEnd len="sm" w="sm" type="none"/>
                                  <a:tailEnd len="sm" w="sm" type="none"/>
                                </a:ln>
                              </p:spPr>
                            </p:cxnSp>
                          </p:grpSp>
                          <p:cxnSp>
                            <p:nvCxnSpPr>
                              <p:cNvPr id="589" name="Google Shape;589;p23"/>
                              <p:cNvCxnSpPr/>
                              <p:nvPr/>
                            </p:nvCxnSpPr>
                            <p:spPr>
                              <a:xfrm rot="10800000">
                                <a:off x="818773" y="6707633"/>
                                <a:ext cx="7992888" cy="0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</p:cxnSp>
                        </p:grpSp>
                        <p:grpSp>
                          <p:nvGrpSpPr>
                            <p:cNvPr id="590" name="Google Shape;590;p23"/>
                            <p:cNvGrpSpPr/>
                            <p:nvPr/>
                          </p:nvGrpSpPr>
                          <p:grpSpPr>
                            <a:xfrm>
                              <a:off x="2121347" y="5874891"/>
                              <a:ext cx="330671" cy="693311"/>
                              <a:chOff x="2121347" y="5874891"/>
                              <a:chExt cx="330671" cy="693311"/>
                            </a:xfrm>
                          </p:grpSpPr>
                          <p:cxnSp>
                            <p:nvCxnSpPr>
                              <p:cNvPr id="591" name="Google Shape;591;p23"/>
                              <p:cNvCxnSpPr/>
                              <p:nvPr/>
                            </p:nvCxnSpPr>
                            <p:spPr>
                              <a:xfrm rot="10800000">
                                <a:off x="2339752" y="5879653"/>
                                <a:ext cx="0" cy="432048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</p:cxnSp>
                          <p:cxnSp>
                            <p:nvCxnSpPr>
                              <p:cNvPr id="592" name="Google Shape;592;p23"/>
                              <p:cNvCxnSpPr/>
                              <p:nvPr/>
                            </p:nvCxnSpPr>
                            <p:spPr>
                              <a:xfrm rot="10800000">
                                <a:off x="2227263" y="5877272"/>
                                <a:ext cx="0" cy="576064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</p:cxnSp>
                          <p:cxnSp>
                            <p:nvCxnSpPr>
                              <p:cNvPr id="593" name="Google Shape;593;p23"/>
                              <p:cNvCxnSpPr/>
                              <p:nvPr/>
                            </p:nvCxnSpPr>
                            <p:spPr>
                              <a:xfrm rot="10800000">
                                <a:off x="2452018" y="5874891"/>
                                <a:ext cx="0" cy="288032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</p:cxnSp>
                          <p:cxnSp>
                            <p:nvCxnSpPr>
                              <p:cNvPr id="594" name="Google Shape;594;p23"/>
                              <p:cNvCxnSpPr/>
                              <p:nvPr/>
                            </p:nvCxnSpPr>
                            <p:spPr>
                              <a:xfrm rot="10800000">
                                <a:off x="2121347" y="5877272"/>
                                <a:ext cx="0" cy="690930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round/>
                                <a:headEnd len="sm" w="sm" type="none"/>
                                <a:tailEnd len="sm" w="sm" type="none"/>
                              </a:ln>
                            </p:spPr>
                          </p:cxnSp>
                        </p:grpSp>
                      </p:grpSp>
                    </p:grpSp>
                    <p:sp>
                      <p:nvSpPr>
                        <p:cNvPr id="595" name="Google Shape;595;p23"/>
                        <p:cNvSpPr/>
                        <p:nvPr/>
                      </p:nvSpPr>
                      <p:spPr>
                        <a:xfrm>
                          <a:off x="7274970" y="3789040"/>
                          <a:ext cx="144016" cy="216024"/>
                        </a:xfrm>
                        <a:prstGeom prst="up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6" name="Google Shape;596;p23"/>
                        <p:cNvSpPr/>
                        <p:nvPr/>
                      </p:nvSpPr>
                      <p:spPr>
                        <a:xfrm>
                          <a:off x="5383140" y="3597394"/>
                          <a:ext cx="144016" cy="288032"/>
                        </a:xfrm>
                        <a:prstGeom prst="up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7" name="Google Shape;597;p23"/>
                        <p:cNvSpPr/>
                        <p:nvPr/>
                      </p:nvSpPr>
                      <p:spPr>
                        <a:xfrm>
                          <a:off x="3842394" y="3574601"/>
                          <a:ext cx="144016" cy="288032"/>
                        </a:xfrm>
                        <a:prstGeom prst="up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8" name="Google Shape;598;p23"/>
                        <p:cNvSpPr/>
                        <p:nvPr/>
                      </p:nvSpPr>
                      <p:spPr>
                        <a:xfrm>
                          <a:off x="6194276" y="3356992"/>
                          <a:ext cx="144016" cy="288032"/>
                        </a:xfrm>
                        <a:prstGeom prst="up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9" name="Google Shape;599;p23"/>
                        <p:cNvSpPr/>
                        <p:nvPr/>
                      </p:nvSpPr>
                      <p:spPr>
                        <a:xfrm rot="-5400000">
                          <a:off x="6369025" y="2583955"/>
                          <a:ext cx="144016" cy="288032"/>
                        </a:xfrm>
                        <a:prstGeom prst="up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0" name="Google Shape;600;p23"/>
                        <p:cNvSpPr/>
                        <p:nvPr/>
                      </p:nvSpPr>
                      <p:spPr>
                        <a:xfrm>
                          <a:off x="2552348" y="2708920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1" name="Google Shape;601;p23"/>
                        <p:cNvSpPr/>
                        <p:nvPr/>
                      </p:nvSpPr>
                      <p:spPr>
                        <a:xfrm rot="-5400000">
                          <a:off x="1907704" y="1733001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rgbClr val="07C910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2" name="Google Shape;602;p23"/>
                        <p:cNvSpPr/>
                        <p:nvPr/>
                      </p:nvSpPr>
                      <p:spPr>
                        <a:xfrm rot="-5400000">
                          <a:off x="2394311" y="6129888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chemeClr val="dk1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3" name="Google Shape;603;p23"/>
                        <p:cNvSpPr/>
                        <p:nvPr/>
                      </p:nvSpPr>
                      <p:spPr>
                        <a:xfrm rot="-5400000">
                          <a:off x="3682242" y="6129886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chemeClr val="dk1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4" name="Google Shape;604;p23"/>
                        <p:cNvSpPr/>
                        <p:nvPr/>
                      </p:nvSpPr>
                      <p:spPr>
                        <a:xfrm rot="-5400000">
                          <a:off x="4889675" y="6129886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chemeClr val="dk1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5" name="Google Shape;605;p23"/>
                        <p:cNvSpPr/>
                        <p:nvPr/>
                      </p:nvSpPr>
                      <p:spPr>
                        <a:xfrm rot="-5400000">
                          <a:off x="6177604" y="6129886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chemeClr val="dk1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6" name="Google Shape;606;p23"/>
                        <p:cNvSpPr/>
                        <p:nvPr/>
                      </p:nvSpPr>
                      <p:spPr>
                        <a:xfrm rot="-5400000">
                          <a:off x="7516458" y="6129886"/>
                          <a:ext cx="193164" cy="432048"/>
                        </a:xfrm>
                        <a:prstGeom prst="downArrow">
                          <a:avLst>
                            <a:gd fmla="val 50000" name="adj1"/>
                            <a:gd fmla="val 50000" name="adj2"/>
                          </a:avLst>
                        </a:prstGeom>
                        <a:solidFill>
                          <a:schemeClr val="dk1"/>
                        </a:solidFill>
                        <a:ln cap="flat" cmpd="sng" w="9525">
                          <a:solidFill>
                            <a:srgbClr val="59595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607" name="Google Shape;607;p23"/>
                    <p:cNvSpPr/>
                    <p:nvPr/>
                  </p:nvSpPr>
                  <p:spPr>
                    <a:xfrm>
                      <a:off x="38100" y="1660376"/>
                      <a:ext cx="8134300" cy="5080992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08" name="Google Shape;608;p23"/>
                  <p:cNvSpPr/>
                  <p:nvPr/>
                </p:nvSpPr>
                <p:spPr>
                  <a:xfrm>
                    <a:off x="8172400" y="5902851"/>
                    <a:ext cx="755576" cy="836712"/>
                  </a:xfrm>
                  <a:prstGeom prst="rightArrow">
                    <a:avLst>
                      <a:gd fmla="val 50000" name="adj1"/>
                      <a:gd fmla="val 50000" name="adj2"/>
                    </a:avLst>
                  </a:prstGeom>
                  <a:solidFill>
                    <a:schemeClr val="l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09" name="Google Shape;609;p23"/>
                <p:cNvSpPr txBox="1"/>
                <p:nvPr/>
              </p:nvSpPr>
              <p:spPr>
                <a:xfrm>
                  <a:off x="578920" y="6122126"/>
                  <a:ext cx="838058" cy="3232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controle</a:t>
                  </a:r>
                  <a:endParaRPr/>
                </a:p>
              </p:txBody>
            </p:sp>
            <p:sp>
              <p:nvSpPr>
                <p:cNvPr id="610" name="Google Shape;610;p23"/>
                <p:cNvSpPr txBox="1"/>
                <p:nvPr/>
              </p:nvSpPr>
              <p:spPr>
                <a:xfrm>
                  <a:off x="561903" y="6448980"/>
                  <a:ext cx="1448039" cy="3232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dados/endereço</a:t>
                  </a:r>
                  <a:endParaRPr/>
                </a:p>
              </p:txBody>
            </p:sp>
            <p:sp>
              <p:nvSpPr>
                <p:cNvPr id="611" name="Google Shape;611;p23"/>
                <p:cNvSpPr txBox="1"/>
                <p:nvPr/>
              </p:nvSpPr>
              <p:spPr>
                <a:xfrm>
                  <a:off x="4067944" y="1590824"/>
                  <a:ext cx="936104" cy="6124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3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CPU</a:t>
                  </a:r>
                  <a:endParaRPr/>
                </a:p>
              </p:txBody>
            </p:sp>
          </p:grpSp>
          <p:sp>
            <p:nvSpPr>
              <p:cNvPr id="612" name="Google Shape;612;p23"/>
              <p:cNvSpPr txBox="1"/>
              <p:nvPr/>
            </p:nvSpPr>
            <p:spPr>
              <a:xfrm>
                <a:off x="7813657" y="1988004"/>
                <a:ext cx="1111224" cy="54436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Barramento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 dados</a:t>
                </a:r>
                <a:endParaRPr/>
              </a:p>
            </p:txBody>
          </p:sp>
          <p:sp>
            <p:nvSpPr>
              <p:cNvPr id="613" name="Google Shape;613;p23"/>
              <p:cNvSpPr txBox="1"/>
              <p:nvPr/>
            </p:nvSpPr>
            <p:spPr>
              <a:xfrm>
                <a:off x="7718188" y="3665835"/>
                <a:ext cx="1229206" cy="54436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Barramento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 endereços</a:t>
                </a:r>
                <a:endParaRPr/>
              </a:p>
            </p:txBody>
          </p:sp>
        </p:grpSp>
      </p:grpSp>
      <p:sp>
        <p:nvSpPr>
          <p:cNvPr id="614" name="Google Shape;614;p23"/>
          <p:cNvSpPr txBox="1"/>
          <p:nvPr/>
        </p:nvSpPr>
        <p:spPr>
          <a:xfrm>
            <a:off x="3631722" y="324930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Processador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 txBox="1"/>
          <p:nvPr/>
        </p:nvSpPr>
        <p:spPr>
          <a:xfrm>
            <a:off x="109269" y="1288212"/>
            <a:ext cx="11987840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Organização lógica de um processador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2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622" name="Google Shape;622;p24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623" name="Google Shape;623;p24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 txBox="1"/>
          <p:nvPr/>
        </p:nvSpPr>
        <p:spPr>
          <a:xfrm>
            <a:off x="123645" y="1719533"/>
            <a:ext cx="11987840" cy="312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memórias</a:t>
            </a:r>
            <a:b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Hierarquia de memórias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Evolução das memórias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Terminologia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Memória cache, principal e ROM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Processador</a:t>
            </a:r>
            <a:b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Operações primitivas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Instruções de máquina</a:t>
            </a:r>
            <a:b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 Organização lógica do processador</a:t>
            </a:r>
            <a:endParaRPr/>
          </a:p>
        </p:txBody>
      </p:sp>
      <p:pic>
        <p:nvPicPr>
          <p:cNvPr descr="Uma imagem contendo água, campo&#10;&#10;Descrição gerada automaticamente" id="627" name="Google Shape;6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80000">
            <a:off x="8031193" y="2636484"/>
            <a:ext cx="2743200" cy="126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8777" y="5318981"/>
            <a:ext cx="2743200" cy="96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24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634" name="Google Shape;634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635" name="Google Shape;635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comida&#10;&#10;Descrição gerada automaticamente" id="637" name="Google Shape;6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287" y="1306003"/>
            <a:ext cx="8709802" cy="4878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5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6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122610" y="1241340"/>
            <a:ext cx="11990154" cy="543936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DEITEL, Harvey M.; DEITEL, Paul J.; CHOFFNES, David 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3ª Edição. São Paulo: Pearson Prentice Hall, 2005. {681.31:519.687 D325s} (5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SILBERSCHATZ, Abraham; GALVIN, Peter Baer; GAGNE, Greg.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6ª edição. Rio de Janeiro: LTC, 2004. {681.31:519.687 S582f}(4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TANENBAUM, Andrew S. 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 modernos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 São Paulo: Pearson Prentice Hall, 2009. 5ex.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COMPLEMENTAR</a:t>
            </a:r>
            <a:r>
              <a:rPr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HILL, Benjamin Mako; BACON, Jono.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livro oficial de ubuntu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Porto Alegre: Artmed, 2008. 3ex.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Berenger; MAIA, Luiz Paulo.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 LTC,2007. 10ex.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B.; MAIA, Luiz Paulo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5ª  Edição. Rio de Janeiro: Editora Livros Técnicos e Científicos, 2013. {681.31:519.687  M149a}(8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NEGUS, Christopher.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Linux edição especial: a bíblia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 Alta Books, 2007. 2ex.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OLIVEIRA, Rômulo Silva de; CARISSIMI, Alexandre da Silva; TOSCANI, Simão. Sistemas operacionais. Porto Alegre: Bookman, 2010. 5ex.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AHO, Alfred V. et al.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Compiladores: princípios, técnicas e ferramentas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2. ed. São Paulo, SP: Pearson Addison Wesley, 2008. {005.453 C737}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2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DOfficeLightV0">
  <a:themeElements>
    <a:clrScheme name="Personalizada 1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2012-07-30T23:50:35Z</dcterms:created>
</cp:coreProperties>
</file>